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7" r:id="rId1"/>
  </p:sldMasterIdLst>
  <p:sldIdLst>
    <p:sldId id="256" r:id="rId2"/>
    <p:sldId id="278" r:id="rId3"/>
    <p:sldId id="257" r:id="rId4"/>
    <p:sldId id="258" r:id="rId5"/>
    <p:sldId id="259" r:id="rId6"/>
    <p:sldId id="260" r:id="rId7"/>
    <p:sldId id="261" r:id="rId8"/>
    <p:sldId id="262" r:id="rId9"/>
    <p:sldId id="264" r:id="rId10"/>
    <p:sldId id="267" r:id="rId11"/>
    <p:sldId id="268" r:id="rId12"/>
    <p:sldId id="269" r:id="rId13"/>
    <p:sldId id="270" r:id="rId14"/>
    <p:sldId id="279" r:id="rId15"/>
    <p:sldId id="280" r:id="rId16"/>
    <p:sldId id="281" r:id="rId17"/>
    <p:sldId id="284" r:id="rId18"/>
    <p:sldId id="282" r:id="rId19"/>
    <p:sldId id="283" r:id="rId20"/>
    <p:sldId id="275" r:id="rId21"/>
    <p:sldId id="273" r:id="rId22"/>
    <p:sldId id="274" r:id="rId23"/>
    <p:sldId id="285" r:id="rId24"/>
    <p:sldId id="286" r:id="rId25"/>
    <p:sldId id="287" r:id="rId26"/>
    <p:sldId id="288" r:id="rId27"/>
    <p:sldId id="289" r:id="rId28"/>
    <p:sldId id="293" r:id="rId29"/>
    <p:sldId id="290" r:id="rId30"/>
    <p:sldId id="294" r:id="rId31"/>
    <p:sldId id="291" r:id="rId32"/>
    <p:sldId id="295" r:id="rId33"/>
    <p:sldId id="296" r:id="rId34"/>
    <p:sldId id="292" r:id="rId35"/>
    <p:sldId id="297" r:id="rId36"/>
    <p:sldId id="298" r:id="rId37"/>
    <p:sldId id="299" r:id="rId38"/>
    <p:sldId id="300" r:id="rId39"/>
    <p:sldId id="301" r:id="rId40"/>
    <p:sldId id="302" r:id="rId41"/>
    <p:sldId id="303" r:id="rId42"/>
    <p:sldId id="305" r:id="rId43"/>
    <p:sldId id="304" r:id="rId44"/>
    <p:sldId id="306" r:id="rId45"/>
    <p:sldId id="307" r:id="rId46"/>
    <p:sldId id="308" r:id="rId47"/>
    <p:sldId id="309" r:id="rId48"/>
    <p:sldId id="312" r:id="rId49"/>
    <p:sldId id="310" r:id="rId50"/>
    <p:sldId id="311" r:id="rId51"/>
    <p:sldId id="315" r:id="rId52"/>
    <p:sldId id="316" r:id="rId53"/>
    <p:sldId id="265" r:id="rId54"/>
    <p:sldId id="266" r:id="rId55"/>
    <p:sldId id="313" r:id="rId56"/>
    <p:sldId id="314" r:id="rId57"/>
    <p:sldId id="317" r:id="rId58"/>
    <p:sldId id="322" r:id="rId59"/>
    <p:sldId id="318" r:id="rId60"/>
    <p:sldId id="319" r:id="rId61"/>
    <p:sldId id="323" r:id="rId62"/>
    <p:sldId id="321" r:id="rId63"/>
    <p:sldId id="320" r:id="rId64"/>
    <p:sldId id="324" r:id="rId65"/>
    <p:sldId id="339" r:id="rId66"/>
    <p:sldId id="325" r:id="rId67"/>
    <p:sldId id="326" r:id="rId68"/>
    <p:sldId id="327" r:id="rId69"/>
    <p:sldId id="329" r:id="rId70"/>
    <p:sldId id="272" r:id="rId71"/>
    <p:sldId id="334" r:id="rId72"/>
    <p:sldId id="335" r:id="rId73"/>
    <p:sldId id="336" r:id="rId74"/>
    <p:sldId id="337" r:id="rId75"/>
    <p:sldId id="338" r:id="rId76"/>
    <p:sldId id="328" r:id="rId77"/>
    <p:sldId id="332" r:id="rId78"/>
    <p:sldId id="331" r:id="rId79"/>
    <p:sldId id="271" r:id="rId80"/>
    <p:sldId id="340" r:id="rId81"/>
    <p:sldId id="341" r:id="rId82"/>
    <p:sldId id="276" r:id="rId83"/>
    <p:sldId id="343" r:id="rId84"/>
    <p:sldId id="342" r:id="rId85"/>
    <p:sldId id="344" r:id="rId86"/>
    <p:sldId id="345" r:id="rId87"/>
    <p:sldId id="346" r:id="rId88"/>
    <p:sldId id="347" r:id="rId89"/>
    <p:sldId id="348" r:id="rId90"/>
    <p:sldId id="349" r:id="rId91"/>
    <p:sldId id="350" r:id="rId92"/>
    <p:sldId id="351" r:id="rId93"/>
    <p:sldId id="352" r:id="rId94"/>
    <p:sldId id="354" r:id="rId95"/>
    <p:sldId id="355" r:id="rId96"/>
    <p:sldId id="356" r:id="rId97"/>
    <p:sldId id="357" r:id="rId98"/>
    <p:sldId id="353" r:id="rId99"/>
    <p:sldId id="358" r:id="rId100"/>
    <p:sldId id="359" r:id="rId101"/>
    <p:sldId id="360" r:id="rId102"/>
    <p:sldId id="361" r:id="rId103"/>
    <p:sldId id="362" r:id="rId104"/>
    <p:sldId id="363" r:id="rId105"/>
    <p:sldId id="364" r:id="rId106"/>
    <p:sldId id="372" r:id="rId107"/>
    <p:sldId id="365" r:id="rId108"/>
    <p:sldId id="366" r:id="rId109"/>
    <p:sldId id="367" r:id="rId110"/>
    <p:sldId id="277" r:id="rId111"/>
    <p:sldId id="373" r:id="rId112"/>
    <p:sldId id="368" r:id="rId113"/>
    <p:sldId id="369" r:id="rId114"/>
    <p:sldId id="374" r:id="rId115"/>
    <p:sldId id="370" r:id="rId116"/>
    <p:sldId id="371" r:id="rId117"/>
    <p:sldId id="375" r:id="rId118"/>
    <p:sldId id="384" r:id="rId119"/>
    <p:sldId id="376" r:id="rId120"/>
    <p:sldId id="377" r:id="rId121"/>
    <p:sldId id="378" r:id="rId122"/>
    <p:sldId id="379" r:id="rId123"/>
    <p:sldId id="380" r:id="rId124"/>
    <p:sldId id="381" r:id="rId125"/>
    <p:sldId id="382" r:id="rId126"/>
    <p:sldId id="383" r:id="rId127"/>
    <p:sldId id="385" r:id="rId128"/>
    <p:sldId id="386" r:id="rId129"/>
    <p:sldId id="403" r:id="rId130"/>
    <p:sldId id="387" r:id="rId131"/>
    <p:sldId id="388" r:id="rId132"/>
    <p:sldId id="389" r:id="rId133"/>
    <p:sldId id="390" r:id="rId134"/>
    <p:sldId id="391" r:id="rId135"/>
    <p:sldId id="392" r:id="rId136"/>
    <p:sldId id="393" r:id="rId137"/>
    <p:sldId id="395" r:id="rId138"/>
    <p:sldId id="396" r:id="rId139"/>
    <p:sldId id="397" r:id="rId140"/>
    <p:sldId id="398" r:id="rId141"/>
    <p:sldId id="399" r:id="rId142"/>
    <p:sldId id="400" r:id="rId143"/>
    <p:sldId id="401" r:id="rId144"/>
    <p:sldId id="402" r:id="rId1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5" d="100"/>
          <a:sy n="95" d="100"/>
        </p:scale>
        <p:origin x="104" y="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ableStyles" Target="tableStyle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5-18T10:45:10.484"/>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5-18T10:45:15.926"/>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3512493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20939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3481116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B3C13F-72EC-44F8-98C8-7298AB6C8A49}"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2860763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B3C13F-72EC-44F8-98C8-7298AB6C8A49}"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714356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B3C13F-72EC-44F8-98C8-7298AB6C8A49}"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1054554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B3C13F-72EC-44F8-98C8-7298AB6C8A49}"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114429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B3C13F-72EC-44F8-98C8-7298AB6C8A49}"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211056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B3C13F-72EC-44F8-98C8-7298AB6C8A49}"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906065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B3C13F-72EC-44F8-98C8-7298AB6C8A49}"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2646916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25979424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2648037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27862710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1849187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3675892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2655895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3C13F-72EC-44F8-98C8-7298AB6C8A49}"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4C883-C684-4968-814A-5A20845D4A8F}" type="slidenum">
              <a:rPr lang="en-US" smtClean="0"/>
              <a:t>‹#›</a:t>
            </a:fld>
            <a:endParaRPr lang="en-US"/>
          </a:p>
        </p:txBody>
      </p:sp>
    </p:spTree>
    <p:extLst>
      <p:ext uri="{BB962C8B-B14F-4D97-AF65-F5344CB8AC3E}">
        <p14:creationId xmlns:p14="http://schemas.microsoft.com/office/powerpoint/2010/main" val="2020300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B3C13F-72EC-44F8-98C8-7298AB6C8A49}" type="datetimeFigureOut">
              <a:rPr lang="en-US" smtClean="0"/>
              <a:t>6/12/2026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344C883-C684-4968-814A-5A20845D4A8F}" type="slidenum">
              <a:rPr lang="en-US" smtClean="0"/>
              <a:t>‹#›</a:t>
            </a:fld>
            <a:endParaRPr lang="en-US"/>
          </a:p>
        </p:txBody>
      </p:sp>
    </p:spTree>
    <p:extLst>
      <p:ext uri="{BB962C8B-B14F-4D97-AF65-F5344CB8AC3E}">
        <p14:creationId xmlns:p14="http://schemas.microsoft.com/office/powerpoint/2010/main" val="2802089961"/>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 id="2147484050" r:id="rId13"/>
    <p:sldLayoutId id="2147484051" r:id="rId14"/>
    <p:sldLayoutId id="2147484052" r:id="rId15"/>
    <p:sldLayoutId id="2147484053" r:id="rId16"/>
    <p:sldLayoutId id="214748405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image" Target="../media/image2.jfif"/><Relationship Id="rId1" Type="http://schemas.openxmlformats.org/officeDocument/2006/relationships/slideLayout" Target="../slideLayouts/slideLayout2.xml"/><Relationship Id="rId4" Type="http://schemas.openxmlformats.org/officeDocument/2006/relationships/image" Target="../media/image4.jfi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jf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google.com/search?rlz=1C1CHBF_enIR1033IR1033&amp;sxsrf=AJOqlzWPONgDx92oABd9wP9vx-0FqrkZfw:1674892342999&amp;q=hierarchy+in+linux&amp;spell=1&amp;sa=X&amp;ved=2ahUKEwi7y5CZ5On8AhVBPuwKHaX2ALEQkeECKAB6BAgFEA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file:///\\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f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jf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customXml" Target="../ink/ink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hyperlink" Target="https://www.elrepo.org/elrepo-release-7.0-3.el7.elrepo.noarch.rpm"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hyperlink" Target="mailto:aghamohammadiiman@gmail.com" TargetMode="Externa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hyperlink" Target="mailto:root@192.168.60.154:/home" TargetMode="Externa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hyperlink" Target="https://crontab.gur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38D44-A175-43FC-A2D2-391469448797}"/>
              </a:ext>
            </a:extLst>
          </p:cNvPr>
          <p:cNvSpPr>
            <a:spLocks noGrp="1"/>
          </p:cNvSpPr>
          <p:nvPr>
            <p:ph type="ctrTitle"/>
          </p:nvPr>
        </p:nvSpPr>
        <p:spPr>
          <a:xfrm>
            <a:off x="2349903" y="1053496"/>
            <a:ext cx="8574622" cy="2616199"/>
          </a:xfrm>
        </p:spPr>
        <p:txBody>
          <a:bodyPr/>
          <a:lstStyle/>
          <a:p>
            <a:pPr algn="ctr"/>
            <a:r>
              <a:rPr lang="en-US" sz="2800" b="1" dirty="0">
                <a:solidFill>
                  <a:srgbClr val="FFFFFF"/>
                </a:solidFill>
              </a:rPr>
              <a:t>LPIC1</a:t>
            </a:r>
          </a:p>
        </p:txBody>
      </p:sp>
    </p:spTree>
    <p:extLst>
      <p:ext uri="{BB962C8B-B14F-4D97-AF65-F5344CB8AC3E}">
        <p14:creationId xmlns:p14="http://schemas.microsoft.com/office/powerpoint/2010/main" val="124916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F776F-1E51-27A1-421E-89E1BE1436FA}"/>
              </a:ext>
            </a:extLst>
          </p:cNvPr>
          <p:cNvSpPr>
            <a:spLocks noGrp="1"/>
          </p:cNvSpPr>
          <p:nvPr>
            <p:ph type="title"/>
          </p:nvPr>
        </p:nvSpPr>
        <p:spPr>
          <a:xfrm>
            <a:off x="-806233" y="492279"/>
            <a:ext cx="10353761" cy="1326321"/>
          </a:xfrm>
        </p:spPr>
        <p:txBody>
          <a:bodyPr/>
          <a:lstStyle/>
          <a:p>
            <a:r>
              <a:rPr lang="en-US" sz="2800" b="1" dirty="0">
                <a:solidFill>
                  <a:srgbClr val="FFFFFF"/>
                </a:solidFill>
              </a:rPr>
              <a:t>                                 </a:t>
            </a:r>
            <a:r>
              <a:rPr lang="en-US" sz="2800" b="1" dirty="0" err="1">
                <a:solidFill>
                  <a:srgbClr val="FFFFFF"/>
                </a:solidFill>
              </a:rPr>
              <a:t>lpic</a:t>
            </a:r>
            <a:endParaRPr lang="en-US" dirty="0"/>
          </a:p>
        </p:txBody>
      </p:sp>
      <p:sp>
        <p:nvSpPr>
          <p:cNvPr id="3" name="Content Placeholder 2">
            <a:extLst>
              <a:ext uri="{FF2B5EF4-FFF2-40B4-BE49-F238E27FC236}">
                <a16:creationId xmlns:a16="http://schemas.microsoft.com/office/drawing/2014/main" id="{8097AD4E-8270-6C91-6FA7-C5DDA4ED3879}"/>
              </a:ext>
            </a:extLst>
          </p:cNvPr>
          <p:cNvSpPr>
            <a:spLocks noGrp="1"/>
          </p:cNvSpPr>
          <p:nvPr>
            <p:ph idx="1"/>
          </p:nvPr>
        </p:nvSpPr>
        <p:spPr/>
        <p:txBody>
          <a:bodyPr>
            <a:normAutofit/>
          </a:bodyPr>
          <a:lstStyle/>
          <a:p>
            <a:r>
              <a:rPr lang="en-US" sz="1600" dirty="0" err="1">
                <a:solidFill>
                  <a:srgbClr val="E6E6E6"/>
                </a:solidFill>
              </a:rPr>
              <a:t>Lpic</a:t>
            </a:r>
            <a:r>
              <a:rPr lang="en-US" sz="1600" dirty="0">
                <a:solidFill>
                  <a:srgbClr val="E6E6E6"/>
                </a:solidFill>
              </a:rPr>
              <a:t> 101-500                                                      </a:t>
            </a:r>
            <a:r>
              <a:rPr lang="fa-IR" sz="1600" dirty="0">
                <a:solidFill>
                  <a:srgbClr val="E6E6E6"/>
                </a:solidFill>
              </a:rPr>
              <a:t>        </a:t>
            </a:r>
            <a:r>
              <a:rPr lang="en-US" sz="1600" dirty="0">
                <a:solidFill>
                  <a:srgbClr val="E6E6E6"/>
                </a:solidFill>
              </a:rPr>
              <a:t>   lpic102-500</a:t>
            </a:r>
          </a:p>
          <a:p>
            <a:r>
              <a:rPr lang="en-US" sz="1600" dirty="0">
                <a:solidFill>
                  <a:srgbClr val="E6E6E6"/>
                </a:solidFill>
              </a:rPr>
              <a:t>Chapter1: </a:t>
            </a:r>
            <a:r>
              <a:rPr lang="en-US" sz="1600" dirty="0" err="1">
                <a:solidFill>
                  <a:srgbClr val="E6E6E6"/>
                </a:solidFill>
              </a:rPr>
              <a:t>linux</a:t>
            </a:r>
            <a:r>
              <a:rPr lang="en-US" sz="1600" dirty="0">
                <a:solidFill>
                  <a:srgbClr val="E6E6E6"/>
                </a:solidFill>
              </a:rPr>
              <a:t> command line                     </a:t>
            </a:r>
            <a:r>
              <a:rPr lang="fa-IR" sz="1600" dirty="0">
                <a:solidFill>
                  <a:srgbClr val="E6E6E6"/>
                </a:solidFill>
              </a:rPr>
              <a:t>                </a:t>
            </a:r>
            <a:r>
              <a:rPr lang="en-US" sz="1600" dirty="0">
                <a:solidFill>
                  <a:srgbClr val="E6E6E6"/>
                </a:solidFill>
              </a:rPr>
              <a:t>chapter6: sys admin</a:t>
            </a:r>
          </a:p>
          <a:p>
            <a:r>
              <a:rPr lang="en-US" sz="1600" dirty="0">
                <a:solidFill>
                  <a:srgbClr val="E6E6E6"/>
                </a:solidFill>
              </a:rPr>
              <a:t>Chapter 2: managing software and process  </a:t>
            </a:r>
            <a:r>
              <a:rPr lang="fa-IR" sz="1600" dirty="0">
                <a:solidFill>
                  <a:srgbClr val="E6E6E6"/>
                </a:solidFill>
              </a:rPr>
              <a:t>           </a:t>
            </a:r>
            <a:r>
              <a:rPr lang="en-US" sz="1600" dirty="0">
                <a:solidFill>
                  <a:srgbClr val="E6E6E6"/>
                </a:solidFill>
              </a:rPr>
              <a:t>chapter7:network</a:t>
            </a:r>
          </a:p>
          <a:p>
            <a:r>
              <a:rPr lang="en-US" sz="1600" dirty="0">
                <a:solidFill>
                  <a:srgbClr val="E6E6E6"/>
                </a:solidFill>
              </a:rPr>
              <a:t>Chapter3 : configure hardware                       </a:t>
            </a:r>
            <a:r>
              <a:rPr lang="fa-IR" sz="1600" dirty="0">
                <a:solidFill>
                  <a:srgbClr val="E6E6E6"/>
                </a:solidFill>
              </a:rPr>
              <a:t>            </a:t>
            </a:r>
            <a:r>
              <a:rPr lang="en-US" sz="1600" dirty="0">
                <a:solidFill>
                  <a:srgbClr val="E6E6E6"/>
                </a:solidFill>
              </a:rPr>
              <a:t>   chapter 8:script</a:t>
            </a:r>
          </a:p>
          <a:p>
            <a:r>
              <a:rPr lang="en-US" sz="1600" dirty="0">
                <a:solidFill>
                  <a:srgbClr val="E6E6E6"/>
                </a:solidFill>
              </a:rPr>
              <a:t>Chapter 4: managing files                                 </a:t>
            </a:r>
            <a:r>
              <a:rPr lang="fa-IR" sz="1600" dirty="0">
                <a:solidFill>
                  <a:srgbClr val="E6E6E6"/>
                </a:solidFill>
              </a:rPr>
              <a:t>           </a:t>
            </a:r>
            <a:r>
              <a:rPr lang="en-US" sz="1600" dirty="0">
                <a:solidFill>
                  <a:srgbClr val="E6E6E6"/>
                </a:solidFill>
              </a:rPr>
              <a:t>     chapter9:securing</a:t>
            </a:r>
          </a:p>
          <a:p>
            <a:r>
              <a:rPr lang="en-US" sz="1600" dirty="0">
                <a:solidFill>
                  <a:srgbClr val="E6E6E6"/>
                </a:solidFill>
              </a:rPr>
              <a:t>Chapter 5: </a:t>
            </a:r>
            <a:r>
              <a:rPr lang="en-US" sz="1600" dirty="0" err="1">
                <a:solidFill>
                  <a:srgbClr val="E6E6E6"/>
                </a:solidFill>
              </a:rPr>
              <a:t>booting,initilizing</a:t>
            </a:r>
            <a:endParaRPr lang="en-US" dirty="0"/>
          </a:p>
        </p:txBody>
      </p:sp>
    </p:spTree>
    <p:extLst>
      <p:ext uri="{BB962C8B-B14F-4D97-AF65-F5344CB8AC3E}">
        <p14:creationId xmlns:p14="http://schemas.microsoft.com/office/powerpoint/2010/main" val="2433355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F9C6-4D09-46DD-82A7-BE473962AAE3}"/>
              </a:ext>
            </a:extLst>
          </p:cNvPr>
          <p:cNvSpPr>
            <a:spLocks noGrp="1"/>
          </p:cNvSpPr>
          <p:nvPr>
            <p:ph type="title"/>
          </p:nvPr>
        </p:nvSpPr>
        <p:spPr/>
        <p:txBody>
          <a:bodyPr/>
          <a:lstStyle/>
          <a:p>
            <a:pPr algn="l"/>
            <a:r>
              <a:rPr lang="en-US" sz="2800" b="1" dirty="0">
                <a:solidFill>
                  <a:srgbClr val="FFFFFF"/>
                </a:solidFill>
              </a:rPr>
              <a:t>Linux history</a:t>
            </a:r>
          </a:p>
        </p:txBody>
      </p:sp>
      <p:sp>
        <p:nvSpPr>
          <p:cNvPr id="3" name="Content Placeholder 2">
            <a:extLst>
              <a:ext uri="{FF2B5EF4-FFF2-40B4-BE49-F238E27FC236}">
                <a16:creationId xmlns:a16="http://schemas.microsoft.com/office/drawing/2014/main" id="{E71376B7-3CE8-4A97-ACBF-89986E059A42}"/>
              </a:ext>
            </a:extLst>
          </p:cNvPr>
          <p:cNvSpPr>
            <a:spLocks noGrp="1"/>
          </p:cNvSpPr>
          <p:nvPr>
            <p:ph idx="1"/>
          </p:nvPr>
        </p:nvSpPr>
        <p:spPr/>
        <p:txBody>
          <a:bodyPr>
            <a:normAutofit fontScale="85000" lnSpcReduction="20000"/>
          </a:bodyPr>
          <a:lstStyle/>
          <a:p>
            <a:r>
              <a:rPr lang="en-US" sz="1600" dirty="0">
                <a:solidFill>
                  <a:srgbClr val="E6E6E6"/>
                </a:solidFill>
              </a:rPr>
              <a:t>Unix  </a:t>
            </a:r>
          </a:p>
          <a:p>
            <a:r>
              <a:rPr lang="en-US" sz="1600" dirty="0">
                <a:solidFill>
                  <a:srgbClr val="E6E6E6"/>
                </a:solidFill>
              </a:rPr>
              <a:t>Linux is kernel</a:t>
            </a:r>
          </a:p>
          <a:p>
            <a:r>
              <a:rPr lang="en-US" sz="1600" dirty="0" err="1">
                <a:solidFill>
                  <a:srgbClr val="E6E6E6"/>
                </a:solidFill>
              </a:rPr>
              <a:t>Os</a:t>
            </a:r>
            <a:r>
              <a:rPr lang="en-US" sz="1600" dirty="0">
                <a:solidFill>
                  <a:srgbClr val="E6E6E6"/>
                </a:solidFill>
              </a:rPr>
              <a:t> release</a:t>
            </a:r>
          </a:p>
          <a:p>
            <a:r>
              <a:rPr lang="en-US" sz="1600" dirty="0" err="1">
                <a:solidFill>
                  <a:srgbClr val="E6E6E6"/>
                </a:solidFill>
              </a:rPr>
              <a:t>Os</a:t>
            </a:r>
            <a:r>
              <a:rPr lang="en-US" sz="1600" dirty="0">
                <a:solidFill>
                  <a:srgbClr val="E6E6E6"/>
                </a:solidFill>
              </a:rPr>
              <a:t>=</a:t>
            </a:r>
            <a:r>
              <a:rPr lang="en-US" sz="1600" dirty="0" err="1">
                <a:solidFill>
                  <a:srgbClr val="E6E6E6"/>
                </a:solidFill>
              </a:rPr>
              <a:t>usermode</a:t>
            </a:r>
            <a:r>
              <a:rPr lang="en-US" sz="1600" dirty="0">
                <a:solidFill>
                  <a:srgbClr val="E6E6E6"/>
                </a:solidFill>
              </a:rPr>
              <a:t>(shell)+</a:t>
            </a:r>
            <a:r>
              <a:rPr lang="en-US" sz="1600" dirty="0" err="1">
                <a:solidFill>
                  <a:srgbClr val="E6E6E6"/>
                </a:solidFill>
              </a:rPr>
              <a:t>kernel+hardware</a:t>
            </a:r>
            <a:endParaRPr lang="en-US" dirty="0"/>
          </a:p>
          <a:p>
            <a:r>
              <a:rPr lang="en-US" sz="1600" dirty="0">
                <a:solidFill>
                  <a:srgbClr val="E6E6E6"/>
                </a:solidFill>
              </a:rPr>
              <a:t>Shell login(interactive) vs no interactive</a:t>
            </a:r>
          </a:p>
          <a:p>
            <a:r>
              <a:rPr lang="en-US" sz="1600" dirty="0">
                <a:solidFill>
                  <a:srgbClr val="E6E6E6"/>
                </a:solidFill>
              </a:rPr>
              <a:t>Kernel.org</a:t>
            </a:r>
          </a:p>
          <a:p>
            <a:r>
              <a:rPr lang="en-US" sz="1600" dirty="0" err="1">
                <a:solidFill>
                  <a:srgbClr val="E6E6E6"/>
                </a:solidFill>
              </a:rPr>
              <a:t>Uname</a:t>
            </a:r>
            <a:endParaRPr lang="en-US" dirty="0"/>
          </a:p>
          <a:p>
            <a:r>
              <a:rPr lang="en-US" sz="1600" dirty="0">
                <a:solidFill>
                  <a:srgbClr val="E6E6E6"/>
                </a:solidFill>
              </a:rPr>
              <a:t>https://upload.wikimedia.org/wikipedia/commons/1/1b/Linux_Distribution_Timeline.svg</a:t>
            </a:r>
          </a:p>
        </p:txBody>
      </p:sp>
    </p:spTree>
    <p:extLst>
      <p:ext uri="{BB962C8B-B14F-4D97-AF65-F5344CB8AC3E}">
        <p14:creationId xmlns:p14="http://schemas.microsoft.com/office/powerpoint/2010/main" val="718557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CE8B8-79DA-4D0B-AE8B-CF7E79E9117F}"/>
              </a:ext>
            </a:extLst>
          </p:cNvPr>
          <p:cNvSpPr>
            <a:spLocks noGrp="1"/>
          </p:cNvSpPr>
          <p:nvPr>
            <p:ph type="title"/>
          </p:nvPr>
        </p:nvSpPr>
        <p:spPr/>
        <p:txBody>
          <a:bodyPr/>
          <a:lstStyle/>
          <a:p>
            <a:r>
              <a:rPr lang="en-US" sz="2800" b="1" dirty="0">
                <a:solidFill>
                  <a:srgbClr val="FFFFFF"/>
                </a:solidFill>
              </a:rPr>
              <a:t>Famous people in </a:t>
            </a:r>
            <a:r>
              <a:rPr lang="en-US" sz="2800" b="1" dirty="0" err="1">
                <a:solidFill>
                  <a:srgbClr val="FFFFFF"/>
                </a:solidFill>
              </a:rPr>
              <a:t>linux</a:t>
            </a:r>
            <a:endParaRPr lang="en-US" dirty="0"/>
          </a:p>
        </p:txBody>
      </p:sp>
      <p:pic>
        <p:nvPicPr>
          <p:cNvPr id="5" name="Content Placeholder 4">
            <a:extLst>
              <a:ext uri="{FF2B5EF4-FFF2-40B4-BE49-F238E27FC236}">
                <a16:creationId xmlns:a16="http://schemas.microsoft.com/office/drawing/2014/main" id="{775C9818-B988-4250-B6C5-F753BDD47D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18432" y="2681242"/>
            <a:ext cx="1876425" cy="2428875"/>
          </a:xfrm>
        </p:spPr>
      </p:pic>
      <p:pic>
        <p:nvPicPr>
          <p:cNvPr id="7" name="Picture 6">
            <a:extLst>
              <a:ext uri="{FF2B5EF4-FFF2-40B4-BE49-F238E27FC236}">
                <a16:creationId xmlns:a16="http://schemas.microsoft.com/office/drawing/2014/main" id="{F74BD4C4-EDE4-48D3-8090-6A7BD8A993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2952" y="2971754"/>
            <a:ext cx="2466975" cy="1847850"/>
          </a:xfrm>
          <a:prstGeom prst="rect">
            <a:avLst/>
          </a:prstGeom>
        </p:spPr>
      </p:pic>
      <p:pic>
        <p:nvPicPr>
          <p:cNvPr id="9" name="Picture 8">
            <a:extLst>
              <a:ext uri="{FF2B5EF4-FFF2-40B4-BE49-F238E27FC236}">
                <a16:creationId xmlns:a16="http://schemas.microsoft.com/office/drawing/2014/main" id="{3782F57B-0CFE-4881-A4D4-A8C8D4A1D0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65867" y="2681243"/>
            <a:ext cx="1885950" cy="2428875"/>
          </a:xfrm>
          <a:prstGeom prst="rect">
            <a:avLst/>
          </a:prstGeom>
        </p:spPr>
      </p:pic>
    </p:spTree>
    <p:extLst>
      <p:ext uri="{BB962C8B-B14F-4D97-AF65-F5344CB8AC3E}">
        <p14:creationId xmlns:p14="http://schemas.microsoft.com/office/powerpoint/2010/main" val="62621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B91C4-6DFB-40A1-8EB6-E19F0060376E}"/>
              </a:ext>
            </a:extLst>
          </p:cNvPr>
          <p:cNvSpPr>
            <a:spLocks noGrp="1"/>
          </p:cNvSpPr>
          <p:nvPr>
            <p:ph type="title"/>
          </p:nvPr>
        </p:nvSpPr>
        <p:spPr/>
        <p:txBody>
          <a:bodyPr/>
          <a:lstStyle/>
          <a:p>
            <a:pPr algn="l"/>
            <a:r>
              <a:rPr lang="en-US" sz="2800" b="1" dirty="0">
                <a:solidFill>
                  <a:srgbClr val="FFFFFF"/>
                </a:solidFill>
              </a:rPr>
              <a:t>Famous company</a:t>
            </a:r>
          </a:p>
        </p:txBody>
      </p:sp>
      <p:sp>
        <p:nvSpPr>
          <p:cNvPr id="3" name="Content Placeholder 2">
            <a:extLst>
              <a:ext uri="{FF2B5EF4-FFF2-40B4-BE49-F238E27FC236}">
                <a16:creationId xmlns:a16="http://schemas.microsoft.com/office/drawing/2014/main" id="{7F5CFD87-DF5B-4FFF-8578-0E0AB0CC8872}"/>
              </a:ext>
            </a:extLst>
          </p:cNvPr>
          <p:cNvSpPr>
            <a:spLocks noGrp="1"/>
          </p:cNvSpPr>
          <p:nvPr>
            <p:ph idx="1"/>
          </p:nvPr>
        </p:nvSpPr>
        <p:spPr/>
        <p:txBody>
          <a:bodyPr/>
          <a:lstStyle/>
          <a:p>
            <a:r>
              <a:rPr lang="en-US" sz="1600" dirty="0" err="1">
                <a:solidFill>
                  <a:srgbClr val="E6E6E6"/>
                </a:solidFill>
              </a:rPr>
              <a:t>At&amp;t</a:t>
            </a:r>
            <a:r>
              <a:rPr lang="en-US" sz="1600" dirty="0">
                <a:solidFill>
                  <a:srgbClr val="E6E6E6"/>
                </a:solidFill>
              </a:rPr>
              <a:t> bell labs</a:t>
            </a:r>
          </a:p>
          <a:p>
            <a:r>
              <a:rPr lang="en-US" sz="1600" dirty="0">
                <a:solidFill>
                  <a:srgbClr val="E6E6E6"/>
                </a:solidFill>
              </a:rPr>
              <a:t>Debian</a:t>
            </a:r>
          </a:p>
          <a:p>
            <a:r>
              <a:rPr lang="en-US" sz="1600" dirty="0" err="1">
                <a:solidFill>
                  <a:srgbClr val="E6E6E6"/>
                </a:solidFill>
              </a:rPr>
              <a:t>Redhat</a:t>
            </a:r>
            <a:endParaRPr lang="en-US" dirty="0"/>
          </a:p>
          <a:p>
            <a:r>
              <a:rPr lang="en-US" sz="1600" dirty="0">
                <a:solidFill>
                  <a:srgbClr val="E6E6E6"/>
                </a:solidFill>
              </a:rPr>
              <a:t>Linux foundation</a:t>
            </a: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25FD22C1-2E37-4DA8-A600-E4B278153B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4577" y="1210010"/>
            <a:ext cx="3333750" cy="1371600"/>
          </a:xfrm>
          <a:prstGeom prst="rect">
            <a:avLst/>
          </a:prstGeom>
        </p:spPr>
      </p:pic>
      <p:pic>
        <p:nvPicPr>
          <p:cNvPr id="7" name="Picture 6">
            <a:extLst>
              <a:ext uri="{FF2B5EF4-FFF2-40B4-BE49-F238E27FC236}">
                <a16:creationId xmlns:a16="http://schemas.microsoft.com/office/drawing/2014/main" id="{535C5023-7A5B-4AAF-9F0D-BFE8C0DC27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7823" y="3127009"/>
            <a:ext cx="1857375" cy="2457450"/>
          </a:xfrm>
          <a:prstGeom prst="rect">
            <a:avLst/>
          </a:prstGeom>
        </p:spPr>
      </p:pic>
      <p:pic>
        <p:nvPicPr>
          <p:cNvPr id="9" name="Picture 8">
            <a:extLst>
              <a:ext uri="{FF2B5EF4-FFF2-40B4-BE49-F238E27FC236}">
                <a16:creationId xmlns:a16="http://schemas.microsoft.com/office/drawing/2014/main" id="{B6A7F420-CC5C-423C-9996-ACEA47CDE4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4577" y="3441334"/>
            <a:ext cx="2143125" cy="2143125"/>
          </a:xfrm>
          <a:prstGeom prst="rect">
            <a:avLst/>
          </a:prstGeom>
        </p:spPr>
      </p:pic>
      <p:pic>
        <p:nvPicPr>
          <p:cNvPr id="11" name="Picture 10">
            <a:extLst>
              <a:ext uri="{FF2B5EF4-FFF2-40B4-BE49-F238E27FC236}">
                <a16:creationId xmlns:a16="http://schemas.microsoft.com/office/drawing/2014/main" id="{1844520E-251B-47F6-9B97-C382CCD75C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7275" y="4643427"/>
            <a:ext cx="3505200" cy="1304925"/>
          </a:xfrm>
          <a:prstGeom prst="rect">
            <a:avLst/>
          </a:prstGeom>
        </p:spPr>
      </p:pic>
    </p:spTree>
    <p:extLst>
      <p:ext uri="{BB962C8B-B14F-4D97-AF65-F5344CB8AC3E}">
        <p14:creationId xmlns:p14="http://schemas.microsoft.com/office/powerpoint/2010/main" val="68720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A4CB4-AE5A-4E54-A769-C95921EFD466}"/>
              </a:ext>
            </a:extLst>
          </p:cNvPr>
          <p:cNvSpPr>
            <a:spLocks noGrp="1"/>
          </p:cNvSpPr>
          <p:nvPr>
            <p:ph type="title"/>
          </p:nvPr>
        </p:nvSpPr>
        <p:spPr>
          <a:xfrm>
            <a:off x="1558956" y="475861"/>
            <a:ext cx="5550971" cy="1505338"/>
          </a:xfrm>
        </p:spPr>
        <p:txBody>
          <a:bodyPr/>
          <a:lstStyle/>
          <a:p>
            <a:pPr algn="l"/>
            <a:r>
              <a:rPr lang="en-US" sz="2800" b="1" dirty="0">
                <a:solidFill>
                  <a:srgbClr val="FFFFFF"/>
                </a:solidFill>
              </a:rPr>
              <a:t>Famous </a:t>
            </a:r>
            <a:r>
              <a:rPr lang="en-US" sz="2800" b="1" dirty="0" err="1">
                <a:solidFill>
                  <a:srgbClr val="FFFFFF"/>
                </a:solidFill>
              </a:rPr>
              <a:t>Universitiy</a:t>
            </a:r>
            <a:endParaRPr lang="en-US" dirty="0"/>
          </a:p>
        </p:txBody>
      </p:sp>
      <p:sp>
        <p:nvSpPr>
          <p:cNvPr id="3" name="Content Placeholder 2">
            <a:extLst>
              <a:ext uri="{FF2B5EF4-FFF2-40B4-BE49-F238E27FC236}">
                <a16:creationId xmlns:a16="http://schemas.microsoft.com/office/drawing/2014/main" id="{800B534B-90FD-4F73-9921-EB588EBC0AE9}"/>
              </a:ext>
            </a:extLst>
          </p:cNvPr>
          <p:cNvSpPr>
            <a:spLocks noGrp="1"/>
          </p:cNvSpPr>
          <p:nvPr>
            <p:ph idx="1"/>
          </p:nvPr>
        </p:nvSpPr>
        <p:spPr>
          <a:xfrm>
            <a:off x="1484310" y="1981199"/>
            <a:ext cx="10018713" cy="3124201"/>
          </a:xfrm>
        </p:spPr>
        <p:txBody>
          <a:bodyPr/>
          <a:lstStyle/>
          <a:p>
            <a:r>
              <a:rPr lang="en-US" sz="1600" dirty="0" err="1">
                <a:solidFill>
                  <a:srgbClr val="E6E6E6"/>
                </a:solidFill>
              </a:rPr>
              <a:t>Berekly</a:t>
            </a:r>
            <a:r>
              <a:rPr lang="en-US" sz="1600" dirty="0">
                <a:solidFill>
                  <a:srgbClr val="E6E6E6"/>
                </a:solidFill>
              </a:rPr>
              <a:t> </a:t>
            </a:r>
            <a:r>
              <a:rPr lang="en-US" sz="1600" dirty="0" err="1">
                <a:solidFill>
                  <a:srgbClr val="E6E6E6"/>
                </a:solidFill>
              </a:rPr>
              <a:t>bsd</a:t>
            </a:r>
            <a:r>
              <a:rPr lang="en-US" sz="1600" dirty="0">
                <a:solidFill>
                  <a:srgbClr val="E6E6E6"/>
                </a:solidFill>
              </a:rPr>
              <a:t> </a:t>
            </a:r>
            <a:r>
              <a:rPr lang="en-US" sz="1600" dirty="0" err="1">
                <a:solidFill>
                  <a:srgbClr val="E6E6E6"/>
                </a:solidFill>
              </a:rPr>
              <a:t>os</a:t>
            </a:r>
            <a:endParaRPr lang="en-US" dirty="0"/>
          </a:p>
          <a:p>
            <a:r>
              <a:rPr lang="en-US" sz="1600" dirty="0">
                <a:solidFill>
                  <a:srgbClr val="E6E6E6"/>
                </a:solidFill>
              </a:rPr>
              <a:t>MIT </a:t>
            </a:r>
            <a:r>
              <a:rPr lang="en-US" sz="1600" dirty="0" err="1">
                <a:solidFill>
                  <a:srgbClr val="E6E6E6"/>
                </a:solidFill>
              </a:rPr>
              <a:t>minix</a:t>
            </a:r>
            <a:r>
              <a:rPr lang="en-US" sz="1600" dirty="0">
                <a:solidFill>
                  <a:srgbClr val="E6E6E6"/>
                </a:solidFill>
              </a:rPr>
              <a:t> just for education (Andrew </a:t>
            </a:r>
            <a:r>
              <a:rPr lang="en-US" sz="1600" dirty="0" err="1">
                <a:solidFill>
                  <a:srgbClr val="E6E6E6"/>
                </a:solidFill>
              </a:rPr>
              <a:t>tanelban</a:t>
            </a:r>
            <a:r>
              <a:rPr lang="en-US" sz="1600" dirty="0">
                <a:solidFill>
                  <a:srgbClr val="E6E6E6"/>
                </a:solidFill>
              </a:rPr>
              <a:t>)</a:t>
            </a:r>
          </a:p>
          <a:p>
            <a:pPr marL="0" indent="0">
              <a:buNone/>
            </a:pPr>
            <a:endParaRPr lang="en-US" dirty="0"/>
          </a:p>
        </p:txBody>
      </p:sp>
      <p:pic>
        <p:nvPicPr>
          <p:cNvPr id="5" name="Picture 4">
            <a:extLst>
              <a:ext uri="{FF2B5EF4-FFF2-40B4-BE49-F238E27FC236}">
                <a16:creationId xmlns:a16="http://schemas.microsoft.com/office/drawing/2014/main" id="{3557BEF1-378B-44E3-B294-9A544309D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2709" y="2605087"/>
            <a:ext cx="2970314" cy="1647825"/>
          </a:xfrm>
          <a:prstGeom prst="rect">
            <a:avLst/>
          </a:prstGeom>
        </p:spPr>
      </p:pic>
    </p:spTree>
    <p:extLst>
      <p:ext uri="{BB962C8B-B14F-4D97-AF65-F5344CB8AC3E}">
        <p14:creationId xmlns:p14="http://schemas.microsoft.com/office/powerpoint/2010/main" val="2512775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CEA39-A49E-4871-BEC7-CF25F5E345C0}"/>
              </a:ext>
            </a:extLst>
          </p:cNvPr>
          <p:cNvSpPr>
            <a:spLocks noGrp="1"/>
          </p:cNvSpPr>
          <p:nvPr>
            <p:ph type="title"/>
          </p:nvPr>
        </p:nvSpPr>
        <p:spPr>
          <a:xfrm>
            <a:off x="1838874" y="0"/>
            <a:ext cx="3516897" cy="1216089"/>
          </a:xfrm>
        </p:spPr>
        <p:txBody>
          <a:bodyPr/>
          <a:lstStyle/>
          <a:p>
            <a:pPr algn="l"/>
            <a:r>
              <a:rPr lang="en-US" sz="2800" b="1" dirty="0">
                <a:solidFill>
                  <a:srgbClr val="FFFFFF"/>
                </a:solidFill>
              </a:rPr>
              <a:t>Fork concept</a:t>
            </a:r>
          </a:p>
        </p:txBody>
      </p:sp>
      <p:sp>
        <p:nvSpPr>
          <p:cNvPr id="3" name="Content Placeholder 2">
            <a:extLst>
              <a:ext uri="{FF2B5EF4-FFF2-40B4-BE49-F238E27FC236}">
                <a16:creationId xmlns:a16="http://schemas.microsoft.com/office/drawing/2014/main" id="{B215B697-1CAE-47E6-BD4C-1ACD59ED6BA7}"/>
              </a:ext>
            </a:extLst>
          </p:cNvPr>
          <p:cNvSpPr>
            <a:spLocks noGrp="1"/>
          </p:cNvSpPr>
          <p:nvPr>
            <p:ph idx="1"/>
          </p:nvPr>
        </p:nvSpPr>
        <p:spPr>
          <a:xfrm>
            <a:off x="1175657" y="1780744"/>
            <a:ext cx="11980505" cy="6453325"/>
          </a:xfrm>
        </p:spPr>
        <p:txBody>
          <a:bodyPr>
            <a:normAutofit/>
          </a:bodyPr>
          <a:lstStyle/>
          <a:p>
            <a:r>
              <a:rPr lang="en-US" sz="1600" dirty="0">
                <a:solidFill>
                  <a:srgbClr val="E6E6E6"/>
                </a:solidFill>
              </a:rPr>
              <a:t>Debian (</a:t>
            </a:r>
            <a:r>
              <a:rPr lang="en-US" sz="1600" dirty="0" err="1">
                <a:solidFill>
                  <a:srgbClr val="E6E6E6"/>
                </a:solidFill>
              </a:rPr>
              <a:t>dpkg</a:t>
            </a:r>
            <a:r>
              <a:rPr lang="en-US" sz="1600" dirty="0">
                <a:solidFill>
                  <a:srgbClr val="E6E6E6"/>
                </a:solidFill>
              </a:rPr>
              <a:t>) 11                 </a:t>
            </a:r>
          </a:p>
          <a:p>
            <a:pPr marL="0" indent="0">
              <a:buNone/>
            </a:pPr>
            <a:r>
              <a:rPr lang="en-US" sz="1600" dirty="0">
                <a:solidFill>
                  <a:srgbClr val="E6E6E6"/>
                </a:solidFill>
              </a:rPr>
              <a:t>                                           ubuntu(22.04 </a:t>
            </a:r>
            <a:r>
              <a:rPr lang="en-US" sz="1600" dirty="0" err="1">
                <a:solidFill>
                  <a:srgbClr val="E6E6E6"/>
                </a:solidFill>
              </a:rPr>
              <a:t>longterm</a:t>
            </a:r>
            <a:r>
              <a:rPr lang="en-US" sz="1600" dirty="0">
                <a:solidFill>
                  <a:srgbClr val="E6E6E6"/>
                </a:solidFill>
              </a:rPr>
              <a:t> support)  </a:t>
            </a:r>
          </a:p>
          <a:p>
            <a:pPr marL="0" indent="0">
              <a:buNone/>
            </a:pPr>
            <a:r>
              <a:rPr lang="en-US" sz="1600" dirty="0">
                <a:solidFill>
                  <a:srgbClr val="E6E6E6"/>
                </a:solidFill>
              </a:rPr>
              <a:t>                                            kali </a:t>
            </a:r>
            <a:r>
              <a:rPr lang="en-US" sz="1600" dirty="0" err="1">
                <a:solidFill>
                  <a:srgbClr val="E6E6E6"/>
                </a:solidFill>
              </a:rPr>
              <a:t>linux</a:t>
            </a:r>
            <a:endParaRPr lang="en-US" dirty="0"/>
          </a:p>
          <a:p>
            <a:r>
              <a:rPr lang="en-US" sz="1600" dirty="0" err="1">
                <a:solidFill>
                  <a:srgbClr val="E6E6E6"/>
                </a:solidFill>
              </a:rPr>
              <a:t>Redhat</a:t>
            </a:r>
            <a:r>
              <a:rPr lang="en-US" sz="1600" dirty="0">
                <a:solidFill>
                  <a:srgbClr val="E6E6E6"/>
                </a:solidFill>
              </a:rPr>
              <a:t> (RHEL) rpm                                              </a:t>
            </a:r>
          </a:p>
          <a:p>
            <a:pPr marL="0" indent="0">
              <a:buNone/>
            </a:pPr>
            <a:r>
              <a:rPr lang="en-US" sz="1600" dirty="0">
                <a:solidFill>
                  <a:srgbClr val="E6E6E6"/>
                </a:solidFill>
              </a:rPr>
              <a:t>                                                  oracle </a:t>
            </a:r>
            <a:r>
              <a:rPr lang="en-US" sz="1600" dirty="0" err="1">
                <a:solidFill>
                  <a:srgbClr val="E6E6E6"/>
                </a:solidFill>
              </a:rPr>
              <a:t>linux</a:t>
            </a:r>
            <a:r>
              <a:rPr lang="en-US" sz="1600" dirty="0">
                <a:solidFill>
                  <a:srgbClr val="E6E6E6"/>
                </a:solidFill>
              </a:rPr>
              <a:t>(Enterprise) means for commercial </a:t>
            </a:r>
          </a:p>
          <a:p>
            <a:endParaRPr lang="en-US" dirty="0"/>
          </a:p>
          <a:p>
            <a:r>
              <a:rPr lang="en-US" sz="1600" dirty="0" err="1">
                <a:solidFill>
                  <a:srgbClr val="E6E6E6"/>
                </a:solidFill>
              </a:rPr>
              <a:t>suse</a:t>
            </a:r>
            <a:r>
              <a:rPr lang="en-US" sz="1600" dirty="0">
                <a:solidFill>
                  <a:srgbClr val="E6E6E6"/>
                </a:solidFill>
              </a:rPr>
              <a:t>  (rpm)                                                                                     </a:t>
            </a:r>
          </a:p>
          <a:p>
            <a:pPr marL="0" indent="0">
              <a:buNone/>
            </a:pPr>
            <a:r>
              <a:rPr lang="en-US" sz="1600" dirty="0">
                <a:solidFill>
                  <a:srgbClr val="E6E6E6"/>
                </a:solidFill>
              </a:rPr>
              <a:t>                                                             </a:t>
            </a:r>
            <a:r>
              <a:rPr lang="en-US" sz="1600" dirty="0" err="1">
                <a:solidFill>
                  <a:srgbClr val="E6E6E6"/>
                </a:solidFill>
              </a:rPr>
              <a:t>suse</a:t>
            </a:r>
            <a:r>
              <a:rPr lang="en-US" sz="1600" dirty="0">
                <a:solidFill>
                  <a:srgbClr val="E6E6E6"/>
                </a:solidFill>
              </a:rPr>
              <a:t>(enterprise)</a:t>
            </a:r>
          </a:p>
          <a:p>
            <a:pPr marL="0" indent="0">
              <a:buNone/>
            </a:pPr>
            <a:r>
              <a:rPr lang="fa-IR" sz="1600" dirty="0">
                <a:solidFill>
                  <a:srgbClr val="E6E6E6"/>
                </a:solidFill>
              </a:rPr>
              <a:t>                                                                                                    </a:t>
            </a:r>
            <a:r>
              <a:rPr lang="en-US" sz="1600" dirty="0" err="1">
                <a:solidFill>
                  <a:srgbClr val="E6E6E6"/>
                </a:solidFill>
              </a:rPr>
              <a:t>opensuse</a:t>
            </a:r>
            <a:endParaRPr lang="en-US" dirty="0"/>
          </a:p>
          <a:p>
            <a:endParaRPr lang="en-US" dirty="0"/>
          </a:p>
          <a:p>
            <a:endParaRPr lang="en-US" dirty="0"/>
          </a:p>
          <a:p>
            <a:endParaRPr lang="en-US" dirty="0"/>
          </a:p>
          <a:p>
            <a:endParaRPr lang="en-US" dirty="0"/>
          </a:p>
        </p:txBody>
      </p:sp>
      <p:cxnSp>
        <p:nvCxnSpPr>
          <p:cNvPr id="5" name="Connector: Elbow 4">
            <a:extLst>
              <a:ext uri="{FF2B5EF4-FFF2-40B4-BE49-F238E27FC236}">
                <a16:creationId xmlns:a16="http://schemas.microsoft.com/office/drawing/2014/main" id="{890A5126-827D-44A4-9FDD-99FAC85E7E4F}"/>
              </a:ext>
            </a:extLst>
          </p:cNvPr>
          <p:cNvCxnSpPr>
            <a:cxnSpLocks/>
          </p:cNvCxnSpPr>
          <p:nvPr/>
        </p:nvCxnSpPr>
        <p:spPr>
          <a:xfrm>
            <a:off x="2500604" y="2224325"/>
            <a:ext cx="2283760" cy="53050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B07F98A8-787A-4CB7-9F4C-DFE7CD417225}"/>
              </a:ext>
            </a:extLst>
          </p:cNvPr>
          <p:cNvCxnSpPr/>
          <p:nvPr/>
        </p:nvCxnSpPr>
        <p:spPr>
          <a:xfrm>
            <a:off x="1838874" y="3807510"/>
            <a:ext cx="2910980" cy="42783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0E00C259-92B8-4526-BE54-37E3FF99504F}"/>
              </a:ext>
            </a:extLst>
          </p:cNvPr>
          <p:cNvCxnSpPr/>
          <p:nvPr/>
        </p:nvCxnSpPr>
        <p:spPr>
          <a:xfrm>
            <a:off x="2849089" y="5243585"/>
            <a:ext cx="2852257" cy="5704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E292266-8D0B-46F9-B495-8AB72D731A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2868" y="345232"/>
            <a:ext cx="2126623" cy="1505362"/>
          </a:xfrm>
          <a:prstGeom prst="rect">
            <a:avLst/>
          </a:prstGeom>
        </p:spPr>
      </p:pic>
      <p:pic>
        <p:nvPicPr>
          <p:cNvPr id="13" name="Picture 12">
            <a:extLst>
              <a:ext uri="{FF2B5EF4-FFF2-40B4-BE49-F238E27FC236}">
                <a16:creationId xmlns:a16="http://schemas.microsoft.com/office/drawing/2014/main" id="{0D3FBD65-6A53-4242-BDAC-840B46E7F3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26972" y="1984154"/>
            <a:ext cx="1926047" cy="1926047"/>
          </a:xfrm>
          <a:prstGeom prst="rect">
            <a:avLst/>
          </a:prstGeom>
        </p:spPr>
      </p:pic>
      <p:pic>
        <p:nvPicPr>
          <p:cNvPr id="15" name="Picture 14">
            <a:extLst>
              <a:ext uri="{FF2B5EF4-FFF2-40B4-BE49-F238E27FC236}">
                <a16:creationId xmlns:a16="http://schemas.microsoft.com/office/drawing/2014/main" id="{FE13C938-0FB8-4339-BFF3-F9E06AC0CD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16623" y="4346461"/>
            <a:ext cx="2336396" cy="897124"/>
          </a:xfrm>
          <a:prstGeom prst="rect">
            <a:avLst/>
          </a:prstGeom>
        </p:spPr>
      </p:pic>
      <p:cxnSp>
        <p:nvCxnSpPr>
          <p:cNvPr id="17" name="Connector: Elbow 16">
            <a:extLst>
              <a:ext uri="{FF2B5EF4-FFF2-40B4-BE49-F238E27FC236}">
                <a16:creationId xmlns:a16="http://schemas.microsoft.com/office/drawing/2014/main" id="{0BAE836F-7BCB-4E3C-B822-60B0B8015FDC}"/>
              </a:ext>
            </a:extLst>
          </p:cNvPr>
          <p:cNvCxnSpPr>
            <a:cxnSpLocks/>
          </p:cNvCxnSpPr>
          <p:nvPr/>
        </p:nvCxnSpPr>
        <p:spPr>
          <a:xfrm>
            <a:off x="7296539" y="5528811"/>
            <a:ext cx="3069771" cy="610732"/>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036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FBBFF-E2C7-4420-8FB2-6A6297041CED}"/>
              </a:ext>
            </a:extLst>
          </p:cNvPr>
          <p:cNvSpPr>
            <a:spLocks noGrp="1"/>
          </p:cNvSpPr>
          <p:nvPr>
            <p:ph type="title"/>
          </p:nvPr>
        </p:nvSpPr>
        <p:spPr>
          <a:xfrm>
            <a:off x="1736237" y="517849"/>
            <a:ext cx="10018713" cy="1752599"/>
          </a:xfrm>
        </p:spPr>
        <p:txBody>
          <a:bodyPr/>
          <a:lstStyle/>
          <a:p>
            <a:pPr algn="l"/>
            <a:r>
              <a:rPr lang="en-US" sz="2800" b="1" dirty="0" err="1">
                <a:solidFill>
                  <a:srgbClr val="FFFFFF"/>
                </a:solidFill>
              </a:rPr>
              <a:t>Cli</a:t>
            </a:r>
            <a:r>
              <a:rPr lang="en-US" sz="2800" b="1" dirty="0">
                <a:solidFill>
                  <a:srgbClr val="FFFFFF"/>
                </a:solidFill>
              </a:rPr>
              <a:t> vs </a:t>
            </a:r>
            <a:r>
              <a:rPr lang="en-US" sz="2800" b="1" dirty="0" err="1">
                <a:solidFill>
                  <a:srgbClr val="FFFFFF"/>
                </a:solidFill>
              </a:rPr>
              <a:t>gui</a:t>
            </a:r>
            <a:endParaRPr lang="en-US" dirty="0"/>
          </a:p>
        </p:txBody>
      </p:sp>
      <p:sp>
        <p:nvSpPr>
          <p:cNvPr id="3" name="Content Placeholder 2">
            <a:extLst>
              <a:ext uri="{FF2B5EF4-FFF2-40B4-BE49-F238E27FC236}">
                <a16:creationId xmlns:a16="http://schemas.microsoft.com/office/drawing/2014/main" id="{4E7EBB59-DC59-4950-BAE6-03CC7CE94241}"/>
              </a:ext>
            </a:extLst>
          </p:cNvPr>
          <p:cNvSpPr>
            <a:spLocks noGrp="1"/>
          </p:cNvSpPr>
          <p:nvPr>
            <p:ph idx="1"/>
          </p:nvPr>
        </p:nvSpPr>
        <p:spPr>
          <a:xfrm>
            <a:off x="1512302" y="2387081"/>
            <a:ext cx="10018713" cy="3124201"/>
          </a:xfrm>
        </p:spPr>
        <p:txBody>
          <a:bodyPr>
            <a:normAutofit fontScale="85000" lnSpcReduction="20000"/>
          </a:bodyPr>
          <a:lstStyle/>
          <a:p>
            <a:r>
              <a:rPr lang="en-US" sz="1600" dirty="0">
                <a:solidFill>
                  <a:srgbClr val="E6E6E6"/>
                </a:solidFill>
              </a:rPr>
              <a:t>Type of cli(</a:t>
            </a:r>
            <a:r>
              <a:rPr lang="en-US" sz="1600" dirty="0" err="1">
                <a:solidFill>
                  <a:srgbClr val="E6E6E6"/>
                </a:solidFill>
              </a:rPr>
              <a:t>bash,sh,zsh</a:t>
            </a:r>
            <a:r>
              <a:rPr lang="en-US" sz="1600" dirty="0">
                <a:solidFill>
                  <a:srgbClr val="E6E6E6"/>
                </a:solidFill>
              </a:rPr>
              <a:t>)</a:t>
            </a:r>
          </a:p>
          <a:p>
            <a:pPr marL="0" indent="0">
              <a:buNone/>
            </a:pPr>
            <a:r>
              <a:rPr lang="en-US" sz="1600" dirty="0">
                <a:solidFill>
                  <a:srgbClr val="E6E6E6"/>
                </a:solidFill>
              </a:rPr>
              <a:t>Bash default shell(</a:t>
            </a:r>
            <a:r>
              <a:rPr lang="en-US" sz="1600" dirty="0" err="1">
                <a:solidFill>
                  <a:srgbClr val="E6E6E6"/>
                </a:solidFill>
              </a:rPr>
              <a:t>bourne</a:t>
            </a:r>
            <a:r>
              <a:rPr lang="en-US" sz="1600" dirty="0">
                <a:solidFill>
                  <a:srgbClr val="E6E6E6"/>
                </a:solidFill>
              </a:rPr>
              <a:t> </a:t>
            </a:r>
            <a:r>
              <a:rPr lang="en-US" sz="1600" dirty="0" err="1">
                <a:solidFill>
                  <a:srgbClr val="E6E6E6"/>
                </a:solidFill>
              </a:rPr>
              <a:t>againe</a:t>
            </a:r>
            <a:r>
              <a:rPr lang="en-US" sz="1600" dirty="0">
                <a:solidFill>
                  <a:srgbClr val="E6E6E6"/>
                </a:solidFill>
              </a:rPr>
              <a:t> shell)</a:t>
            </a:r>
          </a:p>
          <a:p>
            <a:pPr marL="0" indent="0">
              <a:buNone/>
            </a:pPr>
            <a:r>
              <a:rPr lang="en-US" sz="1600" dirty="0" err="1">
                <a:solidFill>
                  <a:srgbClr val="E6E6E6"/>
                </a:solidFill>
              </a:rPr>
              <a:t>Sh</a:t>
            </a:r>
            <a:r>
              <a:rPr lang="en-US" sz="1600" dirty="0">
                <a:solidFill>
                  <a:srgbClr val="E6E6E6"/>
                </a:solidFill>
              </a:rPr>
              <a:t> (</a:t>
            </a:r>
            <a:r>
              <a:rPr lang="en-US" sz="1600" dirty="0" err="1">
                <a:solidFill>
                  <a:srgbClr val="E6E6E6"/>
                </a:solidFill>
              </a:rPr>
              <a:t>bourne</a:t>
            </a:r>
            <a:r>
              <a:rPr lang="en-US" sz="1600" dirty="0">
                <a:solidFill>
                  <a:srgbClr val="E6E6E6"/>
                </a:solidFill>
              </a:rPr>
              <a:t> shell) older than bash </a:t>
            </a:r>
          </a:p>
          <a:p>
            <a:pPr marL="0" indent="0">
              <a:buNone/>
            </a:pPr>
            <a:r>
              <a:rPr lang="en-US" sz="1600" dirty="0" err="1">
                <a:solidFill>
                  <a:srgbClr val="E6E6E6"/>
                </a:solidFill>
              </a:rPr>
              <a:t>Zsh</a:t>
            </a:r>
            <a:r>
              <a:rPr lang="en-US" sz="1600" dirty="0">
                <a:solidFill>
                  <a:srgbClr val="E6E6E6"/>
                </a:solidFill>
              </a:rPr>
              <a:t> (newer spelling correction)  and many extension </a:t>
            </a:r>
          </a:p>
          <a:p>
            <a:pPr marL="0" indent="0">
              <a:buNone/>
            </a:pPr>
            <a:r>
              <a:rPr lang="en-US" sz="1600" dirty="0">
                <a:solidFill>
                  <a:srgbClr val="E6E6E6"/>
                </a:solidFill>
              </a:rPr>
              <a:t>Built-in support git </a:t>
            </a:r>
          </a:p>
          <a:p>
            <a:endParaRPr lang="en-US" dirty="0"/>
          </a:p>
          <a:p>
            <a:r>
              <a:rPr lang="en-US" sz="1600" dirty="0">
                <a:solidFill>
                  <a:srgbClr val="E6E6E6"/>
                </a:solidFill>
              </a:rPr>
              <a:t>Gnome vs gnu ----------</a:t>
            </a:r>
            <a:r>
              <a:rPr lang="en-US" sz="1600" dirty="0">
                <a:solidFill>
                  <a:srgbClr val="E6E6E6"/>
                </a:solidFill>
                <a:sym typeface="Wingdings" panose="05000000000000000000" pitchFamily="2" charset="2"/>
              </a:rPr>
              <a:t> all packages in </a:t>
            </a:r>
            <a:r>
              <a:rPr lang="en-US" sz="1600" dirty="0" err="1">
                <a:solidFill>
                  <a:srgbClr val="E6E6E6"/>
                </a:solidFill>
                <a:sym typeface="Wingdings" panose="05000000000000000000" pitchFamily="2" charset="2"/>
              </a:rPr>
              <a:t>linux</a:t>
            </a:r>
            <a:r>
              <a:rPr lang="en-US" sz="1600" dirty="0">
                <a:solidFill>
                  <a:srgbClr val="E6E6E6"/>
                </a:solidFill>
                <a:sym typeface="Wingdings" panose="05000000000000000000" pitchFamily="2" charset="2"/>
              </a:rPr>
              <a:t> must  be approved by gnu license     gnome graphical env</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63153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B079C-22AD-4318-8E40-A34D844A1BC4}"/>
              </a:ext>
            </a:extLst>
          </p:cNvPr>
          <p:cNvSpPr>
            <a:spLocks noGrp="1"/>
          </p:cNvSpPr>
          <p:nvPr>
            <p:ph type="title"/>
          </p:nvPr>
        </p:nvSpPr>
        <p:spPr>
          <a:xfrm>
            <a:off x="1521633" y="-118722"/>
            <a:ext cx="10018713" cy="1752599"/>
          </a:xfrm>
        </p:spPr>
        <p:txBody>
          <a:bodyPr/>
          <a:lstStyle/>
          <a:p>
            <a:pPr algn="l"/>
            <a:r>
              <a:rPr lang="en-US" sz="2800" b="1" dirty="0">
                <a:solidFill>
                  <a:srgbClr val="FFFFFF"/>
                </a:solidFill>
              </a:rPr>
              <a:t>bash</a:t>
            </a:r>
          </a:p>
        </p:txBody>
      </p:sp>
      <p:sp>
        <p:nvSpPr>
          <p:cNvPr id="3" name="Content Placeholder 2">
            <a:extLst>
              <a:ext uri="{FF2B5EF4-FFF2-40B4-BE49-F238E27FC236}">
                <a16:creationId xmlns:a16="http://schemas.microsoft.com/office/drawing/2014/main" id="{6EA5F967-C3E9-48C7-B3BB-2C96DA34B078}"/>
              </a:ext>
            </a:extLst>
          </p:cNvPr>
          <p:cNvSpPr>
            <a:spLocks noGrp="1"/>
          </p:cNvSpPr>
          <p:nvPr>
            <p:ph idx="1"/>
          </p:nvPr>
        </p:nvSpPr>
        <p:spPr>
          <a:xfrm>
            <a:off x="1521633" y="1488613"/>
            <a:ext cx="8596668" cy="3880773"/>
          </a:xfrm>
        </p:spPr>
        <p:txBody>
          <a:bodyPr>
            <a:noAutofit/>
          </a:bodyPr>
          <a:lstStyle/>
          <a:p>
            <a:endParaRPr lang="en-US" sz="2000" dirty="0"/>
          </a:p>
          <a:p>
            <a:r>
              <a:rPr lang="en-US" sz="1600" dirty="0">
                <a:solidFill>
                  <a:srgbClr val="E6E6E6"/>
                </a:solidFill>
              </a:rPr>
              <a:t>type of bash  internal and external </a:t>
            </a:r>
            <a:endParaRPr lang="fa-IR" sz="2000" dirty="0"/>
          </a:p>
          <a:p>
            <a:endParaRPr lang="fa-IR" sz="2000" dirty="0"/>
          </a:p>
          <a:p>
            <a:endParaRPr lang="fa-IR" sz="2000" dirty="0"/>
          </a:p>
          <a:p>
            <a:r>
              <a:rPr lang="en-US" sz="1600" dirty="0">
                <a:solidFill>
                  <a:srgbClr val="E6E6E6"/>
                </a:solidFill>
              </a:rPr>
              <a:t>global bash (export) vs local bash      </a:t>
            </a:r>
            <a:r>
              <a:rPr lang="en-US" sz="1600" dirty="0" err="1">
                <a:solidFill>
                  <a:srgbClr val="E6E6E6"/>
                </a:solidFill>
              </a:rPr>
              <a:t>ali</a:t>
            </a:r>
            <a:r>
              <a:rPr lang="en-US" sz="1600" dirty="0">
                <a:solidFill>
                  <a:srgbClr val="E6E6E6"/>
                </a:solidFill>
              </a:rPr>
              <a:t>=m  </a:t>
            </a:r>
          </a:p>
          <a:p>
            <a:endParaRPr lang="en-US" sz="2000" dirty="0"/>
          </a:p>
          <a:p>
            <a:endParaRPr lang="en-US" sz="2000" dirty="0"/>
          </a:p>
          <a:p>
            <a:endParaRPr lang="en-US" sz="2000" dirty="0"/>
          </a:p>
          <a:p>
            <a:r>
              <a:rPr lang="en-US" sz="1600" dirty="0">
                <a:solidFill>
                  <a:srgbClr val="E6E6E6"/>
                </a:solidFill>
              </a:rPr>
              <a:t>Example  cd and date</a:t>
            </a:r>
          </a:p>
          <a:p>
            <a:endParaRPr lang="en-US" sz="2000" dirty="0"/>
          </a:p>
          <a:p>
            <a:r>
              <a:rPr lang="en-US" sz="1600" dirty="0" err="1">
                <a:solidFill>
                  <a:srgbClr val="E6E6E6"/>
                </a:solidFill>
              </a:rPr>
              <a:t>root@hostname</a:t>
            </a:r>
            <a:r>
              <a:rPr lang="en-US" sz="1600" dirty="0">
                <a:solidFill>
                  <a:srgbClr val="E6E6E6"/>
                </a:solidFill>
              </a:rPr>
              <a:t>~#           username  hostname   current directory   </a:t>
            </a:r>
            <a:r>
              <a:rPr lang="en-US" sz="1600" dirty="0" err="1">
                <a:solidFill>
                  <a:srgbClr val="E6E6E6"/>
                </a:solidFill>
              </a:rPr>
              <a:t>privilledge</a:t>
            </a:r>
            <a:r>
              <a:rPr lang="en-US" sz="1600" dirty="0">
                <a:solidFill>
                  <a:srgbClr val="E6E6E6"/>
                </a:solidFill>
              </a:rPr>
              <a:t> </a:t>
            </a:r>
            <a:endParaRPr lang="fa-IR" sz="2000" dirty="0"/>
          </a:p>
          <a:p>
            <a:pPr marL="0" indent="0">
              <a:buNone/>
            </a:pPr>
            <a:r>
              <a:rPr lang="en-US" sz="1600" dirty="0">
                <a:solidFill>
                  <a:srgbClr val="E6E6E6"/>
                </a:solidFill>
              </a:rPr>
              <a:t> # superuser   $normal user</a:t>
            </a:r>
          </a:p>
        </p:txBody>
      </p:sp>
    </p:spTree>
    <p:extLst>
      <p:ext uri="{BB962C8B-B14F-4D97-AF65-F5344CB8AC3E}">
        <p14:creationId xmlns:p14="http://schemas.microsoft.com/office/powerpoint/2010/main" val="4287488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D1B46-95A7-4D6D-9B0C-A289A182466B}"/>
              </a:ext>
            </a:extLst>
          </p:cNvPr>
          <p:cNvSpPr>
            <a:spLocks noGrp="1"/>
          </p:cNvSpPr>
          <p:nvPr>
            <p:ph type="title"/>
          </p:nvPr>
        </p:nvSpPr>
        <p:spPr>
          <a:xfrm>
            <a:off x="1642932" y="321906"/>
            <a:ext cx="10018713" cy="1752599"/>
          </a:xfrm>
        </p:spPr>
        <p:txBody>
          <a:bodyPr/>
          <a:lstStyle/>
          <a:p>
            <a:pPr algn="l"/>
            <a:r>
              <a:rPr lang="en-US" sz="2800" b="1" dirty="0">
                <a:solidFill>
                  <a:srgbClr val="FFFFFF"/>
                </a:solidFill>
              </a:rPr>
              <a:t>Basic Command </a:t>
            </a:r>
          </a:p>
        </p:txBody>
      </p:sp>
      <p:sp>
        <p:nvSpPr>
          <p:cNvPr id="3" name="Content Placeholder 2">
            <a:extLst>
              <a:ext uri="{FF2B5EF4-FFF2-40B4-BE49-F238E27FC236}">
                <a16:creationId xmlns:a16="http://schemas.microsoft.com/office/drawing/2014/main" id="{05061ECE-0CBF-4DAE-A1D7-150F36074554}"/>
              </a:ext>
            </a:extLst>
          </p:cNvPr>
          <p:cNvSpPr>
            <a:spLocks noGrp="1"/>
          </p:cNvSpPr>
          <p:nvPr>
            <p:ph idx="1"/>
          </p:nvPr>
        </p:nvSpPr>
        <p:spPr>
          <a:xfrm>
            <a:off x="1474980" y="2191138"/>
            <a:ext cx="10018713" cy="3124201"/>
          </a:xfrm>
        </p:spPr>
        <p:txBody>
          <a:bodyPr>
            <a:normAutofit fontScale="85000" lnSpcReduction="20000"/>
          </a:bodyPr>
          <a:lstStyle/>
          <a:p>
            <a:r>
              <a:rPr lang="en-US" sz="1600" dirty="0">
                <a:solidFill>
                  <a:srgbClr val="E6E6E6"/>
                </a:solidFill>
              </a:rPr>
              <a:t>ls  used to list the files and directories in a directory</a:t>
            </a:r>
          </a:p>
          <a:p>
            <a:r>
              <a:rPr lang="en-US" sz="1600" dirty="0">
                <a:solidFill>
                  <a:srgbClr val="E6E6E6"/>
                </a:solidFill>
              </a:rPr>
              <a:t>ls –l   with long format</a:t>
            </a:r>
          </a:p>
          <a:p>
            <a:r>
              <a:rPr lang="en-US" sz="1600" dirty="0">
                <a:solidFill>
                  <a:srgbClr val="E6E6E6"/>
                </a:solidFill>
              </a:rPr>
              <a:t>ls –lash</a:t>
            </a:r>
          </a:p>
          <a:p>
            <a:r>
              <a:rPr lang="en-US" sz="1600" dirty="0">
                <a:solidFill>
                  <a:srgbClr val="E6E6E6"/>
                </a:solidFill>
              </a:rPr>
              <a:t>Cd change directory in </a:t>
            </a:r>
            <a:r>
              <a:rPr lang="en-US" sz="1600" dirty="0" err="1">
                <a:solidFill>
                  <a:srgbClr val="E6E6E6"/>
                </a:solidFill>
              </a:rPr>
              <a:t>linux</a:t>
            </a:r>
            <a:r>
              <a:rPr lang="en-US" sz="1600" dirty="0">
                <a:solidFill>
                  <a:srgbClr val="E6E6E6"/>
                </a:solidFill>
              </a:rPr>
              <a:t>    . ..  ~      cd ~=cd</a:t>
            </a:r>
          </a:p>
          <a:p>
            <a:r>
              <a:rPr lang="en-US" sz="1600" dirty="0" err="1">
                <a:solidFill>
                  <a:srgbClr val="E6E6E6"/>
                </a:solidFill>
              </a:rPr>
              <a:t>Pwd</a:t>
            </a:r>
            <a:r>
              <a:rPr lang="en-US" sz="1600" dirty="0">
                <a:solidFill>
                  <a:srgbClr val="E6E6E6"/>
                </a:solidFill>
              </a:rPr>
              <a:t> print work directory</a:t>
            </a:r>
          </a:p>
          <a:p>
            <a:r>
              <a:rPr lang="en-US" sz="1600" dirty="0">
                <a:solidFill>
                  <a:srgbClr val="E6E6E6"/>
                </a:solidFill>
              </a:rPr>
              <a:t>Some command don’t need – for switch for example </a:t>
            </a:r>
            <a:r>
              <a:rPr lang="en-US" sz="1600" dirty="0" err="1">
                <a:solidFill>
                  <a:srgbClr val="E6E6E6"/>
                </a:solidFill>
              </a:rPr>
              <a:t>ip</a:t>
            </a:r>
            <a:r>
              <a:rPr lang="en-US" sz="1600" dirty="0">
                <a:solidFill>
                  <a:srgbClr val="E6E6E6"/>
                </a:solidFill>
              </a:rPr>
              <a:t> a</a:t>
            </a:r>
          </a:p>
          <a:p>
            <a:r>
              <a:rPr lang="en-US" sz="1600" dirty="0">
                <a:solidFill>
                  <a:srgbClr val="E6E6E6"/>
                </a:solidFill>
              </a:rPr>
              <a:t>history   ! Show with number and content   !! Last command</a:t>
            </a:r>
          </a:p>
          <a:p>
            <a:r>
              <a:rPr lang="en-US" sz="1600" dirty="0">
                <a:solidFill>
                  <a:srgbClr val="E6E6E6"/>
                </a:solidFill>
              </a:rPr>
              <a:t>History    </a:t>
            </a:r>
            <a:r>
              <a:rPr lang="en-US" sz="1600" dirty="0" err="1">
                <a:solidFill>
                  <a:srgbClr val="E6E6E6"/>
                </a:solidFill>
              </a:rPr>
              <a:t>history</a:t>
            </a:r>
            <a:r>
              <a:rPr lang="en-US" sz="1600" dirty="0">
                <a:solidFill>
                  <a:srgbClr val="E6E6E6"/>
                </a:solidFill>
              </a:rPr>
              <a:t> –d </a:t>
            </a:r>
            <a:r>
              <a:rPr lang="en-US" sz="1600" dirty="0" err="1">
                <a:solidFill>
                  <a:srgbClr val="E6E6E6"/>
                </a:solidFill>
              </a:rPr>
              <a:t>linenumber</a:t>
            </a:r>
            <a:r>
              <a:rPr lang="en-US" sz="1600" dirty="0">
                <a:solidFill>
                  <a:srgbClr val="E6E6E6"/>
                </a:solidFill>
              </a:rPr>
              <a:t>             history –w  (write)   -c(delete all)</a:t>
            </a:r>
          </a:p>
        </p:txBody>
      </p:sp>
    </p:spTree>
    <p:extLst>
      <p:ext uri="{BB962C8B-B14F-4D97-AF65-F5344CB8AC3E}">
        <p14:creationId xmlns:p14="http://schemas.microsoft.com/office/powerpoint/2010/main" val="1487826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4269-7F1B-439F-9340-FBCF3FEFC162}"/>
              </a:ext>
            </a:extLst>
          </p:cNvPr>
          <p:cNvSpPr>
            <a:spLocks noGrp="1"/>
          </p:cNvSpPr>
          <p:nvPr>
            <p:ph type="title"/>
          </p:nvPr>
        </p:nvSpPr>
        <p:spPr/>
        <p:txBody>
          <a:bodyPr/>
          <a:lstStyle/>
          <a:p>
            <a:r>
              <a:rPr lang="en-US" sz="2800" b="1" dirty="0">
                <a:solidFill>
                  <a:srgbClr val="FFFFFF"/>
                </a:solidFill>
              </a:rPr>
              <a:t>Command basic</a:t>
            </a:r>
          </a:p>
        </p:txBody>
      </p:sp>
      <p:sp>
        <p:nvSpPr>
          <p:cNvPr id="3" name="Content Placeholder 2">
            <a:extLst>
              <a:ext uri="{FF2B5EF4-FFF2-40B4-BE49-F238E27FC236}">
                <a16:creationId xmlns:a16="http://schemas.microsoft.com/office/drawing/2014/main" id="{DFB305D0-D8A8-49E9-BE4A-B3ADA3104D31}"/>
              </a:ext>
            </a:extLst>
          </p:cNvPr>
          <p:cNvSpPr>
            <a:spLocks noGrp="1"/>
          </p:cNvSpPr>
          <p:nvPr>
            <p:ph idx="1"/>
          </p:nvPr>
        </p:nvSpPr>
        <p:spPr>
          <a:xfrm>
            <a:off x="1398714" y="2438399"/>
            <a:ext cx="10104310" cy="3971731"/>
          </a:xfrm>
        </p:spPr>
        <p:txBody>
          <a:bodyPr>
            <a:normAutofit fontScale="70000" lnSpcReduction="20000"/>
          </a:bodyPr>
          <a:lstStyle/>
          <a:p>
            <a:r>
              <a:rPr lang="en-US" sz="1600" dirty="0">
                <a:solidFill>
                  <a:srgbClr val="E6E6E6"/>
                </a:solidFill>
              </a:rPr>
              <a:t>echo ----------</a:t>
            </a:r>
            <a:r>
              <a:rPr lang="en-US" sz="1600" dirty="0">
                <a:solidFill>
                  <a:srgbClr val="E6E6E6"/>
                </a:solidFill>
                <a:sym typeface="Wingdings" panose="05000000000000000000" pitchFamily="2" charset="2"/>
              </a:rPr>
              <a:t> echo hello --- hello</a:t>
            </a:r>
          </a:p>
          <a:p>
            <a:r>
              <a:rPr lang="en-US" sz="1600" dirty="0">
                <a:solidFill>
                  <a:srgbClr val="E6E6E6"/>
                </a:solidFill>
                <a:sym typeface="Wingdings" panose="05000000000000000000" pitchFamily="2" charset="2"/>
              </a:rPr>
              <a:t>echo $PATH   /</a:t>
            </a:r>
            <a:r>
              <a:rPr lang="en-US" sz="1600" dirty="0" err="1">
                <a:solidFill>
                  <a:srgbClr val="E6E6E6"/>
                </a:solidFill>
                <a:sym typeface="Wingdings" panose="05000000000000000000" pitchFamily="2" charset="2"/>
              </a:rPr>
              <a:t>usr</a:t>
            </a:r>
            <a:r>
              <a:rPr lang="en-US" sz="1600" dirty="0">
                <a:solidFill>
                  <a:srgbClr val="E6E6E6"/>
                </a:solidFill>
                <a:sym typeface="Wingdings" panose="05000000000000000000" pitchFamily="2" charset="2"/>
              </a:rPr>
              <a:t>/bin</a:t>
            </a:r>
          </a:p>
          <a:p>
            <a:r>
              <a:rPr lang="en-US" sz="1600" dirty="0">
                <a:solidFill>
                  <a:srgbClr val="E6E6E6"/>
                </a:solidFill>
                <a:sym typeface="Wingdings" panose="05000000000000000000" pitchFamily="2" charset="2"/>
              </a:rPr>
              <a:t>echo $SHELL</a:t>
            </a:r>
          </a:p>
          <a:p>
            <a:r>
              <a:rPr lang="en-US" sz="1600" dirty="0">
                <a:solidFill>
                  <a:srgbClr val="E6E6E6"/>
                </a:solidFill>
                <a:sym typeface="Wingdings" panose="05000000000000000000" pitchFamily="2" charset="2"/>
              </a:rPr>
              <a:t>echo $BASH </a:t>
            </a:r>
            <a:r>
              <a:rPr lang="fa-IR" sz="1600" dirty="0">
                <a:solidFill>
                  <a:srgbClr val="E6E6E6"/>
                </a:solidFill>
                <a:sym typeface="Wingdings" panose="05000000000000000000" pitchFamily="2" charset="2"/>
              </a:rPr>
              <a:t> </a:t>
            </a:r>
            <a:r>
              <a:rPr lang="en-US" sz="1600" dirty="0">
                <a:solidFill>
                  <a:srgbClr val="E6E6E6"/>
                </a:solidFill>
                <a:sym typeface="Wingdings" panose="05000000000000000000" pitchFamily="2" charset="2"/>
              </a:rPr>
              <a:t>echo $SHLVL</a:t>
            </a:r>
            <a:endParaRPr lang="fa-IR" sz="2900" dirty="0">
              <a:sym typeface="Wingdings" panose="05000000000000000000" pitchFamily="2" charset="2"/>
            </a:endParaRPr>
          </a:p>
          <a:p>
            <a:r>
              <a:rPr lang="en-US" sz="1600" dirty="0">
                <a:solidFill>
                  <a:srgbClr val="E6E6E6"/>
                </a:solidFill>
                <a:sym typeface="Wingdings" panose="05000000000000000000" pitchFamily="2" charset="2"/>
              </a:rPr>
              <a:t>Env </a:t>
            </a:r>
            <a:r>
              <a:rPr lang="en-US" sz="1600" dirty="0" err="1">
                <a:solidFill>
                  <a:srgbClr val="E6E6E6"/>
                </a:solidFill>
                <a:sym typeface="Wingdings" panose="05000000000000000000" pitchFamily="2" charset="2"/>
              </a:rPr>
              <a:t>enviroument</a:t>
            </a:r>
            <a:r>
              <a:rPr lang="en-US" sz="1600" dirty="0">
                <a:solidFill>
                  <a:srgbClr val="E6E6E6"/>
                </a:solidFill>
                <a:sym typeface="Wingdings" panose="05000000000000000000" pitchFamily="2" charset="2"/>
              </a:rPr>
              <a:t> variable means part of memory that create value in there.</a:t>
            </a:r>
          </a:p>
          <a:p>
            <a:r>
              <a:rPr lang="en-US" sz="1600" dirty="0">
                <a:solidFill>
                  <a:srgbClr val="E6E6E6"/>
                </a:solidFill>
                <a:sym typeface="Wingdings" panose="05000000000000000000" pitchFamily="2" charset="2"/>
              </a:rPr>
              <a:t>In </a:t>
            </a:r>
            <a:r>
              <a:rPr lang="en-US" sz="1600" dirty="0" err="1">
                <a:solidFill>
                  <a:srgbClr val="E6E6E6"/>
                </a:solidFill>
                <a:sym typeface="Wingdings" panose="05000000000000000000" pitchFamily="2" charset="2"/>
              </a:rPr>
              <a:t>linux</a:t>
            </a:r>
            <a:r>
              <a:rPr lang="en-US" sz="1600" dirty="0">
                <a:solidFill>
                  <a:srgbClr val="E6E6E6"/>
                </a:solidFill>
                <a:sym typeface="Wingdings" panose="05000000000000000000" pitchFamily="2" charset="2"/>
              </a:rPr>
              <a:t> $PATH refer to env       </a:t>
            </a:r>
          </a:p>
          <a:p>
            <a:r>
              <a:rPr lang="en-US" sz="1600" dirty="0" err="1">
                <a:solidFill>
                  <a:srgbClr val="E6E6E6"/>
                </a:solidFill>
                <a:sym typeface="Wingdings" panose="05000000000000000000" pitchFamily="2" charset="2"/>
              </a:rPr>
              <a:t>printenv</a:t>
            </a:r>
            <a:r>
              <a:rPr lang="en-US" sz="1600" dirty="0">
                <a:solidFill>
                  <a:srgbClr val="E6E6E6"/>
                </a:solidFill>
                <a:sym typeface="Wingdings" panose="05000000000000000000" pitchFamily="2" charset="2"/>
              </a:rPr>
              <a:t> show local env in </a:t>
            </a:r>
            <a:r>
              <a:rPr lang="en-US" sz="1600" dirty="0" err="1">
                <a:solidFill>
                  <a:srgbClr val="E6E6E6"/>
                </a:solidFill>
                <a:sym typeface="Wingdings" panose="05000000000000000000" pitchFamily="2" charset="2"/>
              </a:rPr>
              <a:t>linux</a:t>
            </a:r>
            <a:endParaRPr lang="en-US" sz="2900" dirty="0">
              <a:sym typeface="Wingdings" panose="05000000000000000000" pitchFamily="2" charset="2"/>
            </a:endParaRPr>
          </a:p>
          <a:p>
            <a:r>
              <a:rPr lang="fa-IR" sz="1600" dirty="0">
                <a:solidFill>
                  <a:srgbClr val="E6E6E6"/>
                </a:solidFill>
                <a:sym typeface="Wingdings" panose="05000000000000000000" pitchFamily="2" charset="2"/>
              </a:rPr>
              <a:t>  </a:t>
            </a:r>
            <a:r>
              <a:rPr lang="en-US" sz="1600" dirty="0">
                <a:solidFill>
                  <a:srgbClr val="E6E6E6"/>
                </a:solidFill>
                <a:sym typeface="Wingdings" panose="05000000000000000000" pitchFamily="2" charset="2"/>
              </a:rPr>
              <a:t>set </a:t>
            </a:r>
            <a:r>
              <a:rPr lang="en-US" sz="1600" dirty="0">
                <a:solidFill>
                  <a:srgbClr val="E6E6E6"/>
                </a:solidFill>
              </a:rPr>
              <a:t> display active environment variables</a:t>
            </a:r>
            <a:endParaRPr lang="en-US" sz="2900" dirty="0">
              <a:sym typeface="Wingdings" panose="05000000000000000000" pitchFamily="2" charset="2"/>
            </a:endParaRPr>
          </a:p>
          <a:p>
            <a:r>
              <a:rPr lang="en-US" sz="1600" dirty="0">
                <a:solidFill>
                  <a:srgbClr val="E6E6E6"/>
                </a:solidFill>
                <a:sym typeface="Wingdings" panose="05000000000000000000" pitchFamily="2" charset="2"/>
              </a:rPr>
              <a:t>   which </a:t>
            </a:r>
            <a:r>
              <a:rPr lang="en-US" sz="1600" dirty="0">
                <a:solidFill>
                  <a:srgbClr val="E6E6E6"/>
                </a:solidFill>
              </a:rPr>
              <a:t>It searches through the PATH directories to find the program. If it locates the program, it displays its absolute directory reference</a:t>
            </a:r>
            <a:endParaRPr lang="en-US" sz="2900" dirty="0">
              <a:sym typeface="Wingdings" panose="05000000000000000000" pitchFamily="2" charset="2"/>
            </a:endParaRPr>
          </a:p>
          <a:p>
            <a:endParaRPr lang="en-US" dirty="0">
              <a:sym typeface="Wingdings" panose="05000000000000000000" pitchFamily="2" charset="2"/>
            </a:endParaRPr>
          </a:p>
          <a:p>
            <a:endParaRPr lang="en-US" dirty="0"/>
          </a:p>
        </p:txBody>
      </p:sp>
    </p:spTree>
    <p:extLst>
      <p:ext uri="{BB962C8B-B14F-4D97-AF65-F5344CB8AC3E}">
        <p14:creationId xmlns:p14="http://schemas.microsoft.com/office/powerpoint/2010/main" val="284786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506A1-2856-40F2-B9AE-673B4949B69E}"/>
              </a:ext>
            </a:extLst>
          </p:cNvPr>
          <p:cNvSpPr>
            <a:spLocks noGrp="1"/>
          </p:cNvSpPr>
          <p:nvPr>
            <p:ph type="title"/>
          </p:nvPr>
        </p:nvSpPr>
        <p:spPr>
          <a:xfrm>
            <a:off x="924474" y="0"/>
            <a:ext cx="10018713" cy="1752599"/>
          </a:xfrm>
        </p:spPr>
        <p:txBody>
          <a:bodyPr/>
          <a:lstStyle/>
          <a:p>
            <a:pPr algn="ctr"/>
            <a:r>
              <a:rPr lang="en-US" sz="2800" b="1" i="1" u="sng" dirty="0">
                <a:solidFill>
                  <a:srgbClr val="FFFFFF"/>
                </a:solidFill>
                <a:hlinkClick r:id="rId2"/>
              </a:rPr>
              <a:t>hierarchy</a:t>
            </a:r>
            <a:r>
              <a:rPr lang="en-US" sz="2800" b="1" u="sng" dirty="0">
                <a:solidFill>
                  <a:srgbClr val="FFFFFF"/>
                </a:solidFill>
                <a:hlinkClick r:id="rId2"/>
              </a:rPr>
              <a:t>  in  </a:t>
            </a:r>
            <a:r>
              <a:rPr lang="en-US" sz="2800" b="1" u="sng" dirty="0" err="1">
                <a:solidFill>
                  <a:srgbClr val="FFFFFF"/>
                </a:solidFill>
                <a:hlinkClick r:id="rId2"/>
              </a:rPr>
              <a:t>linux</a:t>
            </a:r>
            <a:endParaRPr lang="en-US" dirty="0"/>
          </a:p>
        </p:txBody>
      </p:sp>
      <p:pic>
        <p:nvPicPr>
          <p:cNvPr id="7" name="Content Placeholder 6">
            <a:extLst>
              <a:ext uri="{FF2B5EF4-FFF2-40B4-BE49-F238E27FC236}">
                <a16:creationId xmlns:a16="http://schemas.microsoft.com/office/drawing/2014/main" id="{9BF47B45-30B3-410A-95DD-EBF0452027A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80184" y="1892558"/>
            <a:ext cx="5831631" cy="3995057"/>
          </a:xfrm>
        </p:spPr>
      </p:pic>
    </p:spTree>
    <p:extLst>
      <p:ext uri="{BB962C8B-B14F-4D97-AF65-F5344CB8AC3E}">
        <p14:creationId xmlns:p14="http://schemas.microsoft.com/office/powerpoint/2010/main" val="1174255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62DB7-5AF4-40A5-8A8B-BE2A5963426A}"/>
              </a:ext>
            </a:extLst>
          </p:cNvPr>
          <p:cNvSpPr>
            <a:spLocks noGrp="1"/>
          </p:cNvSpPr>
          <p:nvPr>
            <p:ph type="title"/>
          </p:nvPr>
        </p:nvSpPr>
        <p:spPr/>
        <p:txBody>
          <a:bodyPr/>
          <a:lstStyle/>
          <a:p>
            <a:pPr algn="ctr"/>
            <a:r>
              <a:rPr lang="en-US" sz="2800" b="1" dirty="0">
                <a:solidFill>
                  <a:srgbClr val="FFFFFF"/>
                </a:solidFill>
              </a:rPr>
              <a:t>Regular expression</a:t>
            </a:r>
          </a:p>
        </p:txBody>
      </p:sp>
      <p:sp>
        <p:nvSpPr>
          <p:cNvPr id="3" name="Content Placeholder 2">
            <a:extLst>
              <a:ext uri="{FF2B5EF4-FFF2-40B4-BE49-F238E27FC236}">
                <a16:creationId xmlns:a16="http://schemas.microsoft.com/office/drawing/2014/main" id="{78F7BF4C-9D36-4725-9510-1EB96ED305C7}"/>
              </a:ext>
            </a:extLst>
          </p:cNvPr>
          <p:cNvSpPr>
            <a:spLocks noGrp="1"/>
          </p:cNvSpPr>
          <p:nvPr>
            <p:ph idx="1"/>
          </p:nvPr>
        </p:nvSpPr>
        <p:spPr/>
        <p:txBody>
          <a:bodyPr>
            <a:normAutofit fontScale="85000" lnSpcReduction="20000"/>
          </a:bodyPr>
          <a:lstStyle/>
          <a:p>
            <a:r>
              <a:rPr kumimoji="0" lang="en-US" sz="1600" b="0" i="0" u="none" strike="noStrike" kern="1200" cap="none" spc="0" normalizeH="0" baseline="0" noProof="0" dirty="0">
                <a:ln>
                  <a:noFill/>
                </a:ln>
                <a:solidFill>
                  <a:srgbClr val="E6E6E6"/>
                </a:solidFill>
                <a:effectLst/>
                <a:uLnTx/>
                <a:uFillTx/>
                <a:latin typeface="Calibri" panose="020F0502020204030204"/>
                <a:ea typeface="+mn-ea"/>
                <a:cs typeface="+mn-cs"/>
              </a:rPr>
              <a:t>&amp;&amp;</a:t>
            </a:r>
            <a:r>
              <a:rPr lang="fa-IR" sz="1600" dirty="0">
                <a:solidFill>
                  <a:srgbClr val="E6E6E6"/>
                </a:solidFill>
              </a:rPr>
              <a:t>                                </a:t>
            </a:r>
            <a:r>
              <a:rPr lang="en-US" sz="1600" dirty="0">
                <a:solidFill>
                  <a:srgbClr val="E6E6E6"/>
                </a:solidFill>
              </a:rPr>
              <a:t>                  \  for ignore what’s your name?</a:t>
            </a:r>
          </a:p>
          <a:p>
            <a:pPr marL="0" indent="0">
              <a:buNone/>
            </a:pPr>
            <a:r>
              <a:rPr lang="en-US" sz="1600" dirty="0">
                <a:solidFill>
                  <a:srgbClr val="E6E6E6"/>
                </a:solidFill>
              </a:rPr>
              <a:t>                                                                    echo -e </a:t>
            </a:r>
            <a:r>
              <a:rPr lang="en-US" sz="1600" dirty="0">
                <a:solidFill>
                  <a:srgbClr val="E6E6E6"/>
                </a:solidFill>
                <a:hlinkClick r:id="rId2" action="ppaction://hlinkfile"/>
              </a:rPr>
              <a:t>\\n</a:t>
            </a:r>
            <a:r>
              <a:rPr lang="en-US" sz="1600" dirty="0">
                <a:solidFill>
                  <a:srgbClr val="E6E6E6"/>
                </a:solidFill>
              </a:rPr>
              <a:t> and \\t</a:t>
            </a:r>
          </a:p>
          <a:p>
            <a:r>
              <a:rPr lang="en-US" sz="1600" dirty="0">
                <a:solidFill>
                  <a:srgbClr val="E6E6E6"/>
                </a:solidFill>
              </a:rPr>
              <a:t>||                                                           []</a:t>
            </a:r>
          </a:p>
          <a:p>
            <a:r>
              <a:rPr lang="en-US" sz="1600" dirty="0">
                <a:solidFill>
                  <a:srgbClr val="E6E6E6"/>
                </a:solidFill>
              </a:rPr>
              <a:t>;                                                               “”  know as string</a:t>
            </a:r>
          </a:p>
          <a:p>
            <a:r>
              <a:rPr lang="en-US" sz="1600" dirty="0">
                <a:solidFill>
                  <a:srgbClr val="E6E6E6"/>
                </a:solidFill>
              </a:rPr>
              <a:t>*  </a:t>
            </a:r>
          </a:p>
          <a:p>
            <a:r>
              <a:rPr lang="en-US" sz="1600" dirty="0">
                <a:solidFill>
                  <a:srgbClr val="E6E6E6"/>
                </a:solidFill>
              </a:rPr>
              <a:t>?</a:t>
            </a:r>
          </a:p>
          <a:p>
            <a:r>
              <a:rPr lang="en-US" sz="1600" dirty="0">
                <a:solidFill>
                  <a:srgbClr val="E6E6E6"/>
                </a:solidFill>
              </a:rPr>
              <a:t>!</a:t>
            </a:r>
          </a:p>
          <a:p>
            <a:r>
              <a:rPr lang="en-US" sz="1600" dirty="0">
                <a:solidFill>
                  <a:srgbClr val="E6E6E6"/>
                </a:solidFill>
              </a:rPr>
              <a:t>^------------------</a:t>
            </a:r>
            <a:r>
              <a:rPr lang="en-US" sz="1600" dirty="0">
                <a:solidFill>
                  <a:srgbClr val="E6E6E6"/>
                </a:solidFill>
                <a:sym typeface="Wingdings" panose="05000000000000000000" pitchFamily="2" charset="2"/>
              </a:rPr>
              <a:t> begin with</a:t>
            </a:r>
            <a:endParaRPr lang="en-US" sz="2000" dirty="0"/>
          </a:p>
          <a:p>
            <a:r>
              <a:rPr lang="en-US" sz="1600" dirty="0">
                <a:solidFill>
                  <a:srgbClr val="E6E6E6"/>
                </a:solidFill>
              </a:rPr>
              <a:t>$--------------</a:t>
            </a:r>
            <a:r>
              <a:rPr lang="en-US" sz="1600" dirty="0">
                <a:solidFill>
                  <a:srgbClr val="E6E6E6"/>
                </a:solidFill>
                <a:sym typeface="Wingdings" panose="05000000000000000000" pitchFamily="2" charset="2"/>
              </a:rPr>
              <a:t> env     and end with    </a:t>
            </a:r>
            <a:endParaRPr lang="en-US" sz="2000" dirty="0"/>
          </a:p>
          <a:p>
            <a:endParaRPr lang="en-US" sz="2000" dirty="0"/>
          </a:p>
        </p:txBody>
      </p:sp>
    </p:spTree>
    <p:extLst>
      <p:ext uri="{BB962C8B-B14F-4D97-AF65-F5344CB8AC3E}">
        <p14:creationId xmlns:p14="http://schemas.microsoft.com/office/powerpoint/2010/main" val="3171934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2A33-8F37-324A-F836-5402D85EA8C5}"/>
              </a:ext>
            </a:extLst>
          </p:cNvPr>
          <p:cNvSpPr>
            <a:spLocks noGrp="1"/>
          </p:cNvSpPr>
          <p:nvPr>
            <p:ph type="title"/>
          </p:nvPr>
        </p:nvSpPr>
        <p:spPr>
          <a:xfrm>
            <a:off x="1086643" y="190500"/>
            <a:ext cx="10018713" cy="1752599"/>
          </a:xfrm>
        </p:spPr>
        <p:txBody>
          <a:bodyPr/>
          <a:lstStyle/>
          <a:p>
            <a:r>
              <a:rPr lang="en-US" sz="2800" b="1" dirty="0">
                <a:solidFill>
                  <a:srgbClr val="FFFFFF"/>
                </a:solidFill>
              </a:rPr>
              <a:t>navigate</a:t>
            </a:r>
          </a:p>
        </p:txBody>
      </p:sp>
      <p:sp>
        <p:nvSpPr>
          <p:cNvPr id="3" name="Content Placeholder 2">
            <a:extLst>
              <a:ext uri="{FF2B5EF4-FFF2-40B4-BE49-F238E27FC236}">
                <a16:creationId xmlns:a16="http://schemas.microsoft.com/office/drawing/2014/main" id="{1666AF1E-F6D0-49A2-0829-80F6FC3FE4E4}"/>
              </a:ext>
            </a:extLst>
          </p:cNvPr>
          <p:cNvSpPr>
            <a:spLocks noGrp="1"/>
          </p:cNvSpPr>
          <p:nvPr>
            <p:ph idx="1"/>
          </p:nvPr>
        </p:nvSpPr>
        <p:spPr/>
        <p:txBody>
          <a:bodyPr>
            <a:normAutofit fontScale="92500" lnSpcReduction="20000"/>
          </a:bodyPr>
          <a:lstStyle/>
          <a:p>
            <a:r>
              <a:rPr lang="en-US" sz="1600" dirty="0">
                <a:solidFill>
                  <a:srgbClr val="E6E6E6"/>
                </a:solidFill>
              </a:rPr>
              <a:t>Relative</a:t>
            </a:r>
          </a:p>
          <a:p>
            <a:pPr marL="0" indent="0">
              <a:buNone/>
            </a:pPr>
            <a:r>
              <a:rPr lang="en-US" sz="1600" dirty="0">
                <a:solidFill>
                  <a:srgbClr val="E6E6E6"/>
                </a:solidFill>
              </a:rPr>
              <a:t> </a:t>
            </a:r>
            <a:r>
              <a:rPr lang="en-US" sz="1600" dirty="0">
                <a:solidFill>
                  <a:srgbClr val="E6E6E6"/>
                </a:solidFill>
                <a:latin typeface="Calibri" panose="020F0502020204030204" pitchFamily="34" charset="0"/>
                <a:ea typeface="Calibri" panose="020F0502020204030204" pitchFamily="34" charset="0"/>
                <a:cs typeface="Calibri" panose="020F0502020204030204" pitchFamily="34" charset="0"/>
              </a:rPr>
              <a:t>cd </a:t>
            </a:r>
            <a:r>
              <a:rPr lang="en-US" sz="1600" dirty="0" err="1">
                <a:solidFill>
                  <a:srgbClr val="E6E6E6"/>
                </a:solidFill>
                <a:latin typeface="Calibri" panose="020F0502020204030204" pitchFamily="34" charset="0"/>
                <a:ea typeface="Calibri" panose="020F0502020204030204" pitchFamily="34" charset="0"/>
                <a:cs typeface="Calibri" panose="020F0502020204030204" pitchFamily="34" charset="0"/>
              </a:rPr>
              <a:t>sysconfig</a:t>
            </a:r>
            <a:endParaRPr lang="en-US" sz="2800" dirty="0">
              <a:latin typeface="Calibri" panose="020F0502020204030204" pitchFamily="34" charset="0"/>
              <a:ea typeface="Calibri" panose="020F0502020204030204" pitchFamily="34" charset="0"/>
              <a:cs typeface="Calibri" panose="020F0502020204030204" pitchFamily="34" charset="0"/>
            </a:endParaRPr>
          </a:p>
          <a:p>
            <a:endParaRPr lang="en-US" dirty="0"/>
          </a:p>
          <a:p>
            <a:endParaRPr lang="en-US" dirty="0"/>
          </a:p>
          <a:p>
            <a:endParaRPr lang="en-US" dirty="0"/>
          </a:p>
          <a:p>
            <a:r>
              <a:rPr lang="en-US" sz="1600" dirty="0" err="1">
                <a:solidFill>
                  <a:srgbClr val="E6E6E6"/>
                </a:solidFill>
              </a:rPr>
              <a:t>Obsolute</a:t>
            </a:r>
            <a:r>
              <a:rPr lang="en-US" sz="1600" dirty="0">
                <a:solidFill>
                  <a:srgbClr val="E6E6E6"/>
                </a:solidFill>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dirty="0">
                <a:solidFill>
                  <a:srgbClr val="E6E6E6"/>
                </a:solidFill>
              </a:rPr>
              <a:t> </a:t>
            </a:r>
            <a:r>
              <a:rPr kumimoji="0" lang="en-US" sz="1600" b="0" i="0" u="none" strike="noStrike" kern="1200" cap="none" spc="0" normalizeH="0" baseline="0" noProof="0" dirty="0">
                <a:ln>
                  <a:noFill/>
                </a:ln>
                <a:solidFill>
                  <a:srgbClr val="E6E6E6"/>
                </a:solidFill>
                <a:effectLst/>
                <a:uLnTx/>
                <a:uFillTx/>
                <a:latin typeface="Calibri" panose="020F0502020204030204"/>
                <a:ea typeface="+mn-ea"/>
                <a:cs typeface="+mn-cs"/>
              </a:rPr>
              <a:t> cd /</a:t>
            </a:r>
            <a:r>
              <a:rPr kumimoji="0" lang="en-US" sz="1600" b="0" i="0" u="none" strike="noStrike" kern="1200" cap="none" spc="0" normalizeH="0" baseline="0" noProof="0" dirty="0" err="1">
                <a:ln>
                  <a:noFill/>
                </a:ln>
                <a:solidFill>
                  <a:srgbClr val="E6E6E6"/>
                </a:solidFill>
                <a:effectLst/>
                <a:uLnTx/>
                <a:uFillTx/>
                <a:latin typeface="Calibri" panose="020F0502020204030204"/>
                <a:ea typeface="+mn-ea"/>
                <a:cs typeface="+mn-cs"/>
              </a:rPr>
              <a:t>etc</a:t>
            </a:r>
            <a:r>
              <a:rPr kumimoji="0" lang="en-US" sz="1600" b="0" i="0" u="none" strike="noStrike" kern="1200" cap="none" spc="0" normalizeH="0" baseline="0" noProof="0" dirty="0">
                <a:ln>
                  <a:noFill/>
                </a:ln>
                <a:solidFill>
                  <a:srgbClr val="E6E6E6"/>
                </a:solidFill>
                <a:effectLst/>
                <a:uLnTx/>
                <a:uFillTx/>
                <a:latin typeface="Calibri" panose="020F0502020204030204"/>
                <a:ea typeface="+mn-ea"/>
                <a:cs typeface="+mn-cs"/>
              </a:rPr>
              <a:t>/</a:t>
            </a:r>
            <a:r>
              <a:rPr kumimoji="0" lang="en-US" sz="1600" b="0" i="0" u="none" strike="noStrike" kern="1200" cap="none" spc="0" normalizeH="0" baseline="0" noProof="0" dirty="0" err="1">
                <a:ln>
                  <a:noFill/>
                </a:ln>
                <a:solidFill>
                  <a:srgbClr val="E6E6E6"/>
                </a:solidFill>
                <a:effectLst/>
                <a:uLnTx/>
                <a:uFillTx/>
                <a:latin typeface="Calibri" panose="020F0502020204030204"/>
                <a:ea typeface="+mn-ea"/>
                <a:cs typeface="+mn-cs"/>
              </a:rPr>
              <a:t>sysconfig</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p:txBody>
      </p:sp>
    </p:spTree>
    <p:extLst>
      <p:ext uri="{BB962C8B-B14F-4D97-AF65-F5344CB8AC3E}">
        <p14:creationId xmlns:p14="http://schemas.microsoft.com/office/powerpoint/2010/main" val="1968226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7F55E-C39F-7C0B-79D4-72D268706566}"/>
              </a:ext>
            </a:extLst>
          </p:cNvPr>
          <p:cNvSpPr>
            <a:spLocks noGrp="1"/>
          </p:cNvSpPr>
          <p:nvPr>
            <p:ph type="title"/>
          </p:nvPr>
        </p:nvSpPr>
        <p:spPr>
          <a:xfrm>
            <a:off x="925511" y="147320"/>
            <a:ext cx="10018713" cy="1752599"/>
          </a:xfrm>
        </p:spPr>
        <p:txBody>
          <a:bodyPr/>
          <a:lstStyle/>
          <a:p>
            <a:pPr algn="ctr"/>
            <a:r>
              <a:rPr lang="en-US" sz="2800" b="1" dirty="0">
                <a:solidFill>
                  <a:srgbClr val="FFFFFF"/>
                </a:solidFill>
              </a:rPr>
              <a:t>Editor file in </a:t>
            </a:r>
            <a:r>
              <a:rPr lang="en-US" sz="2800" b="1" dirty="0" err="1">
                <a:solidFill>
                  <a:srgbClr val="FFFFFF"/>
                </a:solidFill>
              </a:rPr>
              <a:t>linux</a:t>
            </a:r>
            <a:endParaRPr lang="en-US" dirty="0"/>
          </a:p>
        </p:txBody>
      </p:sp>
      <p:sp>
        <p:nvSpPr>
          <p:cNvPr id="3" name="Content Placeholder 2">
            <a:extLst>
              <a:ext uri="{FF2B5EF4-FFF2-40B4-BE49-F238E27FC236}">
                <a16:creationId xmlns:a16="http://schemas.microsoft.com/office/drawing/2014/main" id="{49497F59-F4C0-1FCA-D420-E3AEA9A4D47F}"/>
              </a:ext>
            </a:extLst>
          </p:cNvPr>
          <p:cNvSpPr>
            <a:spLocks noGrp="1"/>
          </p:cNvSpPr>
          <p:nvPr>
            <p:ph idx="1"/>
          </p:nvPr>
        </p:nvSpPr>
        <p:spPr>
          <a:xfrm>
            <a:off x="1725296" y="2001520"/>
            <a:ext cx="11076305" cy="4312920"/>
          </a:xfrm>
        </p:spPr>
        <p:txBody>
          <a:bodyPr>
            <a:normAutofit fontScale="62500" lnSpcReduction="20000"/>
          </a:bodyPr>
          <a:lstStyle/>
          <a:p>
            <a:r>
              <a:rPr lang="en-US" sz="1600" dirty="0">
                <a:solidFill>
                  <a:srgbClr val="E6E6E6"/>
                </a:solidFill>
              </a:rPr>
              <a:t>Vi vs vim </a:t>
            </a:r>
          </a:p>
          <a:p>
            <a:pPr marL="0" indent="0">
              <a:buNone/>
            </a:pPr>
            <a:r>
              <a:rPr lang="en-US" sz="1600" dirty="0">
                <a:solidFill>
                  <a:srgbClr val="E6E6E6"/>
                </a:solidFill>
              </a:rPr>
              <a:t>I begin line                                                                              G end of file</a:t>
            </a:r>
          </a:p>
          <a:p>
            <a:pPr marL="0" indent="0">
              <a:buNone/>
            </a:pPr>
            <a:r>
              <a:rPr lang="en-US" sz="1600" dirty="0" err="1">
                <a:solidFill>
                  <a:srgbClr val="E6E6E6"/>
                </a:solidFill>
              </a:rPr>
              <a:t>i</a:t>
            </a:r>
            <a:r>
              <a:rPr lang="en-US" sz="1600" dirty="0">
                <a:solidFill>
                  <a:srgbClr val="E6E6E6"/>
                </a:solidFill>
              </a:rPr>
              <a:t>  insert in file                                                                           gg move to the first line</a:t>
            </a:r>
          </a:p>
          <a:p>
            <a:pPr marL="0" indent="0">
              <a:buNone/>
            </a:pPr>
            <a:r>
              <a:rPr lang="en-US" sz="1600" dirty="0">
                <a:solidFill>
                  <a:srgbClr val="E6E6E6"/>
                </a:solidFill>
              </a:rPr>
              <a:t>O open a new text  above cursor</a:t>
            </a:r>
          </a:p>
          <a:p>
            <a:pPr marL="0" indent="0">
              <a:buNone/>
            </a:pPr>
            <a:r>
              <a:rPr lang="en-US" sz="1600" dirty="0">
                <a:solidFill>
                  <a:srgbClr val="E6E6E6"/>
                </a:solidFill>
              </a:rPr>
              <a:t>o   open a new test below curser</a:t>
            </a:r>
          </a:p>
          <a:p>
            <a:pPr marL="0" indent="0">
              <a:buNone/>
            </a:pPr>
            <a:r>
              <a:rPr lang="en-US" sz="1600" dirty="0">
                <a:solidFill>
                  <a:srgbClr val="E6E6E6"/>
                </a:solidFill>
              </a:rPr>
              <a:t>w write                                                                                                touch for create file or text</a:t>
            </a:r>
          </a:p>
          <a:p>
            <a:pPr marL="0" indent="0">
              <a:buNone/>
            </a:pPr>
            <a:r>
              <a:rPr lang="en-US" sz="1600" dirty="0">
                <a:solidFill>
                  <a:srgbClr val="E6E6E6"/>
                </a:solidFill>
              </a:rPr>
              <a:t>q   quite                              x</a:t>
            </a:r>
          </a:p>
          <a:p>
            <a:pPr marL="0" indent="0">
              <a:buNone/>
            </a:pPr>
            <a:r>
              <a:rPr lang="en-US" sz="1600" dirty="0">
                <a:solidFill>
                  <a:srgbClr val="E6E6E6"/>
                </a:solidFill>
              </a:rPr>
              <a:t>a   insert text after </a:t>
            </a:r>
          </a:p>
          <a:p>
            <a:pPr marL="0" indent="0">
              <a:buNone/>
            </a:pPr>
            <a:r>
              <a:rPr lang="en-US" sz="1600" dirty="0">
                <a:solidFill>
                  <a:srgbClr val="E6E6E6"/>
                </a:solidFill>
              </a:rPr>
              <a:t>A insert text end of line                                                        ctrl v after c</a:t>
            </a:r>
          </a:p>
          <a:p>
            <a:pPr marL="0" indent="0">
              <a:buNone/>
            </a:pPr>
            <a:r>
              <a:rPr lang="en-US" sz="1600" dirty="0">
                <a:solidFill>
                  <a:srgbClr val="E6E6E6"/>
                </a:solidFill>
              </a:rPr>
              <a:t>u     undo  </a:t>
            </a:r>
          </a:p>
          <a:p>
            <a:pPr marL="0" indent="0">
              <a:buNone/>
            </a:pPr>
            <a:r>
              <a:rPr lang="en-US" sz="1600" dirty="0">
                <a:solidFill>
                  <a:srgbClr val="E6E6E6"/>
                </a:solidFill>
              </a:rPr>
              <a:t>ctrl + r   redo                                        vi buffering </a:t>
            </a:r>
          </a:p>
          <a:p>
            <a:pPr marL="0" indent="0">
              <a:buNone/>
            </a:pPr>
            <a:r>
              <a:rPr lang="en-US" sz="1600" dirty="0">
                <a:solidFill>
                  <a:srgbClr val="E6E6E6"/>
                </a:solidFill>
              </a:rPr>
              <a:t>dd                                                                                              %s/a/b/</a:t>
            </a:r>
          </a:p>
          <a:p>
            <a:pPr marL="0" indent="0">
              <a:buNone/>
            </a:pPr>
            <a:r>
              <a:rPr lang="en-US" sz="1600" dirty="0">
                <a:solidFill>
                  <a:srgbClr val="E6E6E6"/>
                </a:solidFill>
              </a:rPr>
              <a:t>^ vs $           /      </a:t>
            </a:r>
          </a:p>
          <a:p>
            <a:r>
              <a:rPr lang="en-US" sz="1600" dirty="0">
                <a:solidFill>
                  <a:srgbClr val="E6E6E6"/>
                </a:solidFill>
              </a:rPr>
              <a:t>nano</a:t>
            </a:r>
          </a:p>
        </p:txBody>
      </p:sp>
    </p:spTree>
    <p:extLst>
      <p:ext uri="{BB962C8B-B14F-4D97-AF65-F5344CB8AC3E}">
        <p14:creationId xmlns:p14="http://schemas.microsoft.com/office/powerpoint/2010/main" val="64551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5856A-7C7A-9A57-3C53-F81C14B4944C}"/>
              </a:ext>
            </a:extLst>
          </p:cNvPr>
          <p:cNvSpPr>
            <a:spLocks noGrp="1"/>
          </p:cNvSpPr>
          <p:nvPr>
            <p:ph type="title"/>
          </p:nvPr>
        </p:nvSpPr>
        <p:spPr/>
        <p:txBody>
          <a:bodyPr/>
          <a:lstStyle/>
          <a:p>
            <a:pPr algn="ctr"/>
            <a:r>
              <a:rPr lang="en-US" sz="2800" b="1" dirty="0">
                <a:solidFill>
                  <a:srgbClr val="FFFFFF"/>
                </a:solidFill>
              </a:rPr>
              <a:t>Processing text edit </a:t>
            </a:r>
          </a:p>
        </p:txBody>
      </p:sp>
      <p:sp>
        <p:nvSpPr>
          <p:cNvPr id="3" name="Content Placeholder 2">
            <a:extLst>
              <a:ext uri="{FF2B5EF4-FFF2-40B4-BE49-F238E27FC236}">
                <a16:creationId xmlns:a16="http://schemas.microsoft.com/office/drawing/2014/main" id="{61BAB7F3-4549-2E4F-A996-79AD03AB61CD}"/>
              </a:ext>
            </a:extLst>
          </p:cNvPr>
          <p:cNvSpPr>
            <a:spLocks noGrp="1"/>
          </p:cNvSpPr>
          <p:nvPr>
            <p:ph idx="1"/>
          </p:nvPr>
        </p:nvSpPr>
        <p:spPr/>
        <p:txBody>
          <a:bodyPr>
            <a:normAutofit fontScale="85000" lnSpcReduction="20000"/>
          </a:bodyPr>
          <a:lstStyle/>
          <a:p>
            <a:r>
              <a:rPr lang="en-US" sz="1600" dirty="0">
                <a:solidFill>
                  <a:srgbClr val="E6E6E6"/>
                </a:solidFill>
              </a:rPr>
              <a:t>cat                                                   less and more  </a:t>
            </a:r>
          </a:p>
          <a:p>
            <a:pPr marL="0" indent="0">
              <a:buNone/>
            </a:pPr>
            <a:r>
              <a:rPr lang="en-US" sz="1600" dirty="0">
                <a:solidFill>
                  <a:srgbClr val="E6E6E6"/>
                </a:solidFill>
              </a:rPr>
              <a:t>                                                            less better than more</a:t>
            </a:r>
          </a:p>
          <a:p>
            <a:r>
              <a:rPr lang="en-US" sz="1600" dirty="0">
                <a:solidFill>
                  <a:srgbClr val="E6E6E6"/>
                </a:solidFill>
              </a:rPr>
              <a:t>sort      -r     -n                                 tail </a:t>
            </a:r>
          </a:p>
          <a:p>
            <a:pPr marL="0" indent="0">
              <a:buNone/>
            </a:pPr>
            <a:r>
              <a:rPr lang="en-US" sz="1600" dirty="0">
                <a:solidFill>
                  <a:srgbClr val="E6E6E6"/>
                </a:solidFill>
              </a:rPr>
              <a:t>                                                             head</a:t>
            </a:r>
          </a:p>
          <a:p>
            <a:r>
              <a:rPr lang="en-US" sz="1600" dirty="0">
                <a:solidFill>
                  <a:srgbClr val="E6E6E6"/>
                </a:solidFill>
              </a:rPr>
              <a:t>paste join file together side by side    </a:t>
            </a:r>
            <a:r>
              <a:rPr lang="en-US" sz="1600" dirty="0" err="1">
                <a:solidFill>
                  <a:srgbClr val="E6E6E6"/>
                </a:solidFill>
              </a:rPr>
              <a:t>wc</a:t>
            </a:r>
            <a:r>
              <a:rPr lang="en-US" sz="1600" dirty="0">
                <a:solidFill>
                  <a:srgbClr val="E6E6E6"/>
                </a:solidFill>
              </a:rPr>
              <a:t> -l</a:t>
            </a:r>
          </a:p>
          <a:p>
            <a:pPr marL="0" indent="0">
              <a:buNone/>
            </a:pPr>
            <a:r>
              <a:rPr lang="en-US" sz="1600" dirty="0">
                <a:solidFill>
                  <a:srgbClr val="E6E6E6"/>
                </a:solidFill>
              </a:rPr>
              <a:t>                                                             cut –d “,” –f </a:t>
            </a:r>
            <a:r>
              <a:rPr lang="en-US" sz="1600" dirty="0" err="1">
                <a:solidFill>
                  <a:srgbClr val="E6E6E6"/>
                </a:solidFill>
              </a:rPr>
              <a:t>filenumber</a:t>
            </a:r>
            <a:r>
              <a:rPr lang="en-US" sz="1600" dirty="0">
                <a:solidFill>
                  <a:srgbClr val="E6E6E6"/>
                </a:solidFill>
              </a:rPr>
              <a:t>  filename</a:t>
            </a:r>
          </a:p>
          <a:p>
            <a:r>
              <a:rPr lang="en-US" sz="1600" dirty="0">
                <a:solidFill>
                  <a:srgbClr val="E6E6E6"/>
                </a:solidFill>
              </a:rPr>
              <a:t>split   -l                                              join file together side by side</a:t>
            </a:r>
          </a:p>
          <a:p>
            <a:r>
              <a:rPr lang="en-US" sz="1600" dirty="0" err="1">
                <a:solidFill>
                  <a:srgbClr val="E6E6E6"/>
                </a:solidFill>
              </a:rPr>
              <a:t>uniq</a:t>
            </a:r>
            <a:r>
              <a:rPr lang="en-US" sz="1600" dirty="0">
                <a:solidFill>
                  <a:srgbClr val="E6E6E6"/>
                </a:solidFill>
              </a:rPr>
              <a:t> prevent repeat line                 tr translation character tr “” “ ,“</a:t>
            </a:r>
          </a:p>
        </p:txBody>
      </p:sp>
    </p:spTree>
    <p:extLst>
      <p:ext uri="{BB962C8B-B14F-4D97-AF65-F5344CB8AC3E}">
        <p14:creationId xmlns:p14="http://schemas.microsoft.com/office/powerpoint/2010/main" val="3736947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5AEC5-CC4F-6837-9A85-41BD9ECEA972}"/>
              </a:ext>
            </a:extLst>
          </p:cNvPr>
          <p:cNvSpPr>
            <a:spLocks noGrp="1"/>
          </p:cNvSpPr>
          <p:nvPr>
            <p:ph type="title"/>
          </p:nvPr>
        </p:nvSpPr>
        <p:spPr>
          <a:xfrm>
            <a:off x="38100" y="544286"/>
            <a:ext cx="8596668" cy="1320800"/>
          </a:xfrm>
        </p:spPr>
        <p:txBody>
          <a:bodyPr>
            <a:normAutofit/>
          </a:bodyPr>
          <a:lstStyle/>
          <a:p>
            <a:r>
              <a:rPr lang="en-US" sz="2800" b="1" dirty="0">
                <a:solidFill>
                  <a:srgbClr val="FFFFFF"/>
                </a:solidFill>
              </a:rPr>
              <a:t>                      sed and tee and </a:t>
            </a:r>
            <a:r>
              <a:rPr lang="en-US" sz="2800" b="1" dirty="0" err="1">
                <a:solidFill>
                  <a:srgbClr val="FFFFFF"/>
                </a:solidFill>
              </a:rPr>
              <a:t>xargs</a:t>
            </a:r>
            <a:endParaRPr lang="en-US" dirty="0"/>
          </a:p>
        </p:txBody>
      </p:sp>
      <p:sp>
        <p:nvSpPr>
          <p:cNvPr id="3" name="Content Placeholder 2">
            <a:extLst>
              <a:ext uri="{FF2B5EF4-FFF2-40B4-BE49-F238E27FC236}">
                <a16:creationId xmlns:a16="http://schemas.microsoft.com/office/drawing/2014/main" id="{492A3599-99F8-FC58-DA38-659BFF5B9B13}"/>
              </a:ext>
            </a:extLst>
          </p:cNvPr>
          <p:cNvSpPr>
            <a:spLocks noGrp="1"/>
          </p:cNvSpPr>
          <p:nvPr>
            <p:ph idx="1"/>
          </p:nvPr>
        </p:nvSpPr>
        <p:spPr/>
        <p:txBody>
          <a:bodyPr>
            <a:normAutofit fontScale="62500" lnSpcReduction="20000"/>
          </a:bodyPr>
          <a:lstStyle/>
          <a:p>
            <a:r>
              <a:rPr lang="en-US" sz="1600" dirty="0">
                <a:solidFill>
                  <a:srgbClr val="E6E6E6"/>
                </a:solidFill>
              </a:rPr>
              <a:t>tee             ls  | tee files         </a:t>
            </a:r>
          </a:p>
          <a:p>
            <a:pPr marL="0" indent="0">
              <a:buNone/>
            </a:pPr>
            <a:r>
              <a:rPr lang="en-US" sz="1600" dirty="0">
                <a:solidFill>
                  <a:srgbClr val="E6E6E6"/>
                </a:solidFill>
              </a:rPr>
              <a:t>  </a:t>
            </a:r>
          </a:p>
          <a:p>
            <a:r>
              <a:rPr lang="en-US" sz="1600" dirty="0" err="1">
                <a:solidFill>
                  <a:srgbClr val="E6E6E6"/>
                </a:solidFill>
              </a:rPr>
              <a:t>Xargs</a:t>
            </a:r>
            <a:r>
              <a:rPr lang="en-US" sz="1600" dirty="0">
                <a:solidFill>
                  <a:srgbClr val="E6E6E6"/>
                </a:solidFill>
              </a:rPr>
              <a:t>              execute </a:t>
            </a:r>
            <a:r>
              <a:rPr lang="en-US" sz="1600" dirty="0" err="1">
                <a:solidFill>
                  <a:srgbClr val="E6E6E6"/>
                </a:solidFill>
              </a:rPr>
              <a:t>stdout</a:t>
            </a:r>
            <a:r>
              <a:rPr lang="en-US" sz="1600" dirty="0">
                <a:solidFill>
                  <a:srgbClr val="E6E6E6"/>
                </a:solidFill>
              </a:rPr>
              <a:t> first command </a:t>
            </a:r>
          </a:p>
          <a:p>
            <a:pPr marL="0" indent="0">
              <a:buNone/>
            </a:pPr>
            <a:r>
              <a:rPr lang="en-US" sz="1600" dirty="0">
                <a:solidFill>
                  <a:srgbClr val="E6E6E6"/>
                </a:solidFill>
              </a:rPr>
              <a:t>   ls  | </a:t>
            </a:r>
            <a:r>
              <a:rPr lang="en-US" sz="1600" dirty="0" err="1">
                <a:solidFill>
                  <a:srgbClr val="E6E6E6"/>
                </a:solidFill>
              </a:rPr>
              <a:t>xargs</a:t>
            </a:r>
            <a:r>
              <a:rPr lang="en-US" sz="1600" dirty="0">
                <a:solidFill>
                  <a:srgbClr val="E6E6E6"/>
                </a:solidFill>
              </a:rPr>
              <a:t> echo ----</a:t>
            </a:r>
            <a:r>
              <a:rPr lang="en-US" sz="1600" dirty="0">
                <a:solidFill>
                  <a:srgbClr val="E6E6E6"/>
                </a:solidFill>
                <a:sym typeface="Wingdings" panose="05000000000000000000" pitchFamily="2" charset="2"/>
              </a:rPr>
              <a:t> echo ls</a:t>
            </a:r>
          </a:p>
          <a:p>
            <a:pPr marL="0" indent="0">
              <a:buNone/>
            </a:pPr>
            <a:r>
              <a:rPr lang="en-US" sz="1600" dirty="0">
                <a:solidFill>
                  <a:srgbClr val="E6E6E6"/>
                </a:solidFill>
              </a:rPr>
              <a:t>   echo  </a:t>
            </a:r>
            <a:r>
              <a:rPr lang="en-US" sz="1600" dirty="0" err="1">
                <a:solidFill>
                  <a:srgbClr val="E6E6E6"/>
                </a:solidFill>
              </a:rPr>
              <a:t>ali</a:t>
            </a:r>
            <a:r>
              <a:rPr lang="en-US" sz="1600" dirty="0">
                <a:solidFill>
                  <a:srgbClr val="E6E6E6"/>
                </a:solidFill>
              </a:rPr>
              <a:t> | </a:t>
            </a:r>
            <a:r>
              <a:rPr lang="en-US" sz="1600" dirty="0" err="1">
                <a:solidFill>
                  <a:srgbClr val="E6E6E6"/>
                </a:solidFill>
              </a:rPr>
              <a:t>xargs</a:t>
            </a:r>
            <a:r>
              <a:rPr lang="en-US" sz="1600" dirty="0">
                <a:solidFill>
                  <a:srgbClr val="E6E6E6"/>
                </a:solidFill>
              </a:rPr>
              <a:t> -I </a:t>
            </a:r>
            <a:r>
              <a:rPr lang="en-US" sz="1600" dirty="0" err="1">
                <a:solidFill>
                  <a:srgbClr val="E6E6E6"/>
                </a:solidFill>
              </a:rPr>
              <a:t>mamad</a:t>
            </a:r>
            <a:r>
              <a:rPr lang="en-US" sz="1600" dirty="0">
                <a:solidFill>
                  <a:srgbClr val="E6E6E6"/>
                </a:solidFill>
              </a:rPr>
              <a:t> echo my name is </a:t>
            </a:r>
            <a:r>
              <a:rPr lang="en-US" sz="1600" dirty="0" err="1">
                <a:solidFill>
                  <a:srgbClr val="E6E6E6"/>
                </a:solidFill>
              </a:rPr>
              <a:t>mamad</a:t>
            </a:r>
            <a:endParaRPr lang="en-US" dirty="0"/>
          </a:p>
          <a:p>
            <a:endParaRPr lang="en-US" dirty="0"/>
          </a:p>
          <a:p>
            <a:endParaRPr lang="en-US" dirty="0"/>
          </a:p>
          <a:p>
            <a:r>
              <a:rPr lang="en-US" sz="1600" dirty="0">
                <a:solidFill>
                  <a:srgbClr val="E6E6E6"/>
                </a:solidFill>
              </a:rPr>
              <a:t>sed     echo “ I like ice” | sed ‘s/</a:t>
            </a:r>
            <a:r>
              <a:rPr lang="en-US" sz="1600" dirty="0" err="1">
                <a:solidFill>
                  <a:srgbClr val="E6E6E6"/>
                </a:solidFill>
              </a:rPr>
              <a:t>icecream</a:t>
            </a:r>
            <a:r>
              <a:rPr lang="en-US" sz="1600" dirty="0">
                <a:solidFill>
                  <a:srgbClr val="E6E6E6"/>
                </a:solidFill>
              </a:rPr>
              <a:t>/water/’      </a:t>
            </a:r>
          </a:p>
          <a:p>
            <a:pPr marL="0" indent="0">
              <a:buNone/>
            </a:pPr>
            <a:r>
              <a:rPr lang="en-US" sz="1600" dirty="0">
                <a:solidFill>
                  <a:srgbClr val="E6E6E6"/>
                </a:solidFill>
              </a:rPr>
              <a:t>   s means substitute      g means global         sed  -</a:t>
            </a:r>
            <a:r>
              <a:rPr lang="en-US" sz="1600" dirty="0" err="1">
                <a:solidFill>
                  <a:srgbClr val="E6E6E6"/>
                </a:solidFill>
              </a:rPr>
              <a:t>i</a:t>
            </a:r>
            <a:r>
              <a:rPr lang="en-US" sz="1600" dirty="0">
                <a:solidFill>
                  <a:srgbClr val="E6E6E6"/>
                </a:solidFill>
              </a:rPr>
              <a:t>    -d delete  </a:t>
            </a:r>
          </a:p>
          <a:p>
            <a:pPr marL="0" indent="0">
              <a:buNone/>
            </a:pPr>
            <a:r>
              <a:rPr lang="en-US" sz="1600" dirty="0">
                <a:solidFill>
                  <a:srgbClr val="E6E6E6"/>
                </a:solidFill>
              </a:rPr>
              <a:t>Using sed -e to use multiple scripts sed -e ‘/s/first/last/ ; sed –e /s/one/two’ filename</a:t>
            </a:r>
          </a:p>
        </p:txBody>
      </p:sp>
    </p:spTree>
    <p:extLst>
      <p:ext uri="{BB962C8B-B14F-4D97-AF65-F5344CB8AC3E}">
        <p14:creationId xmlns:p14="http://schemas.microsoft.com/office/powerpoint/2010/main" val="3045799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4DECF-05AD-D023-0023-443A0D39D0E1}"/>
              </a:ext>
            </a:extLst>
          </p:cNvPr>
          <p:cNvSpPr>
            <a:spLocks noGrp="1"/>
          </p:cNvSpPr>
          <p:nvPr>
            <p:ph type="title"/>
          </p:nvPr>
        </p:nvSpPr>
        <p:spPr>
          <a:xfrm>
            <a:off x="0" y="495300"/>
            <a:ext cx="8596668" cy="1320800"/>
          </a:xfrm>
        </p:spPr>
        <p:txBody>
          <a:bodyPr/>
          <a:lstStyle/>
          <a:p>
            <a:r>
              <a:rPr lang="en-US" sz="2800" b="1" dirty="0">
                <a:solidFill>
                  <a:srgbClr val="FFFFFF"/>
                </a:solidFill>
              </a:rPr>
              <a:t>                        hashing in </a:t>
            </a:r>
            <a:r>
              <a:rPr lang="en-US" sz="2800" b="1" dirty="0" err="1">
                <a:solidFill>
                  <a:srgbClr val="FFFFFF"/>
                </a:solidFill>
              </a:rPr>
              <a:t>linux</a:t>
            </a:r>
            <a:endParaRPr lang="en-US" dirty="0"/>
          </a:p>
        </p:txBody>
      </p:sp>
      <p:sp>
        <p:nvSpPr>
          <p:cNvPr id="3" name="Content Placeholder 2">
            <a:extLst>
              <a:ext uri="{FF2B5EF4-FFF2-40B4-BE49-F238E27FC236}">
                <a16:creationId xmlns:a16="http://schemas.microsoft.com/office/drawing/2014/main" id="{57D3D12F-B618-DDC2-684B-66AB091C9987}"/>
              </a:ext>
            </a:extLst>
          </p:cNvPr>
          <p:cNvSpPr>
            <a:spLocks noGrp="1"/>
          </p:cNvSpPr>
          <p:nvPr>
            <p:ph idx="1"/>
          </p:nvPr>
        </p:nvSpPr>
        <p:spPr>
          <a:xfrm>
            <a:off x="1418995" y="2153815"/>
            <a:ext cx="10018713" cy="3124201"/>
          </a:xfrm>
        </p:spPr>
        <p:txBody>
          <a:bodyPr/>
          <a:lstStyle/>
          <a:p>
            <a:r>
              <a:rPr lang="en-US" sz="1600" dirty="0">
                <a:solidFill>
                  <a:srgbClr val="E6E6E6"/>
                </a:solidFill>
              </a:rPr>
              <a:t>md5sum</a:t>
            </a:r>
          </a:p>
          <a:p>
            <a:endParaRPr lang="en-US" dirty="0"/>
          </a:p>
          <a:p>
            <a:endParaRPr lang="en-US" dirty="0"/>
          </a:p>
          <a:p>
            <a:endParaRPr lang="en-US" dirty="0"/>
          </a:p>
          <a:p>
            <a:r>
              <a:rPr lang="en-US" sz="1600" dirty="0">
                <a:solidFill>
                  <a:srgbClr val="E6E6E6"/>
                </a:solidFill>
              </a:rPr>
              <a:t>sha256sum</a:t>
            </a:r>
          </a:p>
        </p:txBody>
      </p:sp>
    </p:spTree>
    <p:extLst>
      <p:ext uri="{BB962C8B-B14F-4D97-AF65-F5344CB8AC3E}">
        <p14:creationId xmlns:p14="http://schemas.microsoft.com/office/powerpoint/2010/main" val="4250282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A32C2-037C-E951-BDC9-EBF9A3BF3094}"/>
              </a:ext>
            </a:extLst>
          </p:cNvPr>
          <p:cNvSpPr>
            <a:spLocks noGrp="1"/>
          </p:cNvSpPr>
          <p:nvPr>
            <p:ph type="title"/>
          </p:nvPr>
        </p:nvSpPr>
        <p:spPr>
          <a:xfrm>
            <a:off x="1283824" y="206051"/>
            <a:ext cx="8596668" cy="1320800"/>
          </a:xfrm>
        </p:spPr>
        <p:txBody>
          <a:bodyPr>
            <a:normAutofit/>
          </a:bodyPr>
          <a:lstStyle/>
          <a:p>
            <a:r>
              <a:rPr lang="en-US" sz="2800" b="1" dirty="0">
                <a:solidFill>
                  <a:srgbClr val="FFFFFF"/>
                </a:solidFill>
              </a:rPr>
              <a:t>                  grep(important)</a:t>
            </a:r>
          </a:p>
        </p:txBody>
      </p:sp>
      <p:sp>
        <p:nvSpPr>
          <p:cNvPr id="3" name="Content Placeholder 2">
            <a:extLst>
              <a:ext uri="{FF2B5EF4-FFF2-40B4-BE49-F238E27FC236}">
                <a16:creationId xmlns:a16="http://schemas.microsoft.com/office/drawing/2014/main" id="{DEEC9F27-D999-2877-0C5E-44B7FCBE09BF}"/>
              </a:ext>
            </a:extLst>
          </p:cNvPr>
          <p:cNvSpPr>
            <a:spLocks noGrp="1"/>
          </p:cNvSpPr>
          <p:nvPr>
            <p:ph idx="1"/>
          </p:nvPr>
        </p:nvSpPr>
        <p:spPr>
          <a:xfrm>
            <a:off x="1530963" y="1866899"/>
            <a:ext cx="10018713" cy="3124201"/>
          </a:xfrm>
        </p:spPr>
        <p:txBody>
          <a:bodyPr>
            <a:normAutofit fontScale="62500" lnSpcReduction="20000"/>
          </a:bodyPr>
          <a:lstStyle/>
          <a:p>
            <a:r>
              <a:rPr lang="en-US" sz="1600" dirty="0">
                <a:solidFill>
                  <a:srgbClr val="E6E6E6"/>
                </a:solidFill>
              </a:rPr>
              <a:t>grep used for filtering and searching</a:t>
            </a:r>
          </a:p>
          <a:p>
            <a:endParaRPr lang="en-US" dirty="0"/>
          </a:p>
          <a:p>
            <a:pPr marL="0" indent="0">
              <a:buNone/>
            </a:pPr>
            <a:r>
              <a:rPr lang="en-US" sz="1600" dirty="0">
                <a:solidFill>
                  <a:srgbClr val="E6E6E6"/>
                </a:solidFill>
              </a:rPr>
              <a:t>Example  grep ^root.*$bash   /</a:t>
            </a:r>
            <a:r>
              <a:rPr lang="en-US" sz="1600" dirty="0" err="1">
                <a:solidFill>
                  <a:srgbClr val="E6E6E6"/>
                </a:solidFill>
              </a:rPr>
              <a:t>etc</a:t>
            </a:r>
            <a:r>
              <a:rPr lang="en-US" sz="1600" dirty="0">
                <a:solidFill>
                  <a:srgbClr val="E6E6E6"/>
                </a:solidFill>
              </a:rPr>
              <a:t>/passwd</a:t>
            </a:r>
          </a:p>
          <a:p>
            <a:pPr marL="0" indent="0">
              <a:buNone/>
            </a:pPr>
            <a:endParaRPr lang="en-US" dirty="0"/>
          </a:p>
          <a:p>
            <a:pPr marL="0" indent="0">
              <a:buNone/>
            </a:pPr>
            <a:r>
              <a:rPr lang="en-US" sz="1600" dirty="0">
                <a:solidFill>
                  <a:srgbClr val="E6E6E6"/>
                </a:solidFill>
              </a:rPr>
              <a:t>grep –v (invert match)  grep –v “error” </a:t>
            </a:r>
            <a:r>
              <a:rPr lang="en-US" sz="1600" dirty="0" err="1">
                <a:solidFill>
                  <a:srgbClr val="E6E6E6"/>
                </a:solidFill>
              </a:rPr>
              <a:t>txt.file</a:t>
            </a:r>
            <a:r>
              <a:rPr lang="en-US" sz="1600" dirty="0">
                <a:solidFill>
                  <a:srgbClr val="E6E6E6"/>
                </a:solidFill>
              </a:rPr>
              <a:t> means all lines don’t match </a:t>
            </a:r>
          </a:p>
          <a:p>
            <a:pPr marL="0" indent="0">
              <a:buNone/>
            </a:pPr>
            <a:r>
              <a:rPr lang="en-US" sz="1600" dirty="0">
                <a:solidFill>
                  <a:srgbClr val="E6E6E6"/>
                </a:solidFill>
              </a:rPr>
              <a:t>a specified pattern  </a:t>
            </a:r>
          </a:p>
          <a:p>
            <a:pPr marL="0" indent="0">
              <a:buNone/>
            </a:pPr>
            <a:r>
              <a:rPr lang="en-US" sz="1600" dirty="0">
                <a:solidFill>
                  <a:srgbClr val="E6E6E6"/>
                </a:solidFill>
              </a:rPr>
              <a:t>      </a:t>
            </a:r>
          </a:p>
          <a:p>
            <a:pPr marL="0" indent="0">
              <a:buNone/>
            </a:pPr>
            <a:r>
              <a:rPr lang="en-US" sz="1600" dirty="0" err="1">
                <a:solidFill>
                  <a:srgbClr val="E6E6E6"/>
                </a:solidFill>
              </a:rPr>
              <a:t>fgrep</a:t>
            </a:r>
            <a:r>
              <a:rPr lang="en-US" sz="1600" dirty="0">
                <a:solidFill>
                  <a:srgbClr val="E6E6E6"/>
                </a:solidFill>
              </a:rPr>
              <a:t> –f (pattern search)</a:t>
            </a:r>
          </a:p>
          <a:p>
            <a:pPr marL="0" indent="0">
              <a:buNone/>
            </a:pPr>
            <a:endParaRPr lang="en-US" dirty="0"/>
          </a:p>
          <a:p>
            <a:pPr marL="0" indent="0">
              <a:buNone/>
            </a:pPr>
            <a:r>
              <a:rPr lang="en-US" sz="1600" dirty="0" err="1">
                <a:solidFill>
                  <a:srgbClr val="E6E6E6"/>
                </a:solidFill>
              </a:rPr>
              <a:t>Egrep</a:t>
            </a:r>
            <a:r>
              <a:rPr lang="en-US" sz="1600" dirty="0">
                <a:solidFill>
                  <a:srgbClr val="E6E6E6"/>
                </a:solidFill>
              </a:rPr>
              <a:t> for complex regex ==grep -e</a:t>
            </a:r>
          </a:p>
        </p:txBody>
      </p:sp>
    </p:spTree>
    <p:extLst>
      <p:ext uri="{BB962C8B-B14F-4D97-AF65-F5344CB8AC3E}">
        <p14:creationId xmlns:p14="http://schemas.microsoft.com/office/powerpoint/2010/main" val="3225844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F613-D861-490E-96F5-901428435521}"/>
              </a:ext>
            </a:extLst>
          </p:cNvPr>
          <p:cNvSpPr>
            <a:spLocks noGrp="1"/>
          </p:cNvSpPr>
          <p:nvPr>
            <p:ph type="title"/>
          </p:nvPr>
        </p:nvSpPr>
        <p:spPr>
          <a:xfrm>
            <a:off x="1969502" y="341085"/>
            <a:ext cx="8596668" cy="1320800"/>
          </a:xfrm>
        </p:spPr>
        <p:txBody>
          <a:bodyPr/>
          <a:lstStyle/>
          <a:p>
            <a:pPr algn="ctr"/>
            <a:r>
              <a:rPr lang="en-US" sz="2800" b="1" dirty="0">
                <a:solidFill>
                  <a:srgbClr val="FFFFFF"/>
                </a:solidFill>
              </a:rPr>
              <a:t>Usual </a:t>
            </a:r>
            <a:r>
              <a:rPr lang="en-US" sz="2800" b="1" dirty="0" err="1">
                <a:solidFill>
                  <a:srgbClr val="FFFFFF"/>
                </a:solidFill>
              </a:rPr>
              <a:t>comand</a:t>
            </a:r>
            <a:endParaRPr lang="en-US" dirty="0"/>
          </a:p>
        </p:txBody>
      </p:sp>
      <p:sp>
        <p:nvSpPr>
          <p:cNvPr id="3" name="Content Placeholder 2">
            <a:extLst>
              <a:ext uri="{FF2B5EF4-FFF2-40B4-BE49-F238E27FC236}">
                <a16:creationId xmlns:a16="http://schemas.microsoft.com/office/drawing/2014/main" id="{3CDD5F11-0792-4B3C-A3BA-D9EF9430844F}"/>
              </a:ext>
            </a:extLst>
          </p:cNvPr>
          <p:cNvSpPr>
            <a:spLocks noGrp="1"/>
          </p:cNvSpPr>
          <p:nvPr>
            <p:ph idx="1"/>
          </p:nvPr>
        </p:nvSpPr>
        <p:spPr>
          <a:xfrm>
            <a:off x="1391004" y="1593978"/>
            <a:ext cx="10160294" cy="4358952"/>
          </a:xfrm>
        </p:spPr>
        <p:txBody>
          <a:bodyPr>
            <a:normAutofit fontScale="92500" lnSpcReduction="10000"/>
          </a:bodyPr>
          <a:lstStyle/>
          <a:p>
            <a:r>
              <a:rPr lang="en-US" sz="1600" dirty="0">
                <a:solidFill>
                  <a:srgbClr val="E6E6E6"/>
                </a:solidFill>
              </a:rPr>
              <a:t>cat</a:t>
            </a:r>
          </a:p>
          <a:p>
            <a:pPr algn="r" rtl="1"/>
            <a:endParaRPr lang="en-US" dirty="0"/>
          </a:p>
          <a:p>
            <a:r>
              <a:rPr lang="en-US" sz="1600" dirty="0">
                <a:solidFill>
                  <a:srgbClr val="E6E6E6"/>
                </a:solidFill>
              </a:rPr>
              <a:t>mv</a:t>
            </a:r>
          </a:p>
          <a:p>
            <a:endParaRPr lang="en-US" dirty="0"/>
          </a:p>
          <a:p>
            <a:r>
              <a:rPr lang="en-US" sz="1600" dirty="0">
                <a:solidFill>
                  <a:srgbClr val="E6E6E6"/>
                </a:solidFill>
              </a:rPr>
              <a:t>cp</a:t>
            </a:r>
          </a:p>
          <a:p>
            <a:endParaRPr lang="en-US" dirty="0"/>
          </a:p>
          <a:p>
            <a:r>
              <a:rPr lang="en-US" sz="1600" dirty="0">
                <a:solidFill>
                  <a:srgbClr val="E6E6E6"/>
                </a:solidFill>
              </a:rPr>
              <a:t>/dev/null black hole    </a:t>
            </a:r>
            <a:r>
              <a:rPr kumimoji="0" lang="en-US" sz="1600" b="0" i="0" u="none" strike="noStrike" kern="1200" cap="none" spc="0" normalizeH="0" baseline="0" noProof="0" dirty="0">
                <a:ln>
                  <a:noFill/>
                </a:ln>
                <a:solidFill>
                  <a:srgbClr val="E6E6E6"/>
                </a:solidFill>
                <a:effectLst/>
                <a:uLnTx/>
                <a:uFillTx/>
                <a:latin typeface="Calibri" panose="020F0502020204030204"/>
                <a:ea typeface="+mn-ea"/>
                <a:cs typeface="+mn-cs"/>
              </a:rPr>
              <a:t>&amp;</a:t>
            </a:r>
            <a:r>
              <a:rPr lang="en-US" sz="1600" dirty="0">
                <a:solidFill>
                  <a:srgbClr val="E6E6E6"/>
                </a:solidFill>
              </a:rPr>
              <a:t>&gt;   (</a:t>
            </a:r>
            <a:r>
              <a:rPr lang="en-US" sz="1600" dirty="0" err="1">
                <a:solidFill>
                  <a:srgbClr val="E6E6E6"/>
                </a:solidFill>
              </a:rPr>
              <a:t>stderror</a:t>
            </a:r>
            <a:r>
              <a:rPr lang="en-US" sz="1600" dirty="0">
                <a:solidFill>
                  <a:srgbClr val="E6E6E6"/>
                </a:solidFill>
              </a:rPr>
              <a:t> and </a:t>
            </a:r>
            <a:r>
              <a:rPr lang="en-US" sz="1600" dirty="0" err="1">
                <a:solidFill>
                  <a:srgbClr val="E6E6E6"/>
                </a:solidFill>
              </a:rPr>
              <a:t>stdout</a:t>
            </a:r>
            <a:r>
              <a:rPr lang="en-US" sz="1600" dirty="0">
                <a:solidFill>
                  <a:srgbClr val="E6E6E6"/>
                </a:solidFill>
              </a:rPr>
              <a:t>)</a:t>
            </a:r>
            <a:endParaRPr lang="fa-IR" dirty="0"/>
          </a:p>
          <a:p>
            <a:pPr marL="0" indent="0">
              <a:buNone/>
            </a:pPr>
            <a:endParaRPr lang="fa-IR" dirty="0"/>
          </a:p>
          <a:p>
            <a:r>
              <a:rPr lang="en-US" sz="1600" dirty="0">
                <a:solidFill>
                  <a:srgbClr val="E6E6E6"/>
                </a:solidFill>
              </a:rPr>
              <a:t>Find       </a:t>
            </a:r>
            <a:r>
              <a:rPr lang="en-US" sz="1600" dirty="0" err="1">
                <a:solidFill>
                  <a:srgbClr val="E6E6E6"/>
                </a:solidFill>
              </a:rPr>
              <a:t>find</a:t>
            </a:r>
            <a:r>
              <a:rPr lang="en-US" sz="1600" dirty="0">
                <a:solidFill>
                  <a:srgbClr val="E6E6E6"/>
                </a:solidFill>
              </a:rPr>
              <a:t> /  -name “.txt” –type f   or -type d</a:t>
            </a:r>
          </a:p>
          <a:p>
            <a:pPr marL="914400" lvl="2" indent="0">
              <a:buNone/>
            </a:pPr>
            <a:r>
              <a:rPr lang="en-US" sz="1600" dirty="0">
                <a:solidFill>
                  <a:srgbClr val="E6E6E6"/>
                </a:solidFill>
              </a:rPr>
              <a:t>Deb13: find/ &lt;path&gt; -name &lt;</a:t>
            </a:r>
            <a:r>
              <a:rPr lang="en-US" sz="1600" dirty="0" err="1">
                <a:solidFill>
                  <a:srgbClr val="E6E6E6"/>
                </a:solidFill>
              </a:rPr>
              <a:t>fille_name</a:t>
            </a:r>
            <a:r>
              <a:rPr lang="en-US" sz="1600" dirty="0">
                <a:solidFill>
                  <a:srgbClr val="E6E6E6"/>
                </a:solidFill>
              </a:rPr>
              <a:t>&gt;</a:t>
            </a:r>
          </a:p>
        </p:txBody>
      </p:sp>
    </p:spTree>
    <p:extLst>
      <p:ext uri="{BB962C8B-B14F-4D97-AF65-F5344CB8AC3E}">
        <p14:creationId xmlns:p14="http://schemas.microsoft.com/office/powerpoint/2010/main" val="2339485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D358-BA4D-4419-A622-25C2E4721588}"/>
              </a:ext>
            </a:extLst>
          </p:cNvPr>
          <p:cNvSpPr>
            <a:spLocks noGrp="1"/>
          </p:cNvSpPr>
          <p:nvPr>
            <p:ph type="title"/>
          </p:nvPr>
        </p:nvSpPr>
        <p:spPr>
          <a:xfrm>
            <a:off x="677334" y="691242"/>
            <a:ext cx="8596668" cy="1320800"/>
          </a:xfrm>
        </p:spPr>
        <p:txBody>
          <a:bodyPr/>
          <a:lstStyle/>
          <a:p>
            <a:pPr algn="ctr"/>
            <a:r>
              <a:rPr lang="en-US" sz="2800" b="1" dirty="0">
                <a:solidFill>
                  <a:srgbClr val="FFFFFF"/>
                </a:solidFill>
              </a:rPr>
              <a:t>directory</a:t>
            </a:r>
          </a:p>
        </p:txBody>
      </p:sp>
      <p:sp>
        <p:nvSpPr>
          <p:cNvPr id="3" name="Content Placeholder 2">
            <a:extLst>
              <a:ext uri="{FF2B5EF4-FFF2-40B4-BE49-F238E27FC236}">
                <a16:creationId xmlns:a16="http://schemas.microsoft.com/office/drawing/2014/main" id="{946A7650-798A-415B-8C2A-D402289F39FD}"/>
              </a:ext>
            </a:extLst>
          </p:cNvPr>
          <p:cNvSpPr>
            <a:spLocks noGrp="1"/>
          </p:cNvSpPr>
          <p:nvPr>
            <p:ph idx="1"/>
          </p:nvPr>
        </p:nvSpPr>
        <p:spPr>
          <a:xfrm>
            <a:off x="1661591" y="2116493"/>
            <a:ext cx="10018713" cy="3124201"/>
          </a:xfrm>
        </p:spPr>
        <p:txBody>
          <a:bodyPr/>
          <a:lstStyle/>
          <a:p>
            <a:r>
              <a:rPr lang="en-US" sz="1600" dirty="0" err="1">
                <a:solidFill>
                  <a:srgbClr val="E6E6E6"/>
                </a:solidFill>
              </a:rPr>
              <a:t>mkdir</a:t>
            </a:r>
            <a:endParaRPr lang="en-US" dirty="0"/>
          </a:p>
          <a:p>
            <a:endParaRPr lang="en-US" dirty="0"/>
          </a:p>
          <a:p>
            <a:r>
              <a:rPr lang="en-US" sz="1600" dirty="0" err="1">
                <a:solidFill>
                  <a:srgbClr val="E6E6E6"/>
                </a:solidFill>
              </a:rPr>
              <a:t>rmdir</a:t>
            </a:r>
            <a:endParaRPr lang="en-US" dirty="0"/>
          </a:p>
          <a:p>
            <a:endParaRPr lang="en-US" dirty="0"/>
          </a:p>
          <a:p>
            <a:r>
              <a:rPr lang="en-US" sz="1600" dirty="0">
                <a:solidFill>
                  <a:srgbClr val="E6E6E6"/>
                </a:solidFill>
              </a:rPr>
              <a:t>rm –rf </a:t>
            </a:r>
          </a:p>
        </p:txBody>
      </p:sp>
    </p:spTree>
    <p:extLst>
      <p:ext uri="{BB962C8B-B14F-4D97-AF65-F5344CB8AC3E}">
        <p14:creationId xmlns:p14="http://schemas.microsoft.com/office/powerpoint/2010/main" val="2128759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3F43D-EF58-4D4C-9CB4-D49E54B0978F}"/>
              </a:ext>
            </a:extLst>
          </p:cNvPr>
          <p:cNvSpPr>
            <a:spLocks noGrp="1"/>
          </p:cNvSpPr>
          <p:nvPr>
            <p:ph type="title"/>
          </p:nvPr>
        </p:nvSpPr>
        <p:spPr/>
        <p:txBody>
          <a:bodyPr/>
          <a:lstStyle/>
          <a:p>
            <a:pPr algn="ctr"/>
            <a:r>
              <a:rPr lang="en-US" sz="2800" b="1" dirty="0">
                <a:solidFill>
                  <a:srgbClr val="FFFFFF"/>
                </a:solidFill>
              </a:rPr>
              <a:t>Standard input/output/error</a:t>
            </a:r>
          </a:p>
        </p:txBody>
      </p:sp>
      <p:pic>
        <p:nvPicPr>
          <p:cNvPr id="5" name="Content Placeholder 4">
            <a:extLst>
              <a:ext uri="{FF2B5EF4-FFF2-40B4-BE49-F238E27FC236}">
                <a16:creationId xmlns:a16="http://schemas.microsoft.com/office/drawing/2014/main" id="{7711FDA5-5638-4D9E-BA1B-32D4E6974B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0037" y="2667000"/>
            <a:ext cx="9527263" cy="3124200"/>
          </a:xfrm>
        </p:spPr>
      </p:pic>
      <p:sp>
        <p:nvSpPr>
          <p:cNvPr id="6" name="Rectangle 5">
            <a:extLst>
              <a:ext uri="{FF2B5EF4-FFF2-40B4-BE49-F238E27FC236}">
                <a16:creationId xmlns:a16="http://schemas.microsoft.com/office/drawing/2014/main" id="{EB9EC345-36EB-4187-97D3-E2CACF078485}"/>
              </a:ext>
            </a:extLst>
          </p:cNvPr>
          <p:cNvSpPr/>
          <p:nvPr/>
        </p:nvSpPr>
        <p:spPr>
          <a:xfrm>
            <a:off x="3277849" y="4372162"/>
            <a:ext cx="1985394" cy="75500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1633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7466-55DC-5248-8EE0-80AE50A3C401}"/>
              </a:ext>
            </a:extLst>
          </p:cNvPr>
          <p:cNvSpPr>
            <a:spLocks noGrp="1"/>
          </p:cNvSpPr>
          <p:nvPr>
            <p:ph type="title"/>
          </p:nvPr>
        </p:nvSpPr>
        <p:spPr>
          <a:xfrm>
            <a:off x="588571" y="27992"/>
            <a:ext cx="9236563" cy="1130980"/>
          </a:xfrm>
        </p:spPr>
        <p:txBody>
          <a:bodyPr/>
          <a:lstStyle/>
          <a:p>
            <a:r>
              <a:rPr lang="en-US" sz="2800" b="1" dirty="0">
                <a:solidFill>
                  <a:srgbClr val="FFFFFF"/>
                </a:solidFill>
              </a:rPr>
              <a:t>                    repository</a:t>
            </a:r>
          </a:p>
        </p:txBody>
      </p:sp>
      <p:sp>
        <p:nvSpPr>
          <p:cNvPr id="3" name="Content Placeholder 2">
            <a:extLst>
              <a:ext uri="{FF2B5EF4-FFF2-40B4-BE49-F238E27FC236}">
                <a16:creationId xmlns:a16="http://schemas.microsoft.com/office/drawing/2014/main" id="{CF7F9913-88F8-6689-1066-4CB5A0C3A7DF}"/>
              </a:ext>
            </a:extLst>
          </p:cNvPr>
          <p:cNvSpPr>
            <a:spLocks noGrp="1"/>
          </p:cNvSpPr>
          <p:nvPr>
            <p:ph idx="1"/>
          </p:nvPr>
        </p:nvSpPr>
        <p:spPr>
          <a:xfrm>
            <a:off x="1561843" y="1454020"/>
            <a:ext cx="10018713" cy="3124201"/>
          </a:xfrm>
        </p:spPr>
        <p:txBody>
          <a:bodyPr>
            <a:normAutofit/>
          </a:bodyPr>
          <a:lstStyle/>
          <a:p>
            <a:r>
              <a:rPr lang="en-US" sz="1600" dirty="0">
                <a:solidFill>
                  <a:srgbClr val="E6E6E6"/>
                </a:solidFill>
                <a:latin typeface="arial" panose="020B0604020202020204" pitchFamily="34" charset="0"/>
              </a:rPr>
              <a:t>A repository in </a:t>
            </a:r>
            <a:r>
              <a:rPr lang="en-US" sz="1600" dirty="0" err="1">
                <a:solidFill>
                  <a:srgbClr val="E6E6E6"/>
                </a:solidFill>
                <a:latin typeface="arial" panose="020B0604020202020204" pitchFamily="34" charset="0"/>
              </a:rPr>
              <a:t>linux</a:t>
            </a:r>
            <a:r>
              <a:rPr lang="en-US" sz="1600" dirty="0">
                <a:solidFill>
                  <a:srgbClr val="E6E6E6"/>
                </a:solidFill>
                <a:latin typeface="arial" panose="020B0604020202020204" pitchFamily="34" charset="0"/>
              </a:rPr>
              <a:t> is a location where software packages can be stored and accessed. These packages can be easily </a:t>
            </a:r>
            <a:r>
              <a:rPr lang="en-US" sz="1600" dirty="0" err="1">
                <a:solidFill>
                  <a:srgbClr val="E6E6E6"/>
                </a:solidFill>
                <a:latin typeface="arial" panose="020B0604020202020204" pitchFamily="34" charset="0"/>
              </a:rPr>
              <a:t>installed,updated</a:t>
            </a:r>
            <a:r>
              <a:rPr lang="en-US" sz="1600" dirty="0">
                <a:solidFill>
                  <a:srgbClr val="E6E6E6"/>
                </a:solidFill>
                <a:latin typeface="arial" panose="020B0604020202020204" pitchFamily="34" charset="0"/>
              </a:rPr>
              <a:t> and removed.</a:t>
            </a:r>
          </a:p>
          <a:p>
            <a:endParaRPr lang="en-US" sz="2000" dirty="0">
              <a:solidFill>
                <a:srgbClr val="202124"/>
              </a:solidFill>
              <a:latin typeface="arial" panose="020B0604020202020204" pitchFamily="34" charset="0"/>
            </a:endParaRPr>
          </a:p>
          <a:p>
            <a:endParaRPr lang="en-US" sz="2000" dirty="0">
              <a:solidFill>
                <a:srgbClr val="202124"/>
              </a:solidFill>
              <a:latin typeface="arial" panose="020B0604020202020204" pitchFamily="34" charset="0"/>
            </a:endParaRPr>
          </a:p>
          <a:p>
            <a:r>
              <a:rPr lang="en-US" sz="1600" dirty="0">
                <a:solidFill>
                  <a:srgbClr val="E6E6E6"/>
                </a:solidFill>
                <a:latin typeface="arial" panose="020B0604020202020204" pitchFamily="34" charset="0"/>
              </a:rPr>
              <a:t>Type of repo: 1-local repo  2- remote server</a:t>
            </a:r>
            <a:endParaRPr lang="en-US" sz="2000" dirty="0"/>
          </a:p>
          <a:p>
            <a:endParaRPr lang="en-US" sz="2000" dirty="0"/>
          </a:p>
        </p:txBody>
      </p:sp>
      <p:pic>
        <p:nvPicPr>
          <p:cNvPr id="4" name="Content Placeholder 4">
            <a:extLst>
              <a:ext uri="{FF2B5EF4-FFF2-40B4-BE49-F238E27FC236}">
                <a16:creationId xmlns:a16="http://schemas.microsoft.com/office/drawing/2014/main" id="{D6B4CB09-1E61-D005-4954-2734F2543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406" y="4444061"/>
            <a:ext cx="7323589" cy="1795429"/>
          </a:xfrm>
          <a:prstGeom prst="rect">
            <a:avLst/>
          </a:prstGeom>
        </p:spPr>
      </p:pic>
    </p:spTree>
    <p:extLst>
      <p:ext uri="{BB962C8B-B14F-4D97-AF65-F5344CB8AC3E}">
        <p14:creationId xmlns:p14="http://schemas.microsoft.com/office/powerpoint/2010/main" val="1574378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FC350-5B73-0E01-892F-DED853B4C1A8}"/>
              </a:ext>
            </a:extLst>
          </p:cNvPr>
          <p:cNvSpPr>
            <a:spLocks noGrp="1"/>
          </p:cNvSpPr>
          <p:nvPr>
            <p:ph type="title"/>
          </p:nvPr>
        </p:nvSpPr>
        <p:spPr/>
        <p:txBody>
          <a:bodyPr/>
          <a:lstStyle/>
          <a:p>
            <a:r>
              <a:rPr lang="en-US" sz="2800" b="1" dirty="0">
                <a:solidFill>
                  <a:srgbClr val="FFFFFF"/>
                </a:solidFill>
              </a:rPr>
              <a:t>                                 </a:t>
            </a:r>
          </a:p>
        </p:txBody>
      </p:sp>
      <p:sp>
        <p:nvSpPr>
          <p:cNvPr id="3" name="Content Placeholder 2">
            <a:extLst>
              <a:ext uri="{FF2B5EF4-FFF2-40B4-BE49-F238E27FC236}">
                <a16:creationId xmlns:a16="http://schemas.microsoft.com/office/drawing/2014/main" id="{F18BBE67-A51F-C439-0448-A9ECE78AD9BD}"/>
              </a:ext>
            </a:extLst>
          </p:cNvPr>
          <p:cNvSpPr>
            <a:spLocks noGrp="1"/>
          </p:cNvSpPr>
          <p:nvPr>
            <p:ph idx="1"/>
          </p:nvPr>
        </p:nvSpPr>
        <p:spPr>
          <a:xfrm>
            <a:off x="1838873" y="587829"/>
            <a:ext cx="10018713" cy="4767942"/>
          </a:xfrm>
        </p:spPr>
        <p:txBody>
          <a:bodyPr/>
          <a:lstStyle/>
          <a:p>
            <a:r>
              <a:rPr lang="en-US" sz="1600" dirty="0">
                <a:solidFill>
                  <a:srgbClr val="E6E6E6"/>
                </a:solidFill>
              </a:rPr>
              <a:t>■ Red Hat package management (RPM)</a:t>
            </a:r>
          </a:p>
          <a:p>
            <a:r>
              <a:rPr lang="en-US" sz="1600" dirty="0">
                <a:solidFill>
                  <a:srgbClr val="E6E6E6"/>
                </a:solidFill>
              </a:rPr>
              <a:t> ■ Debian package management (Apt)</a:t>
            </a:r>
          </a:p>
          <a:p>
            <a:pPr marL="0" indent="0">
              <a:buNone/>
            </a:pPr>
            <a:endParaRPr lang="en-US" dirty="0"/>
          </a:p>
          <a:p>
            <a:pPr marL="0" indent="0">
              <a:buNone/>
            </a:pPr>
            <a:r>
              <a:rPr lang="en-US" sz="1600" dirty="0">
                <a:solidFill>
                  <a:srgbClr val="E6E6E6"/>
                </a:solidFill>
              </a:rPr>
              <a:t>Package means: Linux distributions have created a system for bundling already compiled applications for distribution. This bundle is called a package, and it consists of most of the files required to run a single application.</a:t>
            </a:r>
          </a:p>
        </p:txBody>
      </p:sp>
    </p:spTree>
    <p:extLst>
      <p:ext uri="{BB962C8B-B14F-4D97-AF65-F5344CB8AC3E}">
        <p14:creationId xmlns:p14="http://schemas.microsoft.com/office/powerpoint/2010/main" val="3547443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0CD17-4538-70EB-B031-D092A17157C4}"/>
              </a:ext>
            </a:extLst>
          </p:cNvPr>
          <p:cNvSpPr>
            <a:spLocks noGrp="1"/>
          </p:cNvSpPr>
          <p:nvPr>
            <p:ph type="title"/>
          </p:nvPr>
        </p:nvSpPr>
        <p:spPr>
          <a:xfrm>
            <a:off x="1086643" y="97972"/>
            <a:ext cx="10018713" cy="1752599"/>
          </a:xfrm>
        </p:spPr>
        <p:txBody>
          <a:bodyPr/>
          <a:lstStyle/>
          <a:p>
            <a:pPr algn="ctr"/>
            <a:r>
              <a:rPr lang="en-US" sz="2800" b="1" dirty="0">
                <a:solidFill>
                  <a:srgbClr val="FFFFFF"/>
                </a:solidFill>
              </a:rPr>
              <a:t> mechanism package database</a:t>
            </a:r>
          </a:p>
        </p:txBody>
      </p:sp>
      <p:sp>
        <p:nvSpPr>
          <p:cNvPr id="3" name="Content Placeholder 2">
            <a:extLst>
              <a:ext uri="{FF2B5EF4-FFF2-40B4-BE49-F238E27FC236}">
                <a16:creationId xmlns:a16="http://schemas.microsoft.com/office/drawing/2014/main" id="{8525633F-B484-CC65-3305-A5C51CF69A95}"/>
              </a:ext>
            </a:extLst>
          </p:cNvPr>
          <p:cNvSpPr>
            <a:spLocks noGrp="1"/>
          </p:cNvSpPr>
          <p:nvPr>
            <p:ph idx="1"/>
          </p:nvPr>
        </p:nvSpPr>
        <p:spPr>
          <a:xfrm>
            <a:off x="1484310" y="1771260"/>
            <a:ext cx="10018713" cy="3124201"/>
          </a:xfrm>
        </p:spPr>
        <p:txBody>
          <a:bodyPr>
            <a:normAutofit/>
          </a:bodyPr>
          <a:lstStyle/>
          <a:p>
            <a:r>
              <a:rPr lang="en-US" sz="1600" dirty="0">
                <a:solidFill>
                  <a:srgbClr val="E6E6E6"/>
                </a:solidFill>
              </a:rPr>
              <a:t>■ Application files: The package database tracks each individual file as well as the folder where it’s located. </a:t>
            </a:r>
          </a:p>
          <a:p>
            <a:r>
              <a:rPr lang="en-US" sz="1600" dirty="0">
                <a:solidFill>
                  <a:srgbClr val="E6E6E6"/>
                </a:solidFill>
              </a:rPr>
              <a:t> ■ Library dependencies: The package database tracks what library files are required for each application and can warn you if a dependent library file is not present when you install a package.</a:t>
            </a:r>
          </a:p>
          <a:p>
            <a:r>
              <a:rPr lang="en-US" sz="1600" dirty="0">
                <a:solidFill>
                  <a:srgbClr val="E6E6E6"/>
                </a:solidFill>
              </a:rPr>
              <a:t> ■ Application version: The package database tracks version numbers of applications so that you know when an updated version of the application is available.</a:t>
            </a:r>
          </a:p>
        </p:txBody>
      </p:sp>
    </p:spTree>
    <p:extLst>
      <p:ext uri="{BB962C8B-B14F-4D97-AF65-F5344CB8AC3E}">
        <p14:creationId xmlns:p14="http://schemas.microsoft.com/office/powerpoint/2010/main" val="316627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793FB-7C22-A005-EEE1-CE2E6953BECA}"/>
              </a:ext>
            </a:extLst>
          </p:cNvPr>
          <p:cNvSpPr>
            <a:spLocks noGrp="1"/>
          </p:cNvSpPr>
          <p:nvPr>
            <p:ph type="title"/>
          </p:nvPr>
        </p:nvSpPr>
        <p:spPr>
          <a:xfrm>
            <a:off x="1568287" y="0"/>
            <a:ext cx="10018713" cy="1752599"/>
          </a:xfrm>
        </p:spPr>
        <p:txBody>
          <a:bodyPr/>
          <a:lstStyle/>
          <a:p>
            <a:pPr algn="ctr"/>
            <a:r>
              <a:rPr lang="en-US" sz="2800" b="1" dirty="0">
                <a:solidFill>
                  <a:srgbClr val="FFFFFF"/>
                </a:solidFill>
              </a:rPr>
              <a:t>Package manager</a:t>
            </a:r>
          </a:p>
        </p:txBody>
      </p:sp>
      <p:sp>
        <p:nvSpPr>
          <p:cNvPr id="3" name="Content Placeholder 2">
            <a:extLst>
              <a:ext uri="{FF2B5EF4-FFF2-40B4-BE49-F238E27FC236}">
                <a16:creationId xmlns:a16="http://schemas.microsoft.com/office/drawing/2014/main" id="{569D7C13-BE1C-DF10-8E96-1C89E6099F14}"/>
              </a:ext>
            </a:extLst>
          </p:cNvPr>
          <p:cNvSpPr>
            <a:spLocks noGrp="1"/>
          </p:cNvSpPr>
          <p:nvPr>
            <p:ph idx="1"/>
          </p:nvPr>
        </p:nvSpPr>
        <p:spPr>
          <a:xfrm>
            <a:off x="1568287" y="1358409"/>
            <a:ext cx="10515600" cy="4351338"/>
          </a:xfrm>
        </p:spPr>
        <p:txBody>
          <a:bodyPr/>
          <a:lstStyle/>
          <a:p>
            <a:pPr marL="0" indent="0">
              <a:buNone/>
            </a:pPr>
            <a:endParaRPr lang="en-US" dirty="0"/>
          </a:p>
          <a:p>
            <a:endParaRPr lang="en-US" dirty="0"/>
          </a:p>
          <a:p>
            <a:r>
              <a:rPr lang="en-US" sz="1600" dirty="0">
                <a:solidFill>
                  <a:srgbClr val="E6E6E6"/>
                </a:solidFill>
              </a:rPr>
              <a:t>yum install package-name (</a:t>
            </a:r>
            <a:r>
              <a:rPr lang="en-US" sz="1600" dirty="0" err="1">
                <a:solidFill>
                  <a:srgbClr val="E6E6E6"/>
                </a:solidFill>
              </a:rPr>
              <a:t>redhat</a:t>
            </a:r>
            <a:r>
              <a:rPr lang="en-US" sz="1600" dirty="0">
                <a:solidFill>
                  <a:srgbClr val="E6E6E6"/>
                </a:solidFill>
              </a:rPr>
              <a:t> base)</a:t>
            </a:r>
          </a:p>
          <a:p>
            <a:endParaRPr lang="en-US" dirty="0"/>
          </a:p>
          <a:p>
            <a:r>
              <a:rPr lang="en-US" sz="1600" dirty="0">
                <a:solidFill>
                  <a:srgbClr val="E6E6E6"/>
                </a:solidFill>
              </a:rPr>
              <a:t>apt install package-name     (Debian base)</a:t>
            </a:r>
          </a:p>
          <a:p>
            <a:pPr marL="0" indent="0">
              <a:buNone/>
            </a:pPr>
            <a:endParaRPr lang="en-US" dirty="0"/>
          </a:p>
          <a:p>
            <a:r>
              <a:rPr lang="en-US" sz="1600" dirty="0" err="1">
                <a:solidFill>
                  <a:srgbClr val="E6E6E6"/>
                </a:solidFill>
              </a:rPr>
              <a:t>zypper</a:t>
            </a:r>
            <a:r>
              <a:rPr lang="en-US" sz="1600" dirty="0">
                <a:solidFill>
                  <a:srgbClr val="E6E6E6"/>
                </a:solidFill>
              </a:rPr>
              <a:t>  install package-name (</a:t>
            </a:r>
            <a:r>
              <a:rPr lang="en-US" sz="1600" dirty="0" err="1">
                <a:solidFill>
                  <a:srgbClr val="E6E6E6"/>
                </a:solidFill>
              </a:rPr>
              <a:t>opensuse</a:t>
            </a:r>
            <a:r>
              <a:rPr lang="en-US" sz="1600" dirty="0">
                <a:solidFill>
                  <a:srgbClr val="E6E6E6"/>
                </a:solidFill>
              </a:rPr>
              <a:t>)</a:t>
            </a:r>
          </a:p>
        </p:txBody>
      </p:sp>
    </p:spTree>
    <p:extLst>
      <p:ext uri="{BB962C8B-B14F-4D97-AF65-F5344CB8AC3E}">
        <p14:creationId xmlns:p14="http://schemas.microsoft.com/office/powerpoint/2010/main" val="3065634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4B41-BA58-3C5C-ADB6-1008737AEF57}"/>
              </a:ext>
            </a:extLst>
          </p:cNvPr>
          <p:cNvSpPr>
            <a:spLocks noGrp="1"/>
          </p:cNvSpPr>
          <p:nvPr>
            <p:ph type="title"/>
          </p:nvPr>
        </p:nvSpPr>
        <p:spPr>
          <a:xfrm>
            <a:off x="1652263" y="158620"/>
            <a:ext cx="9264554" cy="1188097"/>
          </a:xfrm>
        </p:spPr>
        <p:txBody>
          <a:bodyPr>
            <a:normAutofit/>
          </a:bodyPr>
          <a:lstStyle/>
          <a:p>
            <a:pPr algn="ctr"/>
            <a:r>
              <a:rPr lang="en-US" sz="2800" b="1" dirty="0">
                <a:solidFill>
                  <a:srgbClr val="FFFFFF"/>
                </a:solidFill>
              </a:rPr>
              <a:t> important switch rpm</a:t>
            </a:r>
          </a:p>
        </p:txBody>
      </p:sp>
      <p:sp>
        <p:nvSpPr>
          <p:cNvPr id="3" name="Content Placeholder 2">
            <a:extLst>
              <a:ext uri="{FF2B5EF4-FFF2-40B4-BE49-F238E27FC236}">
                <a16:creationId xmlns:a16="http://schemas.microsoft.com/office/drawing/2014/main" id="{C8B384CE-5B85-3FC4-40D6-F2F1C9561923}"/>
              </a:ext>
            </a:extLst>
          </p:cNvPr>
          <p:cNvSpPr>
            <a:spLocks noGrp="1"/>
          </p:cNvSpPr>
          <p:nvPr>
            <p:ph idx="1"/>
          </p:nvPr>
        </p:nvSpPr>
        <p:spPr>
          <a:xfrm>
            <a:off x="1652263" y="1789921"/>
            <a:ext cx="10018713" cy="3124201"/>
          </a:xfrm>
        </p:spPr>
        <p:txBody>
          <a:bodyPr>
            <a:normAutofit lnSpcReduction="10000"/>
          </a:bodyPr>
          <a:lstStyle/>
          <a:p>
            <a:r>
              <a:rPr lang="en-US" sz="1600" dirty="0">
                <a:solidFill>
                  <a:srgbClr val="E6E6E6"/>
                </a:solidFill>
              </a:rPr>
              <a:t>-e --erase Removes the specified package </a:t>
            </a:r>
          </a:p>
          <a:p>
            <a:r>
              <a:rPr lang="en-US" sz="1600" dirty="0">
                <a:solidFill>
                  <a:srgbClr val="E6E6E6"/>
                </a:solidFill>
              </a:rPr>
              <a:t>-F --freshen Upgrades a package only if an earlier version already exists    -R  discovery requirement </a:t>
            </a:r>
            <a:r>
              <a:rPr lang="en-US" sz="1600" dirty="0" err="1">
                <a:solidFill>
                  <a:srgbClr val="E6E6E6"/>
                </a:solidFill>
              </a:rPr>
              <a:t>dependeny</a:t>
            </a:r>
            <a:r>
              <a:rPr lang="en-US" sz="1600" dirty="0">
                <a:solidFill>
                  <a:srgbClr val="E6E6E6"/>
                </a:solidFill>
              </a:rPr>
              <a:t> of package</a:t>
            </a:r>
          </a:p>
          <a:p>
            <a:r>
              <a:rPr lang="en-US" sz="1600" dirty="0">
                <a:solidFill>
                  <a:srgbClr val="E6E6E6"/>
                </a:solidFill>
              </a:rPr>
              <a:t>-</a:t>
            </a:r>
            <a:r>
              <a:rPr lang="en-US" sz="1600" dirty="0" err="1">
                <a:solidFill>
                  <a:srgbClr val="E6E6E6"/>
                </a:solidFill>
              </a:rPr>
              <a:t>i</a:t>
            </a:r>
            <a:r>
              <a:rPr lang="en-US" sz="1600" dirty="0">
                <a:solidFill>
                  <a:srgbClr val="E6E6E6"/>
                </a:solidFill>
              </a:rPr>
              <a:t> --install Installs the specified package </a:t>
            </a:r>
          </a:p>
          <a:p>
            <a:r>
              <a:rPr lang="en-US" sz="1600" dirty="0">
                <a:solidFill>
                  <a:srgbClr val="E6E6E6"/>
                </a:solidFill>
              </a:rPr>
              <a:t>-q --query Queries whether the specified package is installed </a:t>
            </a:r>
          </a:p>
          <a:p>
            <a:r>
              <a:rPr lang="en-US" sz="1600" dirty="0">
                <a:solidFill>
                  <a:srgbClr val="E6E6E6"/>
                </a:solidFill>
              </a:rPr>
              <a:t>-U --upgrade Installs or upgrades the specified package </a:t>
            </a:r>
          </a:p>
          <a:p>
            <a:r>
              <a:rPr lang="en-US" sz="1600" dirty="0">
                <a:solidFill>
                  <a:srgbClr val="E6E6E6"/>
                </a:solidFill>
              </a:rPr>
              <a:t>-V --verify Verifies whether the package files are present and the package’s integrity    -v means verbose   -h human readable</a:t>
            </a:r>
          </a:p>
        </p:txBody>
      </p:sp>
    </p:spTree>
    <p:extLst>
      <p:ext uri="{BB962C8B-B14F-4D97-AF65-F5344CB8AC3E}">
        <p14:creationId xmlns:p14="http://schemas.microsoft.com/office/powerpoint/2010/main" val="1547617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BCC01-949E-FDA1-B7A4-3207648E25D7}"/>
              </a:ext>
            </a:extLst>
          </p:cNvPr>
          <p:cNvSpPr>
            <a:spLocks noGrp="1"/>
          </p:cNvSpPr>
          <p:nvPr>
            <p:ph type="title"/>
          </p:nvPr>
        </p:nvSpPr>
        <p:spPr>
          <a:xfrm>
            <a:off x="513927" y="0"/>
            <a:ext cx="10018713" cy="1752599"/>
          </a:xfrm>
        </p:spPr>
        <p:txBody>
          <a:bodyPr>
            <a:normAutofit/>
          </a:bodyPr>
          <a:lstStyle/>
          <a:p>
            <a:r>
              <a:rPr lang="en-US" sz="2800" b="1" dirty="0">
                <a:solidFill>
                  <a:srgbClr val="FFFFFF"/>
                </a:solidFill>
              </a:rPr>
              <a:t>               verify package  code </a:t>
            </a:r>
          </a:p>
        </p:txBody>
      </p:sp>
      <p:pic>
        <p:nvPicPr>
          <p:cNvPr id="7" name="Content Placeholder 6">
            <a:extLst>
              <a:ext uri="{FF2B5EF4-FFF2-40B4-BE49-F238E27FC236}">
                <a16:creationId xmlns:a16="http://schemas.microsoft.com/office/drawing/2014/main" id="{03F09577-AE1E-FFFF-CB3A-55ED5174F1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8790" y="2069840"/>
            <a:ext cx="5474420" cy="4038601"/>
          </a:xfrm>
        </p:spPr>
      </p:pic>
    </p:spTree>
    <p:extLst>
      <p:ext uri="{BB962C8B-B14F-4D97-AF65-F5344CB8AC3E}">
        <p14:creationId xmlns:p14="http://schemas.microsoft.com/office/powerpoint/2010/main" val="3089410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F9DB2-FB78-DC84-4A1B-18ED3A1DB47C}"/>
              </a:ext>
            </a:extLst>
          </p:cNvPr>
          <p:cNvSpPr>
            <a:spLocks noGrp="1"/>
          </p:cNvSpPr>
          <p:nvPr>
            <p:ph type="title"/>
          </p:nvPr>
        </p:nvSpPr>
        <p:spPr>
          <a:xfrm>
            <a:off x="849830" y="0"/>
            <a:ext cx="10018713" cy="1752599"/>
          </a:xfrm>
        </p:spPr>
        <p:txBody>
          <a:bodyPr/>
          <a:lstStyle/>
          <a:p>
            <a:pPr algn="ctr"/>
            <a:r>
              <a:rPr lang="en-US" sz="2800" b="1" dirty="0">
                <a:solidFill>
                  <a:srgbClr val="FFFFFF"/>
                </a:solidFill>
              </a:rPr>
              <a:t>Query switch</a:t>
            </a:r>
          </a:p>
        </p:txBody>
      </p:sp>
      <p:sp>
        <p:nvSpPr>
          <p:cNvPr id="3" name="Content Placeholder 2">
            <a:extLst>
              <a:ext uri="{FF2B5EF4-FFF2-40B4-BE49-F238E27FC236}">
                <a16:creationId xmlns:a16="http://schemas.microsoft.com/office/drawing/2014/main" id="{CED09B37-E85D-A250-A7BE-BC6B162786B4}"/>
              </a:ext>
            </a:extLst>
          </p:cNvPr>
          <p:cNvSpPr>
            <a:spLocks noGrp="1"/>
          </p:cNvSpPr>
          <p:nvPr>
            <p:ph idx="1"/>
          </p:nvPr>
        </p:nvSpPr>
        <p:spPr>
          <a:xfrm>
            <a:off x="1502971" y="2144485"/>
            <a:ext cx="10018713" cy="3124201"/>
          </a:xfrm>
        </p:spPr>
        <p:txBody>
          <a:bodyPr>
            <a:normAutofit fontScale="70000" lnSpcReduction="20000"/>
          </a:bodyPr>
          <a:lstStyle/>
          <a:p>
            <a:r>
              <a:rPr lang="en-US" sz="1600" dirty="0">
                <a:solidFill>
                  <a:srgbClr val="E6E6E6"/>
                </a:solidFill>
              </a:rPr>
              <a:t>-qc     show the path of config file                           -</a:t>
            </a:r>
            <a:r>
              <a:rPr lang="en-US" sz="1600" dirty="0" err="1">
                <a:solidFill>
                  <a:srgbClr val="E6E6E6"/>
                </a:solidFill>
              </a:rPr>
              <a:t>Rq</a:t>
            </a:r>
            <a:r>
              <a:rPr lang="en-US" sz="1600" dirty="0">
                <a:solidFill>
                  <a:srgbClr val="E6E6E6"/>
                </a:solidFill>
              </a:rPr>
              <a:t>  show dependencies</a:t>
            </a:r>
          </a:p>
          <a:p>
            <a:endParaRPr lang="en-US" dirty="0"/>
          </a:p>
          <a:p>
            <a:r>
              <a:rPr lang="en-US" sz="1600" dirty="0">
                <a:solidFill>
                  <a:srgbClr val="E6E6E6"/>
                </a:solidFill>
              </a:rPr>
              <a:t>-qi        show detail information</a:t>
            </a:r>
          </a:p>
          <a:p>
            <a:endParaRPr lang="en-US" dirty="0"/>
          </a:p>
          <a:p>
            <a:r>
              <a:rPr lang="en-US" sz="1600" dirty="0">
                <a:solidFill>
                  <a:srgbClr val="E6E6E6"/>
                </a:solidFill>
              </a:rPr>
              <a:t>-</a:t>
            </a:r>
            <a:r>
              <a:rPr lang="en-US" sz="1600" dirty="0" err="1">
                <a:solidFill>
                  <a:srgbClr val="E6E6E6"/>
                </a:solidFill>
              </a:rPr>
              <a:t>qa</a:t>
            </a:r>
            <a:r>
              <a:rPr lang="en-US" sz="1600" dirty="0">
                <a:solidFill>
                  <a:srgbClr val="E6E6E6"/>
                </a:solidFill>
              </a:rPr>
              <a:t>         show just installed package</a:t>
            </a:r>
          </a:p>
          <a:p>
            <a:endParaRPr lang="en-US" dirty="0"/>
          </a:p>
          <a:p>
            <a:r>
              <a:rPr lang="en-US" sz="1600" dirty="0">
                <a:solidFill>
                  <a:srgbClr val="E6E6E6"/>
                </a:solidFill>
              </a:rPr>
              <a:t>-</a:t>
            </a:r>
            <a:r>
              <a:rPr lang="en-US" sz="1600" dirty="0" err="1">
                <a:solidFill>
                  <a:srgbClr val="E6E6E6"/>
                </a:solidFill>
              </a:rPr>
              <a:t>lq</a:t>
            </a:r>
            <a:r>
              <a:rPr lang="en-US" sz="1600" dirty="0">
                <a:solidFill>
                  <a:srgbClr val="E6E6E6"/>
                </a:solidFill>
              </a:rPr>
              <a:t>          list all things installed by package</a:t>
            </a:r>
          </a:p>
          <a:p>
            <a:endParaRPr lang="en-US" dirty="0"/>
          </a:p>
          <a:p>
            <a:r>
              <a:rPr lang="en-US" sz="1600" dirty="0" err="1">
                <a:solidFill>
                  <a:srgbClr val="E6E6E6"/>
                </a:solidFill>
              </a:rPr>
              <a:t>whatprovide</a:t>
            </a:r>
            <a:r>
              <a:rPr lang="en-US" sz="1600" dirty="0">
                <a:solidFill>
                  <a:srgbClr val="E6E6E6"/>
                </a:solidFill>
              </a:rPr>
              <a:t> show for example /bin/bash with by package installed as the same –</a:t>
            </a:r>
            <a:r>
              <a:rPr lang="en-US" sz="1600" dirty="0" err="1">
                <a:solidFill>
                  <a:srgbClr val="E6E6E6"/>
                </a:solidFill>
              </a:rPr>
              <a:t>fq</a:t>
            </a:r>
            <a:r>
              <a:rPr lang="en-US" sz="1600" dirty="0">
                <a:solidFill>
                  <a:srgbClr val="E6E6E6"/>
                </a:solidFill>
              </a:rPr>
              <a:t> </a:t>
            </a:r>
          </a:p>
        </p:txBody>
      </p:sp>
    </p:spTree>
    <p:extLst>
      <p:ext uri="{BB962C8B-B14F-4D97-AF65-F5344CB8AC3E}">
        <p14:creationId xmlns:p14="http://schemas.microsoft.com/office/powerpoint/2010/main" val="1047497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5829A-98D0-FC97-EEAA-50D74C2EAD70}"/>
              </a:ext>
            </a:extLst>
          </p:cNvPr>
          <p:cNvSpPr>
            <a:spLocks noGrp="1"/>
          </p:cNvSpPr>
          <p:nvPr>
            <p:ph type="title"/>
          </p:nvPr>
        </p:nvSpPr>
        <p:spPr>
          <a:xfrm>
            <a:off x="588572" y="0"/>
            <a:ext cx="10018713" cy="1752599"/>
          </a:xfrm>
        </p:spPr>
        <p:txBody>
          <a:bodyPr>
            <a:normAutofit/>
          </a:bodyPr>
          <a:lstStyle/>
          <a:p>
            <a:r>
              <a:rPr lang="en-US" sz="2800" b="1" dirty="0">
                <a:solidFill>
                  <a:srgbClr val="FFFFFF"/>
                </a:solidFill>
              </a:rPr>
              <a:t>                 </a:t>
            </a:r>
            <a:r>
              <a:rPr lang="en-US" sz="2800" b="1" dirty="0" err="1">
                <a:solidFill>
                  <a:srgbClr val="FFFFFF"/>
                </a:solidFill>
              </a:rPr>
              <a:t>cpio</a:t>
            </a:r>
            <a:r>
              <a:rPr lang="en-US" sz="2800" b="1" dirty="0">
                <a:solidFill>
                  <a:srgbClr val="FFFFFF"/>
                </a:solidFill>
              </a:rPr>
              <a:t> and rpm2cpio</a:t>
            </a:r>
          </a:p>
        </p:txBody>
      </p:sp>
      <p:sp>
        <p:nvSpPr>
          <p:cNvPr id="3" name="Content Placeholder 2">
            <a:extLst>
              <a:ext uri="{FF2B5EF4-FFF2-40B4-BE49-F238E27FC236}">
                <a16:creationId xmlns:a16="http://schemas.microsoft.com/office/drawing/2014/main" id="{96BBA09E-EB9A-46CD-95C2-F43720BE1A40}"/>
              </a:ext>
            </a:extLst>
          </p:cNvPr>
          <p:cNvSpPr>
            <a:spLocks noGrp="1"/>
          </p:cNvSpPr>
          <p:nvPr>
            <p:ph idx="1"/>
          </p:nvPr>
        </p:nvSpPr>
        <p:spPr>
          <a:xfrm>
            <a:off x="1689584" y="2219130"/>
            <a:ext cx="10018713" cy="3124201"/>
          </a:xfrm>
        </p:spPr>
        <p:txBody>
          <a:bodyPr>
            <a:normAutofit fontScale="85000" lnSpcReduction="20000"/>
          </a:bodyPr>
          <a:lstStyle/>
          <a:p>
            <a:r>
              <a:rPr lang="en-US" sz="1600" dirty="0">
                <a:solidFill>
                  <a:srgbClr val="E6E6E6"/>
                </a:solidFill>
              </a:rPr>
              <a:t>Create a </a:t>
            </a:r>
            <a:r>
              <a:rPr lang="en-US" sz="1600" dirty="0" err="1">
                <a:solidFill>
                  <a:srgbClr val="E6E6E6"/>
                </a:solidFill>
              </a:rPr>
              <a:t>cpio</a:t>
            </a:r>
            <a:r>
              <a:rPr lang="en-US" sz="1600" dirty="0">
                <a:solidFill>
                  <a:srgbClr val="E6E6E6"/>
                </a:solidFill>
              </a:rPr>
              <a:t> archive from rpm package</a:t>
            </a:r>
          </a:p>
          <a:p>
            <a:endParaRPr lang="en-US" dirty="0"/>
          </a:p>
          <a:p>
            <a:pPr marL="0" indent="0">
              <a:buNone/>
            </a:pPr>
            <a:r>
              <a:rPr lang="en-US" sz="1600" dirty="0">
                <a:solidFill>
                  <a:srgbClr val="E6E6E6"/>
                </a:solidFill>
              </a:rPr>
              <a:t>rpm2cpio</a:t>
            </a:r>
          </a:p>
          <a:p>
            <a:pPr marL="0" indent="0">
              <a:buNone/>
            </a:pPr>
            <a:endParaRPr lang="en-US" dirty="0"/>
          </a:p>
          <a:p>
            <a:pPr marL="0" indent="0">
              <a:buNone/>
            </a:pPr>
            <a:r>
              <a:rPr lang="en-US" sz="1600" dirty="0">
                <a:solidFill>
                  <a:srgbClr val="E6E6E6"/>
                </a:solidFill>
              </a:rPr>
              <a:t>Extracting from the </a:t>
            </a:r>
            <a:r>
              <a:rPr lang="en-US" sz="1600" dirty="0" err="1">
                <a:solidFill>
                  <a:srgbClr val="E6E6E6"/>
                </a:solidFill>
              </a:rPr>
              <a:t>cpio</a:t>
            </a:r>
            <a:r>
              <a:rPr lang="en-US" sz="1600" dirty="0">
                <a:solidFill>
                  <a:srgbClr val="E6E6E6"/>
                </a:solidFill>
              </a:rPr>
              <a:t> archive</a:t>
            </a:r>
          </a:p>
          <a:p>
            <a:pPr marL="0" indent="0">
              <a:buNone/>
            </a:pPr>
            <a:endParaRPr lang="en-US" dirty="0"/>
          </a:p>
          <a:p>
            <a:pPr marL="0" indent="0">
              <a:buNone/>
            </a:pPr>
            <a:r>
              <a:rPr lang="en-US" sz="1600" dirty="0" err="1">
                <a:solidFill>
                  <a:srgbClr val="E6E6E6"/>
                </a:solidFill>
              </a:rPr>
              <a:t>cpio</a:t>
            </a:r>
            <a:r>
              <a:rPr lang="en-US" sz="1600" dirty="0">
                <a:solidFill>
                  <a:srgbClr val="E6E6E6"/>
                </a:solidFill>
              </a:rPr>
              <a:t>  -</a:t>
            </a:r>
            <a:r>
              <a:rPr lang="en-US" sz="1600" dirty="0" err="1">
                <a:solidFill>
                  <a:srgbClr val="E6E6E6"/>
                </a:solidFill>
              </a:rPr>
              <a:t>idv</a:t>
            </a:r>
            <a:r>
              <a:rPr lang="en-US" sz="1600" dirty="0">
                <a:solidFill>
                  <a:srgbClr val="E6E6E6"/>
                </a:solidFill>
              </a:rPr>
              <a:t> ------------</a:t>
            </a:r>
            <a:r>
              <a:rPr lang="en-US" sz="1600" dirty="0">
                <a:solidFill>
                  <a:srgbClr val="E6E6E6"/>
                </a:solidFill>
                <a:sym typeface="Wingdings" panose="05000000000000000000" pitchFamily="2" charset="2"/>
              </a:rPr>
              <a:t> v usually means verbose d create subdirectories</a:t>
            </a:r>
          </a:p>
          <a:p>
            <a:pPr marL="0" indent="0">
              <a:buNone/>
            </a:pPr>
            <a:r>
              <a:rPr lang="en-US" sz="1600" dirty="0" err="1">
                <a:solidFill>
                  <a:srgbClr val="E6E6E6"/>
                </a:solidFill>
                <a:sym typeface="Wingdings" panose="05000000000000000000" pitchFamily="2" charset="2"/>
              </a:rPr>
              <a:t>i</a:t>
            </a:r>
            <a:r>
              <a:rPr lang="en-US" sz="1600" dirty="0">
                <a:solidFill>
                  <a:srgbClr val="E6E6E6"/>
                </a:solidFill>
                <a:sym typeface="Wingdings" panose="05000000000000000000" pitchFamily="2" charset="2"/>
              </a:rPr>
              <a:t> allows copy file from archive</a:t>
            </a:r>
            <a:endParaRPr lang="en-US" dirty="0"/>
          </a:p>
          <a:p>
            <a:pPr marL="0" indent="0">
              <a:buNone/>
            </a:pPr>
            <a:endParaRPr lang="en-US" dirty="0"/>
          </a:p>
        </p:txBody>
      </p:sp>
    </p:spTree>
    <p:extLst>
      <p:ext uri="{BB962C8B-B14F-4D97-AF65-F5344CB8AC3E}">
        <p14:creationId xmlns:p14="http://schemas.microsoft.com/office/powerpoint/2010/main" val="3888277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D19D-2B89-C7D7-8538-13733CA8C397}"/>
              </a:ext>
            </a:extLst>
          </p:cNvPr>
          <p:cNvSpPr>
            <a:spLocks noGrp="1"/>
          </p:cNvSpPr>
          <p:nvPr>
            <p:ph type="title"/>
          </p:nvPr>
        </p:nvSpPr>
        <p:spPr>
          <a:xfrm>
            <a:off x="952467" y="205274"/>
            <a:ext cx="9077942" cy="768220"/>
          </a:xfrm>
        </p:spPr>
        <p:txBody>
          <a:bodyPr/>
          <a:lstStyle/>
          <a:p>
            <a:r>
              <a:rPr lang="en-US" sz="2800" b="1" dirty="0">
                <a:solidFill>
                  <a:srgbClr val="FFFFFF"/>
                </a:solidFill>
              </a:rPr>
              <a:t>                   source list</a:t>
            </a:r>
          </a:p>
        </p:txBody>
      </p:sp>
      <p:sp>
        <p:nvSpPr>
          <p:cNvPr id="3" name="Content Placeholder 2">
            <a:extLst>
              <a:ext uri="{FF2B5EF4-FFF2-40B4-BE49-F238E27FC236}">
                <a16:creationId xmlns:a16="http://schemas.microsoft.com/office/drawing/2014/main" id="{DF1BEE8A-BBB3-A678-023F-8BC9443C92F2}"/>
              </a:ext>
            </a:extLst>
          </p:cNvPr>
          <p:cNvSpPr>
            <a:spLocks noGrp="1"/>
          </p:cNvSpPr>
          <p:nvPr>
            <p:ph idx="1"/>
          </p:nvPr>
        </p:nvSpPr>
        <p:spPr>
          <a:xfrm>
            <a:off x="1810882" y="2109495"/>
            <a:ext cx="10018713" cy="3124201"/>
          </a:xfrm>
        </p:spPr>
        <p:txBody>
          <a:bodyPr>
            <a:normAutofit/>
          </a:bodyPr>
          <a:lstStyle/>
          <a:p>
            <a:r>
              <a:rPr lang="en-US" sz="1600" dirty="0">
                <a:solidFill>
                  <a:srgbClr val="E6E6E6"/>
                </a:solidFill>
              </a:rPr>
              <a:t> /</a:t>
            </a:r>
            <a:r>
              <a:rPr lang="en-US" sz="1600" dirty="0" err="1">
                <a:solidFill>
                  <a:srgbClr val="E6E6E6"/>
                </a:solidFill>
              </a:rPr>
              <a:t>etc</a:t>
            </a:r>
            <a:r>
              <a:rPr lang="en-US" sz="1600" dirty="0">
                <a:solidFill>
                  <a:srgbClr val="E6E6E6"/>
                </a:solidFill>
              </a:rPr>
              <a:t>/apt/</a:t>
            </a:r>
            <a:r>
              <a:rPr lang="en-US" sz="1600" dirty="0" err="1">
                <a:solidFill>
                  <a:srgbClr val="E6E6E6"/>
                </a:solidFill>
              </a:rPr>
              <a:t>source.list</a:t>
            </a:r>
            <a:r>
              <a:rPr lang="en-US" sz="1600" dirty="0">
                <a:solidFill>
                  <a:srgbClr val="E6E6E6"/>
                </a:solidFill>
              </a:rPr>
              <a:t>            the list of source for apt</a:t>
            </a:r>
          </a:p>
          <a:p>
            <a:endParaRPr lang="en-US" sz="2000" dirty="0"/>
          </a:p>
          <a:p>
            <a:r>
              <a:rPr lang="en-US" sz="1600" dirty="0">
                <a:solidFill>
                  <a:srgbClr val="E6E6E6"/>
                </a:solidFill>
              </a:rPr>
              <a:t>/</a:t>
            </a:r>
            <a:r>
              <a:rPr lang="en-US" sz="1600" dirty="0" err="1">
                <a:solidFill>
                  <a:srgbClr val="E6E6E6"/>
                </a:solidFill>
              </a:rPr>
              <a:t>etc</a:t>
            </a:r>
            <a:r>
              <a:rPr lang="en-US" sz="1600" dirty="0">
                <a:solidFill>
                  <a:srgbClr val="E6E6E6"/>
                </a:solidFill>
              </a:rPr>
              <a:t>/</a:t>
            </a:r>
            <a:r>
              <a:rPr lang="en-US" sz="1600" dirty="0" err="1">
                <a:solidFill>
                  <a:srgbClr val="E6E6E6"/>
                </a:solidFill>
              </a:rPr>
              <a:t>yum.repos.d</a:t>
            </a:r>
            <a:r>
              <a:rPr lang="en-US" sz="1600" dirty="0">
                <a:solidFill>
                  <a:srgbClr val="E6E6E6"/>
                </a:solidFill>
              </a:rPr>
              <a:t>/               the list of source for yum</a:t>
            </a:r>
          </a:p>
          <a:p>
            <a:endParaRPr lang="en-US" sz="2000" dirty="0"/>
          </a:p>
          <a:p>
            <a:pPr marL="0" indent="0">
              <a:buNone/>
            </a:pPr>
            <a:endParaRPr lang="en-US" sz="2000" dirty="0"/>
          </a:p>
          <a:p>
            <a:endParaRPr lang="en-US" sz="2000" dirty="0"/>
          </a:p>
          <a:p>
            <a:r>
              <a:rPr lang="en-US" sz="1600" dirty="0">
                <a:solidFill>
                  <a:srgbClr val="E6E6E6"/>
                </a:solidFill>
              </a:rPr>
              <a:t>/var/cache                          the cache of list and package </a:t>
            </a:r>
          </a:p>
        </p:txBody>
      </p:sp>
    </p:spTree>
    <p:extLst>
      <p:ext uri="{BB962C8B-B14F-4D97-AF65-F5344CB8AC3E}">
        <p14:creationId xmlns:p14="http://schemas.microsoft.com/office/powerpoint/2010/main" val="3357091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DEBC5-3AA9-500B-606B-280979C35EA6}"/>
              </a:ext>
            </a:extLst>
          </p:cNvPr>
          <p:cNvSpPr>
            <a:spLocks noGrp="1"/>
          </p:cNvSpPr>
          <p:nvPr>
            <p:ph type="title"/>
          </p:nvPr>
        </p:nvSpPr>
        <p:spPr>
          <a:xfrm>
            <a:off x="1408839" y="158077"/>
            <a:ext cx="8298715" cy="660400"/>
          </a:xfrm>
        </p:spPr>
        <p:txBody>
          <a:bodyPr>
            <a:normAutofit fontScale="90000"/>
          </a:bodyPr>
          <a:lstStyle/>
          <a:p>
            <a:r>
              <a:rPr lang="en-US" sz="2800" b="1" dirty="0">
                <a:solidFill>
                  <a:srgbClr val="FFFFFF"/>
                </a:solidFill>
              </a:rPr>
              <a:t>                    yum</a:t>
            </a:r>
          </a:p>
        </p:txBody>
      </p:sp>
      <p:pic>
        <p:nvPicPr>
          <p:cNvPr id="5" name="Content Placeholder 4">
            <a:extLst>
              <a:ext uri="{FF2B5EF4-FFF2-40B4-BE49-F238E27FC236}">
                <a16:creationId xmlns:a16="http://schemas.microsoft.com/office/drawing/2014/main" id="{7E825EF9-DAB0-ABB7-F72E-68297102C6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2280" y="1110343"/>
            <a:ext cx="8705847" cy="5128752"/>
          </a:xfrm>
        </p:spPr>
      </p:pic>
    </p:spTree>
    <p:extLst>
      <p:ext uri="{BB962C8B-B14F-4D97-AF65-F5344CB8AC3E}">
        <p14:creationId xmlns:p14="http://schemas.microsoft.com/office/powerpoint/2010/main" val="227072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7ED1-79D4-F451-C9EB-2AE583937819}"/>
              </a:ext>
            </a:extLst>
          </p:cNvPr>
          <p:cNvSpPr>
            <a:spLocks noGrp="1"/>
          </p:cNvSpPr>
          <p:nvPr>
            <p:ph type="title"/>
          </p:nvPr>
        </p:nvSpPr>
        <p:spPr>
          <a:xfrm>
            <a:off x="919930" y="0"/>
            <a:ext cx="8596668" cy="1320800"/>
          </a:xfrm>
        </p:spPr>
        <p:txBody>
          <a:bodyPr/>
          <a:lstStyle/>
          <a:p>
            <a:r>
              <a:rPr lang="en-US" sz="2800" b="1" dirty="0">
                <a:solidFill>
                  <a:srgbClr val="FFFFFF"/>
                </a:solidFill>
              </a:rPr>
              <a:t>                      apt</a:t>
            </a:r>
          </a:p>
        </p:txBody>
      </p:sp>
      <p:sp>
        <p:nvSpPr>
          <p:cNvPr id="3" name="Content Placeholder 2">
            <a:extLst>
              <a:ext uri="{FF2B5EF4-FFF2-40B4-BE49-F238E27FC236}">
                <a16:creationId xmlns:a16="http://schemas.microsoft.com/office/drawing/2014/main" id="{1901E11C-0544-F6F9-F509-453182CC188C}"/>
              </a:ext>
            </a:extLst>
          </p:cNvPr>
          <p:cNvSpPr>
            <a:spLocks noGrp="1"/>
          </p:cNvSpPr>
          <p:nvPr>
            <p:ph idx="1"/>
          </p:nvPr>
        </p:nvSpPr>
        <p:spPr>
          <a:xfrm>
            <a:off x="1801551" y="1866899"/>
            <a:ext cx="10018713" cy="3124201"/>
          </a:xfrm>
        </p:spPr>
        <p:txBody>
          <a:bodyPr>
            <a:normAutofit/>
          </a:bodyPr>
          <a:lstStyle/>
          <a:p>
            <a:r>
              <a:rPr lang="en-US" sz="1600" dirty="0">
                <a:solidFill>
                  <a:srgbClr val="E6E6E6"/>
                </a:solidFill>
              </a:rPr>
              <a:t>apt purge   ____&gt; remove package with config file that say remove from stump</a:t>
            </a:r>
          </a:p>
          <a:p>
            <a:endParaRPr lang="en-US" sz="2000" dirty="0"/>
          </a:p>
          <a:p>
            <a:r>
              <a:rPr lang="en-US" sz="1600" dirty="0">
                <a:solidFill>
                  <a:srgbClr val="E6E6E6"/>
                </a:solidFill>
              </a:rPr>
              <a:t>apt vs apt-get apt is newer version of apt-get</a:t>
            </a:r>
          </a:p>
          <a:p>
            <a:endParaRPr lang="en-US" sz="2000" dirty="0"/>
          </a:p>
          <a:p>
            <a:r>
              <a:rPr lang="en-US" sz="1600" dirty="0">
                <a:solidFill>
                  <a:srgbClr val="E6E6E6"/>
                </a:solidFill>
              </a:rPr>
              <a:t>apt-cache  give </a:t>
            </a:r>
            <a:r>
              <a:rPr lang="en-US" sz="1600" dirty="0" err="1">
                <a:solidFill>
                  <a:srgbClr val="E6E6E6"/>
                </a:solidFill>
              </a:rPr>
              <a:t>usefull</a:t>
            </a:r>
            <a:r>
              <a:rPr lang="en-US" sz="1600" dirty="0">
                <a:solidFill>
                  <a:srgbClr val="E6E6E6"/>
                </a:solidFill>
              </a:rPr>
              <a:t> information such as dependency and </a:t>
            </a:r>
            <a:r>
              <a:rPr lang="en-US" sz="1600" dirty="0" err="1">
                <a:solidFill>
                  <a:srgbClr val="E6E6E6"/>
                </a:solidFill>
              </a:rPr>
              <a:t>packangename</a:t>
            </a:r>
            <a:r>
              <a:rPr lang="en-US" sz="1600" dirty="0">
                <a:solidFill>
                  <a:srgbClr val="E6E6E6"/>
                </a:solidFill>
              </a:rPr>
              <a:t> and search </a:t>
            </a:r>
            <a:r>
              <a:rPr lang="en-US" sz="1600" dirty="0" err="1">
                <a:solidFill>
                  <a:srgbClr val="E6E6E6"/>
                </a:solidFill>
              </a:rPr>
              <a:t>packagename</a:t>
            </a:r>
            <a:r>
              <a:rPr lang="en-US" sz="1600" dirty="0">
                <a:solidFill>
                  <a:srgbClr val="E6E6E6"/>
                </a:solidFill>
              </a:rPr>
              <a:t> match specified </a:t>
            </a:r>
            <a:r>
              <a:rPr lang="en-US" sz="1600" dirty="0" err="1">
                <a:solidFill>
                  <a:srgbClr val="E6E6E6"/>
                </a:solidFill>
              </a:rPr>
              <a:t>keword</a:t>
            </a:r>
            <a:endParaRPr lang="en-US" sz="2000" dirty="0"/>
          </a:p>
        </p:txBody>
      </p:sp>
    </p:spTree>
    <p:extLst>
      <p:ext uri="{BB962C8B-B14F-4D97-AF65-F5344CB8AC3E}">
        <p14:creationId xmlns:p14="http://schemas.microsoft.com/office/powerpoint/2010/main" val="53848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3959E-BFD6-97E3-F9B1-42EC5734DCE4}"/>
              </a:ext>
            </a:extLst>
          </p:cNvPr>
          <p:cNvSpPr>
            <a:spLocks noGrp="1"/>
          </p:cNvSpPr>
          <p:nvPr>
            <p:ph type="title"/>
          </p:nvPr>
        </p:nvSpPr>
        <p:spPr>
          <a:xfrm>
            <a:off x="784515" y="0"/>
            <a:ext cx="10018713" cy="1752599"/>
          </a:xfrm>
        </p:spPr>
        <p:txBody>
          <a:bodyPr>
            <a:normAutofit/>
          </a:bodyPr>
          <a:lstStyle/>
          <a:p>
            <a:r>
              <a:rPr lang="en-US" sz="2800" b="1" dirty="0">
                <a:solidFill>
                  <a:srgbClr val="FFFFFF"/>
                </a:solidFill>
              </a:rPr>
              <a:t>           same switch in yum and apt</a:t>
            </a:r>
          </a:p>
        </p:txBody>
      </p:sp>
      <p:sp>
        <p:nvSpPr>
          <p:cNvPr id="3" name="Content Placeholder 2">
            <a:extLst>
              <a:ext uri="{FF2B5EF4-FFF2-40B4-BE49-F238E27FC236}">
                <a16:creationId xmlns:a16="http://schemas.microsoft.com/office/drawing/2014/main" id="{05C587C2-5382-E6CB-434B-19872BC9096A}"/>
              </a:ext>
            </a:extLst>
          </p:cNvPr>
          <p:cNvSpPr>
            <a:spLocks noGrp="1"/>
          </p:cNvSpPr>
          <p:nvPr>
            <p:ph idx="1"/>
          </p:nvPr>
        </p:nvSpPr>
        <p:spPr>
          <a:xfrm>
            <a:off x="1717575" y="2088501"/>
            <a:ext cx="10018713" cy="3124201"/>
          </a:xfrm>
        </p:spPr>
        <p:txBody>
          <a:bodyPr>
            <a:normAutofit/>
          </a:bodyPr>
          <a:lstStyle/>
          <a:p>
            <a:r>
              <a:rPr lang="en-US" sz="1600" dirty="0">
                <a:solidFill>
                  <a:srgbClr val="E6E6E6"/>
                </a:solidFill>
              </a:rPr>
              <a:t> remove just remove package but </a:t>
            </a:r>
            <a:r>
              <a:rPr lang="en-US" sz="1600" dirty="0" err="1">
                <a:solidFill>
                  <a:srgbClr val="E6E6E6"/>
                </a:solidFill>
              </a:rPr>
              <a:t>autoremove</a:t>
            </a:r>
            <a:r>
              <a:rPr lang="en-US" sz="1600" dirty="0">
                <a:solidFill>
                  <a:srgbClr val="E6E6E6"/>
                </a:solidFill>
              </a:rPr>
              <a:t> remove package with all dependencies</a:t>
            </a:r>
          </a:p>
          <a:p>
            <a:endParaRPr lang="en-US" sz="2000" dirty="0"/>
          </a:p>
          <a:p>
            <a:r>
              <a:rPr lang="en-US" sz="1600" dirty="0">
                <a:solidFill>
                  <a:srgbClr val="E6E6E6"/>
                </a:solidFill>
              </a:rPr>
              <a:t> download just download deb package</a:t>
            </a:r>
          </a:p>
          <a:p>
            <a:endParaRPr lang="en-US" sz="2000" dirty="0"/>
          </a:p>
          <a:p>
            <a:r>
              <a:rPr lang="en-US" sz="1600" dirty="0">
                <a:solidFill>
                  <a:srgbClr val="E6E6E6"/>
                </a:solidFill>
              </a:rPr>
              <a:t> install –download-only just download with dependencies but not install </a:t>
            </a:r>
          </a:p>
        </p:txBody>
      </p:sp>
    </p:spTree>
    <p:extLst>
      <p:ext uri="{BB962C8B-B14F-4D97-AF65-F5344CB8AC3E}">
        <p14:creationId xmlns:p14="http://schemas.microsoft.com/office/powerpoint/2010/main" val="19933956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695CD-278C-2520-D801-78D49602191D}"/>
              </a:ext>
            </a:extLst>
          </p:cNvPr>
          <p:cNvSpPr>
            <a:spLocks noGrp="1"/>
          </p:cNvSpPr>
          <p:nvPr>
            <p:ph type="title"/>
          </p:nvPr>
        </p:nvSpPr>
        <p:spPr>
          <a:xfrm>
            <a:off x="480153" y="0"/>
            <a:ext cx="9484941" cy="1001485"/>
          </a:xfrm>
        </p:spPr>
        <p:txBody>
          <a:bodyPr/>
          <a:lstStyle/>
          <a:p>
            <a:r>
              <a:rPr lang="en-US" sz="2800" b="1" dirty="0">
                <a:solidFill>
                  <a:srgbClr val="FFFFFF"/>
                </a:solidFill>
              </a:rPr>
              <a:t>                     library</a:t>
            </a:r>
          </a:p>
        </p:txBody>
      </p:sp>
      <p:sp>
        <p:nvSpPr>
          <p:cNvPr id="3" name="Content Placeholder 2">
            <a:extLst>
              <a:ext uri="{FF2B5EF4-FFF2-40B4-BE49-F238E27FC236}">
                <a16:creationId xmlns:a16="http://schemas.microsoft.com/office/drawing/2014/main" id="{04F55F2D-19D6-CAF0-97BC-65E3EEF9405D}"/>
              </a:ext>
            </a:extLst>
          </p:cNvPr>
          <p:cNvSpPr>
            <a:spLocks noGrp="1"/>
          </p:cNvSpPr>
          <p:nvPr>
            <p:ph idx="1"/>
          </p:nvPr>
        </p:nvSpPr>
        <p:spPr>
          <a:xfrm>
            <a:off x="1736236" y="1957873"/>
            <a:ext cx="10018713" cy="3124201"/>
          </a:xfrm>
        </p:spPr>
        <p:txBody>
          <a:bodyPr>
            <a:noAutofit/>
          </a:bodyPr>
          <a:lstStyle/>
          <a:p>
            <a:r>
              <a:rPr lang="en-US" sz="1600" dirty="0">
                <a:solidFill>
                  <a:srgbClr val="E6E6E6"/>
                </a:solidFill>
              </a:rPr>
              <a:t>A system library is a collection of items, such as program functions. Functions are self contained code modules that perform a specific task within an application, such as opening and reading a data file</a:t>
            </a:r>
          </a:p>
          <a:p>
            <a:endParaRPr lang="en-US" sz="2000" dirty="0"/>
          </a:p>
          <a:p>
            <a:endParaRPr lang="en-US" sz="2000" dirty="0"/>
          </a:p>
          <a:p>
            <a:r>
              <a:rPr lang="en-US" sz="1600" dirty="0">
                <a:solidFill>
                  <a:srgbClr val="E6E6E6"/>
                </a:solidFill>
              </a:rPr>
              <a:t>Type of library ______&gt;1-static library   2-dynamic library(shared library)  if work windows </a:t>
            </a:r>
            <a:r>
              <a:rPr lang="en-US" sz="1600" dirty="0" err="1">
                <a:solidFill>
                  <a:srgbClr val="E6E6E6"/>
                </a:solidFill>
              </a:rPr>
              <a:t>dll</a:t>
            </a:r>
            <a:r>
              <a:rPr lang="en-US" sz="1600" dirty="0">
                <a:solidFill>
                  <a:srgbClr val="E6E6E6"/>
                </a:solidFill>
              </a:rPr>
              <a:t> as the as shared library in </a:t>
            </a:r>
            <a:r>
              <a:rPr lang="en-US" sz="1600" dirty="0" err="1">
                <a:solidFill>
                  <a:srgbClr val="E6E6E6"/>
                </a:solidFill>
              </a:rPr>
              <a:t>linux</a:t>
            </a:r>
            <a:endParaRPr lang="en-US" sz="2000" dirty="0"/>
          </a:p>
          <a:p>
            <a:endParaRPr lang="en-US" sz="2000" dirty="0"/>
          </a:p>
          <a:p>
            <a:r>
              <a:rPr lang="en-US" sz="1600" dirty="0">
                <a:solidFill>
                  <a:srgbClr val="E6E6E6"/>
                </a:solidFill>
              </a:rPr>
              <a:t>lib LIBRARYNAME .so. VERSION  format shared library</a:t>
            </a:r>
          </a:p>
          <a:p>
            <a:r>
              <a:rPr lang="en-US" sz="1600" dirty="0">
                <a:solidFill>
                  <a:srgbClr val="E6E6E6"/>
                </a:solidFill>
              </a:rPr>
              <a:t>  /</a:t>
            </a:r>
            <a:r>
              <a:rPr lang="en-US" sz="1600" dirty="0" err="1">
                <a:solidFill>
                  <a:srgbClr val="E6E6E6"/>
                </a:solidFill>
              </a:rPr>
              <a:t>usr</a:t>
            </a:r>
            <a:r>
              <a:rPr lang="en-US" sz="1600" dirty="0">
                <a:solidFill>
                  <a:srgbClr val="E6E6E6"/>
                </a:solidFill>
              </a:rPr>
              <a:t>/lib show library for app  /lib -</a:t>
            </a:r>
            <a:r>
              <a:rPr lang="en-US" sz="1600" dirty="0">
                <a:solidFill>
                  <a:srgbClr val="E6E6E6"/>
                </a:solidFill>
                <a:sym typeface="Wingdings" panose="05000000000000000000" pitchFamily="2" charset="2"/>
              </a:rPr>
              <a:t> show library </a:t>
            </a:r>
            <a:r>
              <a:rPr lang="en-US" sz="1600" dirty="0" err="1">
                <a:solidFill>
                  <a:srgbClr val="E6E6E6"/>
                </a:solidFill>
                <a:sym typeface="Wingdings" panose="05000000000000000000" pitchFamily="2" charset="2"/>
              </a:rPr>
              <a:t>builtin</a:t>
            </a:r>
            <a:r>
              <a:rPr lang="en-US" sz="1600" dirty="0">
                <a:solidFill>
                  <a:srgbClr val="E6E6E6"/>
                </a:solidFill>
                <a:sym typeface="Wingdings" panose="05000000000000000000" pitchFamily="2" charset="2"/>
              </a:rPr>
              <a:t> system</a:t>
            </a:r>
            <a:endParaRPr lang="en-US" sz="2000" dirty="0"/>
          </a:p>
        </p:txBody>
      </p:sp>
    </p:spTree>
    <p:extLst>
      <p:ext uri="{BB962C8B-B14F-4D97-AF65-F5344CB8AC3E}">
        <p14:creationId xmlns:p14="http://schemas.microsoft.com/office/powerpoint/2010/main" val="1192457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D3B63-E8EC-5C41-7586-9CC8C3D8DF19}"/>
              </a:ext>
            </a:extLst>
          </p:cNvPr>
          <p:cNvSpPr>
            <a:spLocks noGrp="1"/>
          </p:cNvSpPr>
          <p:nvPr>
            <p:ph type="title"/>
          </p:nvPr>
        </p:nvSpPr>
        <p:spPr>
          <a:xfrm>
            <a:off x="803177" y="111968"/>
            <a:ext cx="9460497" cy="954832"/>
          </a:xfrm>
        </p:spPr>
        <p:txBody>
          <a:bodyPr/>
          <a:lstStyle/>
          <a:p>
            <a:r>
              <a:rPr lang="en-US" sz="2800" b="1" dirty="0">
                <a:solidFill>
                  <a:srgbClr val="FFFFFF"/>
                </a:solidFill>
              </a:rPr>
              <a:t>                 ad and </a:t>
            </a:r>
            <a:r>
              <a:rPr lang="en-US" sz="2800" b="1" dirty="0" err="1">
                <a:solidFill>
                  <a:srgbClr val="FFFFFF"/>
                </a:solidFill>
              </a:rPr>
              <a:t>disad</a:t>
            </a:r>
            <a:endParaRPr lang="en-US" dirty="0"/>
          </a:p>
        </p:txBody>
      </p:sp>
      <p:sp>
        <p:nvSpPr>
          <p:cNvPr id="3" name="Content Placeholder 2">
            <a:extLst>
              <a:ext uri="{FF2B5EF4-FFF2-40B4-BE49-F238E27FC236}">
                <a16:creationId xmlns:a16="http://schemas.microsoft.com/office/drawing/2014/main" id="{210C96EE-83D3-00FB-E6AF-536A4C199D6D}"/>
              </a:ext>
            </a:extLst>
          </p:cNvPr>
          <p:cNvSpPr>
            <a:spLocks noGrp="1"/>
          </p:cNvSpPr>
          <p:nvPr>
            <p:ph idx="1"/>
          </p:nvPr>
        </p:nvSpPr>
        <p:spPr>
          <a:xfrm>
            <a:off x="1642931" y="2004525"/>
            <a:ext cx="10018713" cy="3124201"/>
          </a:xfrm>
        </p:spPr>
        <p:txBody>
          <a:bodyPr>
            <a:normAutofit/>
          </a:bodyPr>
          <a:lstStyle/>
          <a:p>
            <a:r>
              <a:rPr lang="en-US" sz="1600" dirty="0">
                <a:solidFill>
                  <a:srgbClr val="E6E6E6"/>
                </a:solidFill>
              </a:rPr>
              <a:t>Static library is very huge executable file </a:t>
            </a:r>
          </a:p>
          <a:p>
            <a:pPr marL="0" indent="0">
              <a:buNone/>
            </a:pPr>
            <a:endParaRPr lang="en-US" sz="2000" dirty="0"/>
          </a:p>
          <a:p>
            <a:endParaRPr lang="en-US" sz="2000" dirty="0"/>
          </a:p>
          <a:p>
            <a:r>
              <a:rPr lang="en-US" sz="1600" dirty="0">
                <a:solidFill>
                  <a:srgbClr val="E6E6E6"/>
                </a:solidFill>
              </a:rPr>
              <a:t>If programmer update shared library and you update lib you can use new features of this library and security event </a:t>
            </a:r>
            <a:r>
              <a:rPr lang="en-US" sz="1600" dirty="0" err="1">
                <a:solidFill>
                  <a:srgbClr val="E6E6E6"/>
                </a:solidFill>
              </a:rPr>
              <a:t>deacrese</a:t>
            </a:r>
            <a:r>
              <a:rPr lang="en-US" sz="1600" dirty="0">
                <a:solidFill>
                  <a:srgbClr val="E6E6E6"/>
                </a:solidFill>
              </a:rPr>
              <a:t> </a:t>
            </a:r>
          </a:p>
          <a:p>
            <a:endParaRPr lang="en-US" sz="2000" dirty="0"/>
          </a:p>
          <a:p>
            <a:r>
              <a:rPr lang="en-US" sz="1600" dirty="0">
                <a:solidFill>
                  <a:srgbClr val="E6E6E6"/>
                </a:solidFill>
              </a:rPr>
              <a:t>Static library loads and install very easier than shared library</a:t>
            </a:r>
          </a:p>
          <a:p>
            <a:endParaRPr lang="en-US" sz="2000" dirty="0"/>
          </a:p>
        </p:txBody>
      </p:sp>
    </p:spTree>
    <p:extLst>
      <p:ext uri="{BB962C8B-B14F-4D97-AF65-F5344CB8AC3E}">
        <p14:creationId xmlns:p14="http://schemas.microsoft.com/office/powerpoint/2010/main" val="22605372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D02DB-6B0D-FED6-8211-4E25F8E7BB58}"/>
              </a:ext>
            </a:extLst>
          </p:cNvPr>
          <p:cNvSpPr>
            <a:spLocks noGrp="1"/>
          </p:cNvSpPr>
          <p:nvPr>
            <p:ph type="title"/>
          </p:nvPr>
        </p:nvSpPr>
        <p:spPr>
          <a:xfrm>
            <a:off x="681879" y="83976"/>
            <a:ext cx="9693762" cy="1122783"/>
          </a:xfrm>
        </p:spPr>
        <p:txBody>
          <a:bodyPr>
            <a:normAutofit/>
          </a:bodyPr>
          <a:lstStyle/>
          <a:p>
            <a:r>
              <a:rPr lang="en-US" sz="2800" b="1" dirty="0">
                <a:solidFill>
                  <a:srgbClr val="FFFFFF"/>
                </a:solidFill>
              </a:rPr>
              <a:t>                  command library</a:t>
            </a:r>
          </a:p>
        </p:txBody>
      </p:sp>
      <p:sp>
        <p:nvSpPr>
          <p:cNvPr id="3" name="Content Placeholder 2">
            <a:extLst>
              <a:ext uri="{FF2B5EF4-FFF2-40B4-BE49-F238E27FC236}">
                <a16:creationId xmlns:a16="http://schemas.microsoft.com/office/drawing/2014/main" id="{D53C1451-F5E4-E86A-3796-1B583CFF8E68}"/>
              </a:ext>
            </a:extLst>
          </p:cNvPr>
          <p:cNvSpPr>
            <a:spLocks noGrp="1"/>
          </p:cNvSpPr>
          <p:nvPr>
            <p:ph idx="1"/>
          </p:nvPr>
        </p:nvSpPr>
        <p:spPr>
          <a:xfrm>
            <a:off x="1782890" y="2172476"/>
            <a:ext cx="10018713" cy="3124201"/>
          </a:xfrm>
        </p:spPr>
        <p:txBody>
          <a:bodyPr>
            <a:normAutofit/>
          </a:bodyPr>
          <a:lstStyle/>
          <a:p>
            <a:r>
              <a:rPr lang="en-US" sz="1600" dirty="0" err="1">
                <a:solidFill>
                  <a:srgbClr val="E6E6E6"/>
                </a:solidFill>
              </a:rPr>
              <a:t>ldd</a:t>
            </a:r>
            <a:r>
              <a:rPr lang="en-US" sz="1600" dirty="0">
                <a:solidFill>
                  <a:srgbClr val="E6E6E6"/>
                </a:solidFill>
              </a:rPr>
              <a:t> show app use which libraries need</a:t>
            </a:r>
          </a:p>
          <a:p>
            <a:endParaRPr lang="en-US" sz="2000" dirty="0"/>
          </a:p>
          <a:p>
            <a:endParaRPr lang="en-US" sz="2000" dirty="0"/>
          </a:p>
          <a:p>
            <a:r>
              <a:rPr lang="en-US" sz="1600" dirty="0" err="1">
                <a:solidFill>
                  <a:srgbClr val="E6E6E6"/>
                </a:solidFill>
              </a:rPr>
              <a:t>ldd</a:t>
            </a:r>
            <a:r>
              <a:rPr lang="en-US" sz="1600" dirty="0">
                <a:solidFill>
                  <a:srgbClr val="E6E6E6"/>
                </a:solidFill>
              </a:rPr>
              <a:t> /</a:t>
            </a:r>
            <a:r>
              <a:rPr lang="en-US" sz="1600" dirty="0" err="1">
                <a:solidFill>
                  <a:srgbClr val="E6E6E6"/>
                </a:solidFill>
              </a:rPr>
              <a:t>usr</a:t>
            </a:r>
            <a:r>
              <a:rPr lang="en-US" sz="1600" dirty="0">
                <a:solidFill>
                  <a:srgbClr val="E6E6E6"/>
                </a:solidFill>
              </a:rPr>
              <a:t>/</a:t>
            </a:r>
            <a:r>
              <a:rPr lang="en-US" sz="1600" dirty="0" err="1">
                <a:solidFill>
                  <a:srgbClr val="E6E6E6"/>
                </a:solidFill>
              </a:rPr>
              <a:t>sbin</a:t>
            </a:r>
            <a:r>
              <a:rPr lang="en-US" sz="1600" dirty="0">
                <a:solidFill>
                  <a:srgbClr val="E6E6E6"/>
                </a:solidFill>
              </a:rPr>
              <a:t>/</a:t>
            </a:r>
            <a:r>
              <a:rPr lang="en-US" sz="1600" dirty="0" err="1">
                <a:solidFill>
                  <a:srgbClr val="E6E6E6"/>
                </a:solidFill>
              </a:rPr>
              <a:t>ldconfig</a:t>
            </a:r>
            <a:r>
              <a:rPr lang="en-US" sz="1600" dirty="0">
                <a:solidFill>
                  <a:srgbClr val="E6E6E6"/>
                </a:solidFill>
              </a:rPr>
              <a:t>  ---</a:t>
            </a:r>
            <a:r>
              <a:rPr lang="en-US" sz="1600" dirty="0">
                <a:solidFill>
                  <a:srgbClr val="E6E6E6"/>
                </a:solidFill>
                <a:sym typeface="Wingdings" panose="05000000000000000000" pitchFamily="2" charset="2"/>
              </a:rPr>
              <a:t> static link because cache shared library for system </a:t>
            </a:r>
          </a:p>
          <a:p>
            <a:endParaRPr lang="en-US" sz="2000" dirty="0">
              <a:sym typeface="Wingdings" panose="05000000000000000000" pitchFamily="2" charset="2"/>
            </a:endParaRPr>
          </a:p>
          <a:p>
            <a:r>
              <a:rPr lang="en-US" sz="1600" dirty="0" err="1">
                <a:solidFill>
                  <a:srgbClr val="E6E6E6"/>
                </a:solidFill>
              </a:rPr>
              <a:t>ldconfig</a:t>
            </a:r>
            <a:r>
              <a:rPr lang="en-US" sz="1600" dirty="0">
                <a:solidFill>
                  <a:srgbClr val="E6E6E6"/>
                </a:solidFill>
              </a:rPr>
              <a:t> create  </a:t>
            </a:r>
            <a:r>
              <a:rPr lang="en-US" sz="1600" dirty="0" err="1">
                <a:solidFill>
                  <a:srgbClr val="E6E6E6"/>
                </a:solidFill>
              </a:rPr>
              <a:t>ld.so.cache</a:t>
            </a:r>
            <a:endParaRPr lang="en-US" sz="2000" dirty="0"/>
          </a:p>
          <a:p>
            <a:r>
              <a:rPr lang="en-US" sz="1600" dirty="0">
                <a:solidFill>
                  <a:srgbClr val="E6E6E6"/>
                </a:solidFill>
              </a:rPr>
              <a:t>/</a:t>
            </a:r>
            <a:r>
              <a:rPr lang="en-US" sz="1600" dirty="0" err="1">
                <a:solidFill>
                  <a:srgbClr val="E6E6E6"/>
                </a:solidFill>
              </a:rPr>
              <a:t>etc</a:t>
            </a:r>
            <a:r>
              <a:rPr lang="en-US" sz="1600" dirty="0">
                <a:solidFill>
                  <a:srgbClr val="E6E6E6"/>
                </a:solidFill>
              </a:rPr>
              <a:t>/</a:t>
            </a:r>
            <a:r>
              <a:rPr lang="en-US" sz="1600" dirty="0" err="1">
                <a:solidFill>
                  <a:srgbClr val="E6E6E6"/>
                </a:solidFill>
              </a:rPr>
              <a:t>ld.conf</a:t>
            </a:r>
            <a:r>
              <a:rPr lang="en-US" sz="1600" dirty="0">
                <a:solidFill>
                  <a:srgbClr val="E6E6E6"/>
                </a:solidFill>
              </a:rPr>
              <a:t>   include /</a:t>
            </a:r>
            <a:r>
              <a:rPr lang="en-US" sz="1600" dirty="0" err="1">
                <a:solidFill>
                  <a:srgbClr val="E6E6E6"/>
                </a:solidFill>
              </a:rPr>
              <a:t>etc</a:t>
            </a:r>
            <a:r>
              <a:rPr lang="en-US" sz="1600" dirty="0">
                <a:solidFill>
                  <a:srgbClr val="E6E6E6"/>
                </a:solidFill>
              </a:rPr>
              <a:t>/</a:t>
            </a:r>
            <a:r>
              <a:rPr lang="en-US" sz="1600" dirty="0" err="1">
                <a:solidFill>
                  <a:srgbClr val="E6E6E6"/>
                </a:solidFill>
              </a:rPr>
              <a:t>ld.conf.d</a:t>
            </a:r>
            <a:r>
              <a:rPr lang="en-US" sz="1600" dirty="0">
                <a:solidFill>
                  <a:srgbClr val="E6E6E6"/>
                </a:solidFill>
              </a:rPr>
              <a:t>/*</a:t>
            </a:r>
          </a:p>
        </p:txBody>
      </p:sp>
    </p:spTree>
    <p:extLst>
      <p:ext uri="{BB962C8B-B14F-4D97-AF65-F5344CB8AC3E}">
        <p14:creationId xmlns:p14="http://schemas.microsoft.com/office/powerpoint/2010/main" val="3763719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B6B61-5B2C-DBFD-32C0-FE57C24A861D}"/>
              </a:ext>
            </a:extLst>
          </p:cNvPr>
          <p:cNvSpPr>
            <a:spLocks noGrp="1"/>
          </p:cNvSpPr>
          <p:nvPr>
            <p:ph type="title"/>
          </p:nvPr>
        </p:nvSpPr>
        <p:spPr>
          <a:xfrm>
            <a:off x="1829544" y="261257"/>
            <a:ext cx="8340824" cy="1281403"/>
          </a:xfrm>
        </p:spPr>
        <p:txBody>
          <a:bodyPr/>
          <a:lstStyle/>
          <a:p>
            <a:pPr algn="ctr"/>
            <a:r>
              <a:rPr lang="fa-IR" sz="2800" b="1" dirty="0">
                <a:solidFill>
                  <a:srgbClr val="FFFFFF"/>
                </a:solidFill>
              </a:rPr>
              <a:t>     </a:t>
            </a:r>
            <a:r>
              <a:rPr lang="en-US" sz="2800" b="1" dirty="0">
                <a:solidFill>
                  <a:srgbClr val="FFFFFF"/>
                </a:solidFill>
              </a:rPr>
              <a:t>managing process</a:t>
            </a:r>
          </a:p>
        </p:txBody>
      </p:sp>
      <p:sp>
        <p:nvSpPr>
          <p:cNvPr id="3" name="Content Placeholder 2">
            <a:extLst>
              <a:ext uri="{FF2B5EF4-FFF2-40B4-BE49-F238E27FC236}">
                <a16:creationId xmlns:a16="http://schemas.microsoft.com/office/drawing/2014/main" id="{4CD0654E-723F-9969-F4AF-62B0393F8989}"/>
              </a:ext>
            </a:extLst>
          </p:cNvPr>
          <p:cNvSpPr>
            <a:spLocks noGrp="1"/>
          </p:cNvSpPr>
          <p:nvPr>
            <p:ph idx="1"/>
          </p:nvPr>
        </p:nvSpPr>
        <p:spPr>
          <a:xfrm>
            <a:off x="1614939" y="1679509"/>
            <a:ext cx="10018713" cy="3757127"/>
          </a:xfrm>
        </p:spPr>
        <p:txBody>
          <a:bodyPr>
            <a:normAutofit/>
          </a:bodyPr>
          <a:lstStyle/>
          <a:p>
            <a:r>
              <a:rPr lang="en-US" sz="1600" dirty="0">
                <a:solidFill>
                  <a:srgbClr val="E6E6E6"/>
                </a:solidFill>
              </a:rPr>
              <a:t>What is process?</a:t>
            </a:r>
          </a:p>
          <a:p>
            <a:r>
              <a:rPr lang="en-US" sz="1600" dirty="0">
                <a:solidFill>
                  <a:srgbClr val="E6E6E6"/>
                </a:solidFill>
              </a:rPr>
              <a:t>At any given time lots of active programs are running on the Linux system. Linux calls each running program a process . The Linux system assigns each process a process ID (PID) and manages how the process uses memory and CPU time based on that PID</a:t>
            </a:r>
          </a:p>
          <a:p>
            <a:endParaRPr lang="en-US" sz="2000" dirty="0"/>
          </a:p>
          <a:p>
            <a:r>
              <a:rPr lang="en-US" sz="1600" dirty="0" err="1">
                <a:solidFill>
                  <a:srgbClr val="E6E6E6"/>
                </a:solidFill>
              </a:rPr>
              <a:t>init</a:t>
            </a:r>
            <a:r>
              <a:rPr lang="en-US" sz="1600" dirty="0">
                <a:solidFill>
                  <a:srgbClr val="E6E6E6"/>
                </a:solidFill>
              </a:rPr>
              <a:t> process? When </a:t>
            </a:r>
            <a:r>
              <a:rPr lang="en-US" sz="1600" dirty="0" err="1">
                <a:solidFill>
                  <a:srgbClr val="E6E6E6"/>
                </a:solidFill>
              </a:rPr>
              <a:t>linux</a:t>
            </a:r>
            <a:r>
              <a:rPr lang="en-US" sz="1600" dirty="0">
                <a:solidFill>
                  <a:srgbClr val="E6E6E6"/>
                </a:solidFill>
              </a:rPr>
              <a:t>  system first boots it starts process that called </a:t>
            </a:r>
            <a:r>
              <a:rPr lang="en-US" sz="1600" dirty="0" err="1">
                <a:solidFill>
                  <a:srgbClr val="E6E6E6"/>
                </a:solidFill>
              </a:rPr>
              <a:t>init</a:t>
            </a:r>
            <a:r>
              <a:rPr lang="en-US" sz="1600" dirty="0">
                <a:solidFill>
                  <a:srgbClr val="E6E6E6"/>
                </a:solidFill>
              </a:rPr>
              <a:t> process that </a:t>
            </a:r>
            <a:r>
              <a:rPr lang="en-US" sz="1600" dirty="0" err="1">
                <a:solidFill>
                  <a:srgbClr val="E6E6E6"/>
                </a:solidFill>
              </a:rPr>
              <a:t>pid</a:t>
            </a:r>
            <a:r>
              <a:rPr lang="en-US" sz="1600" dirty="0">
                <a:solidFill>
                  <a:srgbClr val="E6E6E6"/>
                </a:solidFill>
              </a:rPr>
              <a:t>=1 </a:t>
            </a:r>
          </a:p>
        </p:txBody>
      </p:sp>
    </p:spTree>
    <p:extLst>
      <p:ext uri="{BB962C8B-B14F-4D97-AF65-F5344CB8AC3E}">
        <p14:creationId xmlns:p14="http://schemas.microsoft.com/office/powerpoint/2010/main" val="10389081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9F49C-C9B4-11AB-B728-8BA4E1AE138A}"/>
              </a:ext>
            </a:extLst>
          </p:cNvPr>
          <p:cNvSpPr>
            <a:spLocks noGrp="1"/>
          </p:cNvSpPr>
          <p:nvPr>
            <p:ph type="title"/>
          </p:nvPr>
        </p:nvSpPr>
        <p:spPr>
          <a:xfrm>
            <a:off x="971128" y="270589"/>
            <a:ext cx="8555428" cy="796211"/>
          </a:xfrm>
        </p:spPr>
        <p:txBody>
          <a:bodyPr/>
          <a:lstStyle/>
          <a:p>
            <a:r>
              <a:rPr lang="en-US" sz="2800" b="1" dirty="0">
                <a:solidFill>
                  <a:srgbClr val="FFFFFF"/>
                </a:solidFill>
              </a:rPr>
              <a:t>                      process</a:t>
            </a:r>
          </a:p>
        </p:txBody>
      </p:sp>
      <p:sp>
        <p:nvSpPr>
          <p:cNvPr id="3" name="Content Placeholder 2">
            <a:extLst>
              <a:ext uri="{FF2B5EF4-FFF2-40B4-BE49-F238E27FC236}">
                <a16:creationId xmlns:a16="http://schemas.microsoft.com/office/drawing/2014/main" id="{F92693C6-CED2-8E9F-529C-DD85AF00F7D6}"/>
              </a:ext>
            </a:extLst>
          </p:cNvPr>
          <p:cNvSpPr>
            <a:spLocks noGrp="1"/>
          </p:cNvSpPr>
          <p:nvPr>
            <p:ph idx="1"/>
          </p:nvPr>
        </p:nvSpPr>
        <p:spPr>
          <a:xfrm>
            <a:off x="1586947" y="2032518"/>
            <a:ext cx="10018713" cy="3124201"/>
          </a:xfrm>
        </p:spPr>
        <p:txBody>
          <a:bodyPr>
            <a:normAutofit fontScale="92500" lnSpcReduction="20000"/>
          </a:bodyPr>
          <a:lstStyle/>
          <a:p>
            <a:r>
              <a:rPr lang="en-US" sz="1600" dirty="0" err="1">
                <a:solidFill>
                  <a:srgbClr val="E6E6E6"/>
                </a:solidFill>
              </a:rPr>
              <a:t>ps</a:t>
            </a:r>
            <a:r>
              <a:rPr lang="en-US" sz="1600" dirty="0">
                <a:solidFill>
                  <a:srgbClr val="E6E6E6"/>
                </a:solidFill>
              </a:rPr>
              <a:t>    viewing process in </a:t>
            </a:r>
            <a:r>
              <a:rPr lang="en-US" sz="1600" dirty="0" err="1">
                <a:solidFill>
                  <a:srgbClr val="E6E6E6"/>
                </a:solidFill>
              </a:rPr>
              <a:t>linux</a:t>
            </a:r>
            <a:r>
              <a:rPr lang="en-US" sz="1600" dirty="0">
                <a:solidFill>
                  <a:srgbClr val="E6E6E6"/>
                </a:solidFill>
              </a:rPr>
              <a:t> by this command</a:t>
            </a:r>
          </a:p>
          <a:p>
            <a:endParaRPr lang="en-US" sz="2000" dirty="0"/>
          </a:p>
          <a:p>
            <a:endParaRPr lang="en-US" sz="2000" dirty="0"/>
          </a:p>
          <a:p>
            <a:r>
              <a:rPr lang="en-US" sz="1600" dirty="0">
                <a:solidFill>
                  <a:srgbClr val="E6E6E6"/>
                </a:solidFill>
              </a:rPr>
              <a:t>            PID TTY TIME </a:t>
            </a:r>
          </a:p>
          <a:p>
            <a:r>
              <a:rPr lang="en-US" sz="1600" dirty="0">
                <a:solidFill>
                  <a:srgbClr val="E6E6E6"/>
                </a:solidFill>
              </a:rPr>
              <a:t>CMD 1615 pts/0 00:00:00          </a:t>
            </a:r>
          </a:p>
          <a:p>
            <a:r>
              <a:rPr lang="en-US" sz="1600" dirty="0">
                <a:solidFill>
                  <a:srgbClr val="E6E6E6"/>
                </a:solidFill>
              </a:rPr>
              <a:t>bash 1765 pts/0 00:00:00 </a:t>
            </a:r>
          </a:p>
          <a:p>
            <a:endParaRPr lang="en-US" sz="2000" dirty="0"/>
          </a:p>
          <a:p>
            <a:r>
              <a:rPr lang="en-US" sz="1600" dirty="0" err="1">
                <a:solidFill>
                  <a:srgbClr val="E6E6E6"/>
                </a:solidFill>
              </a:rPr>
              <a:t>TTY:the</a:t>
            </a:r>
            <a:r>
              <a:rPr lang="en-US" sz="1600" dirty="0">
                <a:solidFill>
                  <a:srgbClr val="E6E6E6"/>
                </a:solidFill>
              </a:rPr>
              <a:t> terminal (TTY) that they were started from and time show how much time process used </a:t>
            </a:r>
            <a:r>
              <a:rPr lang="en-US" sz="1600" dirty="0" err="1">
                <a:solidFill>
                  <a:srgbClr val="E6E6E6"/>
                </a:solidFill>
              </a:rPr>
              <a:t>cpu</a:t>
            </a:r>
            <a:endParaRPr lang="en-US" sz="2000" dirty="0"/>
          </a:p>
        </p:txBody>
      </p:sp>
    </p:spTree>
    <p:extLst>
      <p:ext uri="{BB962C8B-B14F-4D97-AF65-F5344CB8AC3E}">
        <p14:creationId xmlns:p14="http://schemas.microsoft.com/office/powerpoint/2010/main" val="1976494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D304C-D053-AED6-54C8-9D55FA209B5D}"/>
              </a:ext>
            </a:extLst>
          </p:cNvPr>
          <p:cNvSpPr>
            <a:spLocks noGrp="1"/>
          </p:cNvSpPr>
          <p:nvPr>
            <p:ph type="title"/>
          </p:nvPr>
        </p:nvSpPr>
        <p:spPr>
          <a:xfrm>
            <a:off x="1311189" y="121297"/>
            <a:ext cx="7962813" cy="640443"/>
          </a:xfrm>
        </p:spPr>
        <p:txBody>
          <a:bodyPr>
            <a:normAutofit fontScale="90000"/>
          </a:bodyPr>
          <a:lstStyle/>
          <a:p>
            <a:r>
              <a:rPr lang="en-US" sz="2800" b="1" dirty="0">
                <a:solidFill>
                  <a:srgbClr val="FFFFFF"/>
                </a:solidFill>
              </a:rPr>
              <a:t>                       </a:t>
            </a:r>
            <a:r>
              <a:rPr lang="en-US" sz="2800" b="1" dirty="0" err="1">
                <a:solidFill>
                  <a:srgbClr val="FFFFFF"/>
                </a:solidFill>
              </a:rPr>
              <a:t>ps</a:t>
            </a:r>
            <a:endParaRPr lang="en-US" dirty="0"/>
          </a:p>
        </p:txBody>
      </p:sp>
      <p:sp>
        <p:nvSpPr>
          <p:cNvPr id="3" name="Content Placeholder 2">
            <a:extLst>
              <a:ext uri="{FF2B5EF4-FFF2-40B4-BE49-F238E27FC236}">
                <a16:creationId xmlns:a16="http://schemas.microsoft.com/office/drawing/2014/main" id="{7CD2AB7E-8E63-975B-8807-E84A3D0C327C}"/>
              </a:ext>
            </a:extLst>
          </p:cNvPr>
          <p:cNvSpPr>
            <a:spLocks noGrp="1"/>
          </p:cNvSpPr>
          <p:nvPr>
            <p:ph idx="1"/>
          </p:nvPr>
        </p:nvSpPr>
        <p:spPr>
          <a:xfrm>
            <a:off x="1703702" y="1937399"/>
            <a:ext cx="8596668" cy="3880773"/>
          </a:xfrm>
        </p:spPr>
        <p:txBody>
          <a:bodyPr>
            <a:noAutofit/>
          </a:bodyPr>
          <a:lstStyle/>
          <a:p>
            <a:r>
              <a:rPr lang="en-US" sz="1600" dirty="0" err="1">
                <a:solidFill>
                  <a:srgbClr val="E6E6E6"/>
                </a:solidFill>
              </a:rPr>
              <a:t>ps</a:t>
            </a:r>
            <a:r>
              <a:rPr lang="en-US" sz="1600" dirty="0">
                <a:solidFill>
                  <a:srgbClr val="E6E6E6"/>
                </a:solidFill>
              </a:rPr>
              <a:t> -</a:t>
            </a:r>
            <a:r>
              <a:rPr lang="en-US" sz="1600" dirty="0" err="1">
                <a:solidFill>
                  <a:srgbClr val="E6E6E6"/>
                </a:solidFill>
              </a:rPr>
              <a:t>ef</a:t>
            </a:r>
            <a:r>
              <a:rPr lang="en-US" sz="1600" dirty="0">
                <a:solidFill>
                  <a:srgbClr val="E6E6E6"/>
                </a:solidFill>
              </a:rPr>
              <a:t> show every process in </a:t>
            </a:r>
            <a:r>
              <a:rPr lang="en-US" sz="1600" dirty="0" err="1">
                <a:solidFill>
                  <a:srgbClr val="E6E6E6"/>
                </a:solidFill>
              </a:rPr>
              <a:t>linux</a:t>
            </a:r>
            <a:r>
              <a:rPr lang="en-US" sz="1600" dirty="0">
                <a:solidFill>
                  <a:srgbClr val="E6E6E6"/>
                </a:solidFill>
              </a:rPr>
              <a:t> with </a:t>
            </a:r>
            <a:r>
              <a:rPr lang="en-US" sz="1600" dirty="0" err="1">
                <a:solidFill>
                  <a:srgbClr val="E6E6E6"/>
                </a:solidFill>
              </a:rPr>
              <a:t>uid</a:t>
            </a:r>
            <a:endParaRPr lang="en-US" sz="2000" dirty="0"/>
          </a:p>
          <a:p>
            <a:r>
              <a:rPr lang="en-US" sz="1600" dirty="0" err="1">
                <a:solidFill>
                  <a:srgbClr val="E6E6E6"/>
                </a:solidFill>
              </a:rPr>
              <a:t>ps</a:t>
            </a:r>
            <a:r>
              <a:rPr lang="en-US" sz="1600" dirty="0">
                <a:solidFill>
                  <a:srgbClr val="E6E6E6"/>
                </a:solidFill>
              </a:rPr>
              <a:t> –aux    as the as above command with more detail and </a:t>
            </a:r>
            <a:r>
              <a:rPr lang="en-US" sz="1600" dirty="0" err="1">
                <a:solidFill>
                  <a:srgbClr val="E6E6E6"/>
                </a:solidFill>
              </a:rPr>
              <a:t>outpout</a:t>
            </a:r>
            <a:r>
              <a:rPr lang="en-US" sz="1600" dirty="0">
                <a:solidFill>
                  <a:srgbClr val="E6E6E6"/>
                </a:solidFill>
              </a:rPr>
              <a:t> format</a:t>
            </a:r>
          </a:p>
          <a:p>
            <a:endParaRPr lang="en-US" sz="2000" dirty="0"/>
          </a:p>
          <a:p>
            <a:r>
              <a:rPr lang="en-US" sz="1600" dirty="0" err="1">
                <a:solidFill>
                  <a:srgbClr val="E6E6E6"/>
                </a:solidFill>
              </a:rPr>
              <a:t>Uid</a:t>
            </a:r>
            <a:r>
              <a:rPr lang="en-US" sz="1600" dirty="0">
                <a:solidFill>
                  <a:srgbClr val="E6E6E6"/>
                </a:solidFill>
              </a:rPr>
              <a:t> means </a:t>
            </a:r>
            <a:r>
              <a:rPr lang="en-US" sz="1600" dirty="0" err="1">
                <a:solidFill>
                  <a:srgbClr val="E6E6E6"/>
                </a:solidFill>
              </a:rPr>
              <a:t>wich</a:t>
            </a:r>
            <a:r>
              <a:rPr lang="en-US" sz="1600" dirty="0">
                <a:solidFill>
                  <a:srgbClr val="E6E6E6"/>
                </a:solidFill>
              </a:rPr>
              <a:t> user responsible for this process</a:t>
            </a:r>
          </a:p>
          <a:p>
            <a:r>
              <a:rPr lang="en-US" sz="1600" dirty="0">
                <a:solidFill>
                  <a:srgbClr val="E6E6E6"/>
                </a:solidFill>
              </a:rPr>
              <a:t>PID process id </a:t>
            </a:r>
          </a:p>
          <a:p>
            <a:endParaRPr lang="en-US" sz="2000" dirty="0"/>
          </a:p>
          <a:p>
            <a:r>
              <a:rPr lang="en-US" sz="1600" dirty="0">
                <a:solidFill>
                  <a:srgbClr val="E6E6E6"/>
                </a:solidFill>
              </a:rPr>
              <a:t>PPID parent process id means this process started with other process</a:t>
            </a:r>
          </a:p>
          <a:p>
            <a:r>
              <a:rPr lang="en-US" sz="1600" dirty="0">
                <a:solidFill>
                  <a:srgbClr val="E6E6E6"/>
                </a:solidFill>
              </a:rPr>
              <a:t>C: The processor utilization over the lifetime of the process </a:t>
            </a:r>
          </a:p>
          <a:p>
            <a:r>
              <a:rPr lang="en-US" sz="1600" dirty="0">
                <a:solidFill>
                  <a:srgbClr val="E6E6E6"/>
                </a:solidFill>
              </a:rPr>
              <a:t>■ STIME: The system time when the process was started ■ </a:t>
            </a:r>
          </a:p>
          <a:p>
            <a:r>
              <a:rPr lang="en-US" sz="1600" dirty="0">
                <a:solidFill>
                  <a:srgbClr val="E6E6E6"/>
                </a:solidFill>
              </a:rPr>
              <a:t> ■ TIME: The cumulative CPU time required to run the process </a:t>
            </a:r>
          </a:p>
          <a:p>
            <a:r>
              <a:rPr lang="en-US" sz="1600" dirty="0">
                <a:solidFill>
                  <a:srgbClr val="E6E6E6"/>
                </a:solidFill>
              </a:rPr>
              <a:t>■ CMD: The name of the program that was started in the process</a:t>
            </a:r>
          </a:p>
        </p:txBody>
      </p:sp>
    </p:spTree>
    <p:extLst>
      <p:ext uri="{BB962C8B-B14F-4D97-AF65-F5344CB8AC3E}">
        <p14:creationId xmlns:p14="http://schemas.microsoft.com/office/powerpoint/2010/main" val="38309993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4515A-0AAB-145B-7303-B703BDA56D95}"/>
              </a:ext>
            </a:extLst>
          </p:cNvPr>
          <p:cNvSpPr>
            <a:spLocks noGrp="1"/>
          </p:cNvSpPr>
          <p:nvPr>
            <p:ph type="title"/>
          </p:nvPr>
        </p:nvSpPr>
        <p:spPr>
          <a:xfrm>
            <a:off x="1307030" y="177282"/>
            <a:ext cx="8340824" cy="992154"/>
          </a:xfrm>
        </p:spPr>
        <p:txBody>
          <a:bodyPr/>
          <a:lstStyle/>
          <a:p>
            <a:r>
              <a:rPr lang="en-US" sz="2800" b="1" dirty="0">
                <a:solidFill>
                  <a:srgbClr val="FFFFFF"/>
                </a:solidFill>
              </a:rPr>
              <a:t>                  process cycle</a:t>
            </a:r>
          </a:p>
        </p:txBody>
      </p:sp>
      <p:pic>
        <p:nvPicPr>
          <p:cNvPr id="5" name="Content Placeholder 4">
            <a:extLst>
              <a:ext uri="{FF2B5EF4-FFF2-40B4-BE49-F238E27FC236}">
                <a16:creationId xmlns:a16="http://schemas.microsoft.com/office/drawing/2014/main" id="{40F886C9-21EA-DD73-4EC5-C83DFE7A66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7386" y="2574212"/>
            <a:ext cx="7313070" cy="3255396"/>
          </a:xfrm>
        </p:spPr>
      </p:pic>
    </p:spTree>
    <p:extLst>
      <p:ext uri="{BB962C8B-B14F-4D97-AF65-F5344CB8AC3E}">
        <p14:creationId xmlns:p14="http://schemas.microsoft.com/office/powerpoint/2010/main" val="4025473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C32DA-BE67-13E2-7FD6-9840D1F17BA9}"/>
              </a:ext>
            </a:extLst>
          </p:cNvPr>
          <p:cNvSpPr>
            <a:spLocks noGrp="1"/>
          </p:cNvSpPr>
          <p:nvPr>
            <p:ph type="title"/>
          </p:nvPr>
        </p:nvSpPr>
        <p:spPr>
          <a:xfrm>
            <a:off x="793846" y="214604"/>
            <a:ext cx="9124595" cy="992154"/>
          </a:xfrm>
        </p:spPr>
        <p:txBody>
          <a:bodyPr>
            <a:normAutofit/>
          </a:bodyPr>
          <a:lstStyle/>
          <a:p>
            <a:r>
              <a:rPr lang="en-US" sz="2800" b="1" dirty="0">
                <a:solidFill>
                  <a:srgbClr val="FFFFFF"/>
                </a:solidFill>
              </a:rPr>
              <a:t>               type of sleep process </a:t>
            </a:r>
          </a:p>
        </p:txBody>
      </p:sp>
      <p:sp>
        <p:nvSpPr>
          <p:cNvPr id="3" name="Content Placeholder 2">
            <a:extLst>
              <a:ext uri="{FF2B5EF4-FFF2-40B4-BE49-F238E27FC236}">
                <a16:creationId xmlns:a16="http://schemas.microsoft.com/office/drawing/2014/main" id="{B3F49D9E-E063-A26E-95DD-048DBD78149F}"/>
              </a:ext>
            </a:extLst>
          </p:cNvPr>
          <p:cNvSpPr>
            <a:spLocks noGrp="1"/>
          </p:cNvSpPr>
          <p:nvPr>
            <p:ph idx="1"/>
          </p:nvPr>
        </p:nvSpPr>
        <p:spPr/>
        <p:txBody>
          <a:bodyPr>
            <a:normAutofit/>
          </a:bodyPr>
          <a:lstStyle/>
          <a:p>
            <a:r>
              <a:rPr lang="en-US" sz="1600" dirty="0">
                <a:solidFill>
                  <a:srgbClr val="E6E6E6"/>
                </a:solidFill>
              </a:rPr>
              <a:t>Interruptible:  process </a:t>
            </a:r>
            <a:r>
              <a:rPr lang="en-US" sz="1600" dirty="0" err="1">
                <a:solidFill>
                  <a:srgbClr val="E6E6E6"/>
                </a:solidFill>
              </a:rPr>
              <a:t>wating</a:t>
            </a:r>
            <a:r>
              <a:rPr lang="en-US" sz="1600" dirty="0">
                <a:solidFill>
                  <a:srgbClr val="E6E6E6"/>
                </a:solidFill>
              </a:rPr>
              <a:t> for I/O operation to complete such reading or writing to a </a:t>
            </a:r>
            <a:r>
              <a:rPr lang="en-US" sz="1600" dirty="0" err="1">
                <a:solidFill>
                  <a:srgbClr val="E6E6E6"/>
                </a:solidFill>
              </a:rPr>
              <a:t>file.the</a:t>
            </a:r>
            <a:r>
              <a:rPr lang="en-US" sz="1600" dirty="0">
                <a:solidFill>
                  <a:srgbClr val="E6E6E6"/>
                </a:solidFill>
              </a:rPr>
              <a:t> process be woken up by a signal or event.</a:t>
            </a:r>
          </a:p>
          <a:p>
            <a:endParaRPr lang="en-US" sz="2000" dirty="0"/>
          </a:p>
          <a:p>
            <a:pPr marL="0" indent="0">
              <a:buNone/>
            </a:pPr>
            <a:endParaRPr lang="en-US" sz="2000" dirty="0"/>
          </a:p>
          <a:p>
            <a:endParaRPr lang="en-US" sz="2000" dirty="0"/>
          </a:p>
          <a:p>
            <a:r>
              <a:rPr lang="en-US" sz="1600" dirty="0">
                <a:solidFill>
                  <a:srgbClr val="E6E6E6"/>
                </a:solidFill>
              </a:rPr>
              <a:t>Uninterruptible: process waiting for some hardware resource </a:t>
            </a:r>
            <a:r>
              <a:rPr lang="en-US" sz="1600" dirty="0" err="1">
                <a:solidFill>
                  <a:srgbClr val="E6E6E6"/>
                </a:solidFill>
              </a:rPr>
              <a:t>availbe</a:t>
            </a:r>
            <a:endParaRPr lang="en-US" sz="2000" dirty="0"/>
          </a:p>
          <a:p>
            <a:pPr marL="0" indent="0">
              <a:buNone/>
            </a:pPr>
            <a:r>
              <a:rPr lang="en-US" sz="1600" dirty="0">
                <a:solidFill>
                  <a:srgbClr val="E6E6E6"/>
                </a:solidFill>
              </a:rPr>
              <a:t>Such as disk and network and cannot woken by signal</a:t>
            </a:r>
          </a:p>
        </p:txBody>
      </p:sp>
    </p:spTree>
    <p:extLst>
      <p:ext uri="{BB962C8B-B14F-4D97-AF65-F5344CB8AC3E}">
        <p14:creationId xmlns:p14="http://schemas.microsoft.com/office/powerpoint/2010/main" val="13977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BC90E-BFDA-879F-FCB5-DDE4624F951D}"/>
              </a:ext>
            </a:extLst>
          </p:cNvPr>
          <p:cNvSpPr>
            <a:spLocks noGrp="1"/>
          </p:cNvSpPr>
          <p:nvPr>
            <p:ph type="title"/>
          </p:nvPr>
        </p:nvSpPr>
        <p:spPr>
          <a:xfrm>
            <a:off x="1083096" y="326572"/>
            <a:ext cx="8219526" cy="1104121"/>
          </a:xfrm>
        </p:spPr>
        <p:txBody>
          <a:bodyPr/>
          <a:lstStyle/>
          <a:p>
            <a:r>
              <a:rPr lang="en-US" sz="2800" b="1" dirty="0">
                <a:solidFill>
                  <a:srgbClr val="FFFFFF"/>
                </a:solidFill>
              </a:rPr>
              <a:t>                    zombie</a:t>
            </a:r>
          </a:p>
        </p:txBody>
      </p:sp>
      <p:sp>
        <p:nvSpPr>
          <p:cNvPr id="3" name="Content Placeholder 2">
            <a:extLst>
              <a:ext uri="{FF2B5EF4-FFF2-40B4-BE49-F238E27FC236}">
                <a16:creationId xmlns:a16="http://schemas.microsoft.com/office/drawing/2014/main" id="{A64D8C28-98E5-BAD3-4522-AF696AD30364}"/>
              </a:ext>
            </a:extLst>
          </p:cNvPr>
          <p:cNvSpPr>
            <a:spLocks noGrp="1"/>
          </p:cNvSpPr>
          <p:nvPr>
            <p:ph idx="1"/>
          </p:nvPr>
        </p:nvSpPr>
        <p:spPr/>
        <p:txBody>
          <a:bodyPr>
            <a:normAutofit lnSpcReduction="10000"/>
          </a:bodyPr>
          <a:lstStyle/>
          <a:p>
            <a:r>
              <a:rPr lang="en-US" sz="1600" dirty="0">
                <a:solidFill>
                  <a:srgbClr val="E6E6E6"/>
                </a:solidFill>
              </a:rPr>
              <a:t>If a process has ended but its parent process hasn’t acknowledged the termination signal because it’s sleeping, the process is considered a zombie.</a:t>
            </a:r>
          </a:p>
          <a:p>
            <a:r>
              <a:rPr lang="en-US" sz="1600" dirty="0">
                <a:solidFill>
                  <a:srgbClr val="E6E6E6"/>
                </a:solidFill>
              </a:rPr>
              <a:t> limbo: state between running and terminating until the parent process acknowledges the termination signal.</a:t>
            </a:r>
          </a:p>
          <a:p>
            <a:endParaRPr lang="en-US" sz="2000" dirty="0"/>
          </a:p>
          <a:p>
            <a:r>
              <a:rPr lang="en-US" sz="1600" dirty="0">
                <a:solidFill>
                  <a:srgbClr val="E6E6E6"/>
                </a:solidFill>
              </a:rPr>
              <a:t>Kill -9     kill process immediately and don’t allow end task </a:t>
            </a:r>
          </a:p>
          <a:p>
            <a:endParaRPr lang="en-US" sz="2000" dirty="0"/>
          </a:p>
          <a:p>
            <a:r>
              <a:rPr lang="en-US" sz="1600" dirty="0">
                <a:solidFill>
                  <a:srgbClr val="E6E6E6"/>
                </a:solidFill>
              </a:rPr>
              <a:t>Kill -15   terminate and allow to process to end task</a:t>
            </a:r>
          </a:p>
        </p:txBody>
      </p:sp>
    </p:spTree>
    <p:extLst>
      <p:ext uri="{BB962C8B-B14F-4D97-AF65-F5344CB8AC3E}">
        <p14:creationId xmlns:p14="http://schemas.microsoft.com/office/powerpoint/2010/main" val="40691632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78146-0C69-4C86-00D8-AFB8C624FF1B}"/>
              </a:ext>
            </a:extLst>
          </p:cNvPr>
          <p:cNvSpPr>
            <a:spLocks noGrp="1"/>
          </p:cNvSpPr>
          <p:nvPr>
            <p:ph type="title"/>
          </p:nvPr>
        </p:nvSpPr>
        <p:spPr>
          <a:xfrm>
            <a:off x="859160" y="233265"/>
            <a:ext cx="8667395" cy="740228"/>
          </a:xfrm>
        </p:spPr>
        <p:txBody>
          <a:bodyPr/>
          <a:lstStyle/>
          <a:p>
            <a:r>
              <a:rPr lang="en-US" sz="2800" b="1" dirty="0">
                <a:solidFill>
                  <a:srgbClr val="FFFFFF"/>
                </a:solidFill>
              </a:rPr>
              <a:t>                      top </a:t>
            </a:r>
          </a:p>
        </p:txBody>
      </p:sp>
      <p:sp>
        <p:nvSpPr>
          <p:cNvPr id="3" name="Content Placeholder 2">
            <a:extLst>
              <a:ext uri="{FF2B5EF4-FFF2-40B4-BE49-F238E27FC236}">
                <a16:creationId xmlns:a16="http://schemas.microsoft.com/office/drawing/2014/main" id="{1FB699AC-93A9-64E0-B4C8-77D322F512C4}"/>
              </a:ext>
            </a:extLst>
          </p:cNvPr>
          <p:cNvSpPr>
            <a:spLocks noGrp="1"/>
          </p:cNvSpPr>
          <p:nvPr>
            <p:ph idx="1"/>
          </p:nvPr>
        </p:nvSpPr>
        <p:spPr/>
        <p:txBody>
          <a:bodyPr>
            <a:normAutofit fontScale="85000" lnSpcReduction="20000"/>
          </a:bodyPr>
          <a:lstStyle/>
          <a:p>
            <a:r>
              <a:rPr lang="en-US" sz="1600" dirty="0">
                <a:solidFill>
                  <a:srgbClr val="E6E6E6"/>
                </a:solidFill>
              </a:rPr>
              <a:t>top better used </a:t>
            </a:r>
            <a:r>
              <a:rPr lang="en-US" sz="1600" dirty="0" err="1">
                <a:solidFill>
                  <a:srgbClr val="E6E6E6"/>
                </a:solidFill>
              </a:rPr>
              <a:t>htop</a:t>
            </a:r>
            <a:endParaRPr lang="en-US" sz="2000" dirty="0"/>
          </a:p>
          <a:p>
            <a:pPr marL="0" indent="0">
              <a:buNone/>
            </a:pPr>
            <a:r>
              <a:rPr lang="en-US" sz="1600" dirty="0">
                <a:solidFill>
                  <a:srgbClr val="E6E6E6"/>
                </a:solidFill>
              </a:rPr>
              <a:t>This command used for monitoring process used </a:t>
            </a:r>
            <a:r>
              <a:rPr lang="en-US" sz="1600" dirty="0" err="1">
                <a:solidFill>
                  <a:srgbClr val="E6E6E6"/>
                </a:solidFill>
              </a:rPr>
              <a:t>memory,cpu</a:t>
            </a:r>
            <a:r>
              <a:rPr lang="en-US" sz="1600" dirty="0">
                <a:solidFill>
                  <a:srgbClr val="E6E6E6"/>
                </a:solidFill>
              </a:rPr>
              <a:t>……</a:t>
            </a:r>
          </a:p>
          <a:p>
            <a:pPr marL="0" indent="0">
              <a:buNone/>
            </a:pPr>
            <a:endParaRPr lang="en-US" sz="2000" dirty="0"/>
          </a:p>
          <a:p>
            <a:pPr marL="0" indent="0">
              <a:buNone/>
            </a:pPr>
            <a:r>
              <a:rPr lang="en-US" sz="1600" dirty="0">
                <a:solidFill>
                  <a:srgbClr val="E6E6E6"/>
                </a:solidFill>
              </a:rPr>
              <a:t>load average in 1minute 5minute 15minute   </a:t>
            </a:r>
          </a:p>
          <a:p>
            <a:pPr marL="0" indent="0">
              <a:buNone/>
            </a:pPr>
            <a:r>
              <a:rPr lang="en-US" sz="1600" dirty="0">
                <a:solidFill>
                  <a:srgbClr val="E6E6E6"/>
                </a:solidFill>
              </a:rPr>
              <a:t> if </a:t>
            </a:r>
            <a:r>
              <a:rPr lang="en-US" sz="1600" dirty="0" err="1">
                <a:solidFill>
                  <a:srgbClr val="E6E6E6"/>
                </a:solidFill>
              </a:rPr>
              <a:t>cpu</a:t>
            </a:r>
            <a:r>
              <a:rPr lang="en-US" sz="1600" dirty="0">
                <a:solidFill>
                  <a:srgbClr val="E6E6E6"/>
                </a:solidFill>
              </a:rPr>
              <a:t> core &lt; load average means system is not good situation </a:t>
            </a:r>
          </a:p>
          <a:p>
            <a:pPr marL="0" indent="0">
              <a:buNone/>
            </a:pPr>
            <a:r>
              <a:rPr lang="en-US" sz="1600" dirty="0">
                <a:solidFill>
                  <a:srgbClr val="E6E6E6"/>
                </a:solidFill>
              </a:rPr>
              <a:t>Uptime :means how much time server is up </a:t>
            </a:r>
          </a:p>
          <a:p>
            <a:pPr marL="0" indent="0">
              <a:buNone/>
            </a:pPr>
            <a:r>
              <a:rPr lang="en-US" sz="1600" dirty="0">
                <a:solidFill>
                  <a:srgbClr val="E6E6E6"/>
                </a:solidFill>
              </a:rPr>
              <a:t>watch each 2s show </a:t>
            </a:r>
          </a:p>
          <a:p>
            <a:pPr marL="0" indent="0">
              <a:buNone/>
            </a:pPr>
            <a:endParaRPr lang="en-US" sz="2000" dirty="0"/>
          </a:p>
          <a:p>
            <a:pPr marL="0" indent="0">
              <a:buNone/>
            </a:pPr>
            <a:r>
              <a:rPr lang="en-US" sz="1600" dirty="0">
                <a:solidFill>
                  <a:srgbClr val="E6E6E6"/>
                </a:solidFill>
              </a:rPr>
              <a:t>free –h   show how much memory used in server </a:t>
            </a:r>
          </a:p>
        </p:txBody>
      </p:sp>
    </p:spTree>
    <p:extLst>
      <p:ext uri="{BB962C8B-B14F-4D97-AF65-F5344CB8AC3E}">
        <p14:creationId xmlns:p14="http://schemas.microsoft.com/office/powerpoint/2010/main" val="18103444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C0F96-1784-773F-A52D-D68FB88BC8B5}"/>
              </a:ext>
            </a:extLst>
          </p:cNvPr>
          <p:cNvSpPr>
            <a:spLocks noGrp="1"/>
          </p:cNvSpPr>
          <p:nvPr>
            <p:ph type="title"/>
          </p:nvPr>
        </p:nvSpPr>
        <p:spPr>
          <a:xfrm>
            <a:off x="1325691" y="177282"/>
            <a:ext cx="9040620" cy="1178766"/>
          </a:xfrm>
        </p:spPr>
        <p:txBody>
          <a:bodyPr>
            <a:normAutofit/>
          </a:bodyPr>
          <a:lstStyle/>
          <a:p>
            <a:r>
              <a:rPr lang="en-US" sz="2800" b="1" dirty="0">
                <a:solidFill>
                  <a:srgbClr val="FFFFFF"/>
                </a:solidFill>
              </a:rPr>
              <a:t>           foreground and background</a:t>
            </a:r>
          </a:p>
        </p:txBody>
      </p:sp>
      <p:sp>
        <p:nvSpPr>
          <p:cNvPr id="3" name="Content Placeholder 2">
            <a:extLst>
              <a:ext uri="{FF2B5EF4-FFF2-40B4-BE49-F238E27FC236}">
                <a16:creationId xmlns:a16="http://schemas.microsoft.com/office/drawing/2014/main" id="{264E8659-CF2B-48B9-CFA1-915FC0BF1E5D}"/>
              </a:ext>
            </a:extLst>
          </p:cNvPr>
          <p:cNvSpPr>
            <a:spLocks noGrp="1"/>
          </p:cNvSpPr>
          <p:nvPr>
            <p:ph idx="1"/>
          </p:nvPr>
        </p:nvSpPr>
        <p:spPr/>
        <p:txBody>
          <a:bodyPr>
            <a:normAutofit lnSpcReduction="10000"/>
          </a:bodyPr>
          <a:lstStyle/>
          <a:p>
            <a:r>
              <a:rPr lang="en-US" sz="1600" dirty="0">
                <a:solidFill>
                  <a:srgbClr val="E6E6E6"/>
                </a:solidFill>
              </a:rPr>
              <a:t>Some process take long time for example</a:t>
            </a:r>
          </a:p>
          <a:p>
            <a:pPr marL="0" indent="0">
              <a:buNone/>
            </a:pPr>
            <a:endParaRPr lang="en-US" sz="2000" dirty="0"/>
          </a:p>
          <a:p>
            <a:pPr marL="0" indent="0">
              <a:buNone/>
            </a:pPr>
            <a:r>
              <a:rPr lang="en-US" sz="1600" dirty="0">
                <a:solidFill>
                  <a:srgbClr val="E6E6E6"/>
                </a:solidFill>
              </a:rPr>
              <a:t>Dump from </a:t>
            </a:r>
            <a:r>
              <a:rPr lang="en-US" sz="1600" dirty="0" err="1">
                <a:solidFill>
                  <a:srgbClr val="E6E6E6"/>
                </a:solidFill>
              </a:rPr>
              <a:t>mysql</a:t>
            </a:r>
            <a:r>
              <a:rPr lang="en-US" sz="1600" dirty="0">
                <a:solidFill>
                  <a:srgbClr val="E6E6E6"/>
                </a:solidFill>
              </a:rPr>
              <a:t> databases</a:t>
            </a:r>
          </a:p>
          <a:p>
            <a:pPr marL="0" indent="0">
              <a:buNone/>
            </a:pPr>
            <a:endParaRPr lang="en-US" sz="2000" dirty="0"/>
          </a:p>
          <a:p>
            <a:pPr marL="0" indent="0">
              <a:buNone/>
            </a:pPr>
            <a:r>
              <a:rPr lang="en-US" sz="1600" dirty="0">
                <a:solidFill>
                  <a:srgbClr val="E6E6E6"/>
                </a:solidFill>
              </a:rPr>
              <a:t>Solution is </a:t>
            </a:r>
            <a:r>
              <a:rPr lang="en-US" sz="1600" dirty="0" err="1">
                <a:solidFill>
                  <a:srgbClr val="E6E6E6"/>
                </a:solidFill>
              </a:rPr>
              <a:t>bg</a:t>
            </a:r>
            <a:r>
              <a:rPr lang="en-US" sz="1600" dirty="0">
                <a:solidFill>
                  <a:srgbClr val="E6E6E6"/>
                </a:solidFill>
              </a:rPr>
              <a:t> (background)</a:t>
            </a:r>
          </a:p>
          <a:p>
            <a:pPr marL="0" indent="0">
              <a:buNone/>
            </a:pPr>
            <a:endParaRPr lang="en-US" sz="2000" dirty="0"/>
          </a:p>
          <a:p>
            <a:pPr marL="0" indent="0">
              <a:buNone/>
            </a:pPr>
            <a:r>
              <a:rPr lang="en-US" sz="1600" dirty="0">
                <a:solidFill>
                  <a:srgbClr val="E6E6E6"/>
                </a:solidFill>
              </a:rPr>
              <a:t>Jobs : This utility allows you to see any processes that belong to you that are running in background mode</a:t>
            </a:r>
          </a:p>
        </p:txBody>
      </p:sp>
    </p:spTree>
    <p:extLst>
      <p:ext uri="{BB962C8B-B14F-4D97-AF65-F5344CB8AC3E}">
        <p14:creationId xmlns:p14="http://schemas.microsoft.com/office/powerpoint/2010/main" val="16294652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24297-698E-C417-D872-7B8FB2F4A83F}"/>
              </a:ext>
            </a:extLst>
          </p:cNvPr>
          <p:cNvSpPr>
            <a:spLocks noGrp="1"/>
          </p:cNvSpPr>
          <p:nvPr>
            <p:ph type="title"/>
          </p:nvPr>
        </p:nvSpPr>
        <p:spPr>
          <a:xfrm>
            <a:off x="1400336" y="101326"/>
            <a:ext cx="8596668" cy="945501"/>
          </a:xfrm>
        </p:spPr>
        <p:txBody>
          <a:bodyPr>
            <a:normAutofit/>
          </a:bodyPr>
          <a:lstStyle/>
          <a:p>
            <a:r>
              <a:rPr lang="en-US" sz="2800" b="1" dirty="0">
                <a:solidFill>
                  <a:srgbClr val="FFFFFF"/>
                </a:solidFill>
              </a:rPr>
              <a:t>           foreground and background</a:t>
            </a:r>
          </a:p>
        </p:txBody>
      </p:sp>
      <p:sp>
        <p:nvSpPr>
          <p:cNvPr id="3" name="Content Placeholder 2">
            <a:extLst>
              <a:ext uri="{FF2B5EF4-FFF2-40B4-BE49-F238E27FC236}">
                <a16:creationId xmlns:a16="http://schemas.microsoft.com/office/drawing/2014/main" id="{2A1699E0-0B41-1F71-C53D-8D4600080C23}"/>
              </a:ext>
            </a:extLst>
          </p:cNvPr>
          <p:cNvSpPr>
            <a:spLocks noGrp="1"/>
          </p:cNvSpPr>
          <p:nvPr>
            <p:ph idx="1"/>
          </p:nvPr>
        </p:nvSpPr>
        <p:spPr>
          <a:xfrm>
            <a:off x="1797666" y="1911739"/>
            <a:ext cx="8596668" cy="3880773"/>
          </a:xfrm>
        </p:spPr>
        <p:txBody>
          <a:bodyPr>
            <a:noAutofit/>
          </a:bodyPr>
          <a:lstStyle/>
          <a:p>
            <a:r>
              <a:rPr lang="en-US" sz="1600" dirty="0" err="1">
                <a:solidFill>
                  <a:srgbClr val="E6E6E6"/>
                </a:solidFill>
              </a:rPr>
              <a:t>fg</a:t>
            </a:r>
            <a:r>
              <a:rPr lang="en-US" sz="1600" dirty="0">
                <a:solidFill>
                  <a:srgbClr val="E6E6E6"/>
                </a:solidFill>
              </a:rPr>
              <a:t>(foreground)   </a:t>
            </a:r>
            <a:r>
              <a:rPr lang="en-US" sz="1600" dirty="0" err="1">
                <a:solidFill>
                  <a:srgbClr val="E6E6E6"/>
                </a:solidFill>
              </a:rPr>
              <a:t>fg</a:t>
            </a:r>
            <a:r>
              <a:rPr lang="en-US" sz="1600" dirty="0">
                <a:solidFill>
                  <a:srgbClr val="E6E6E6"/>
                </a:solidFill>
              </a:rPr>
              <a:t> %number of job  take job from </a:t>
            </a:r>
            <a:r>
              <a:rPr lang="en-US" sz="1600" dirty="0" err="1">
                <a:solidFill>
                  <a:srgbClr val="E6E6E6"/>
                </a:solidFill>
              </a:rPr>
              <a:t>bg</a:t>
            </a:r>
            <a:r>
              <a:rPr lang="en-US" sz="1600" dirty="0">
                <a:solidFill>
                  <a:srgbClr val="E6E6E6"/>
                </a:solidFill>
              </a:rPr>
              <a:t> to </a:t>
            </a:r>
            <a:r>
              <a:rPr lang="en-US" sz="1600" dirty="0" err="1">
                <a:solidFill>
                  <a:srgbClr val="E6E6E6"/>
                </a:solidFill>
              </a:rPr>
              <a:t>fg</a:t>
            </a:r>
            <a:endParaRPr lang="en-US" sz="2000" dirty="0"/>
          </a:p>
          <a:p>
            <a:endParaRPr lang="en-US" sz="2000" dirty="0"/>
          </a:p>
          <a:p>
            <a:r>
              <a:rPr lang="en-US" sz="1600" dirty="0">
                <a:solidFill>
                  <a:srgbClr val="E6E6E6"/>
                </a:solidFill>
              </a:rPr>
              <a:t>jobs –ls   + top  priority</a:t>
            </a:r>
          </a:p>
          <a:p>
            <a:r>
              <a:rPr lang="en-US" sz="1600" dirty="0">
                <a:solidFill>
                  <a:srgbClr val="E6E6E6"/>
                </a:solidFill>
              </a:rPr>
              <a:t>                   </a:t>
            </a:r>
            <a:r>
              <a:rPr lang="en-US" sz="1600" dirty="0" err="1">
                <a:solidFill>
                  <a:srgbClr val="E6E6E6"/>
                </a:solidFill>
              </a:rPr>
              <a:t>ctrl+c</a:t>
            </a:r>
            <a:r>
              <a:rPr lang="en-US" sz="1600" dirty="0">
                <a:solidFill>
                  <a:srgbClr val="E6E6E6"/>
                </a:solidFill>
              </a:rPr>
              <a:t> --</a:t>
            </a:r>
            <a:r>
              <a:rPr lang="en-US" sz="1600" dirty="0">
                <a:solidFill>
                  <a:srgbClr val="E6E6E6"/>
                </a:solidFill>
                <a:sym typeface="Wingdings" panose="05000000000000000000" pitchFamily="2" charset="2"/>
              </a:rPr>
              <a:t>cancel                      </a:t>
            </a:r>
            <a:r>
              <a:rPr lang="en-US" sz="1600" dirty="0" err="1">
                <a:solidFill>
                  <a:srgbClr val="E6E6E6"/>
                </a:solidFill>
                <a:sym typeface="Wingdings" panose="05000000000000000000" pitchFamily="2" charset="2"/>
              </a:rPr>
              <a:t>ctrl+zstopped</a:t>
            </a:r>
            <a:endParaRPr lang="en-US" sz="2000" dirty="0"/>
          </a:p>
          <a:p>
            <a:endParaRPr lang="en-US" sz="2000" dirty="0"/>
          </a:p>
          <a:p>
            <a:r>
              <a:rPr lang="en-US" sz="1600" dirty="0">
                <a:solidFill>
                  <a:srgbClr val="E6E6E6"/>
                </a:solidFill>
              </a:rPr>
              <a:t> </a:t>
            </a:r>
            <a:r>
              <a:rPr lang="en-US" sz="1600" dirty="0" err="1">
                <a:solidFill>
                  <a:srgbClr val="E6E6E6"/>
                </a:solidFill>
              </a:rPr>
              <a:t>bg</a:t>
            </a:r>
            <a:r>
              <a:rPr lang="en-US" sz="1600" dirty="0">
                <a:solidFill>
                  <a:srgbClr val="E6E6E6"/>
                </a:solidFill>
              </a:rPr>
              <a:t> % number of job   take job from </a:t>
            </a:r>
            <a:r>
              <a:rPr lang="en-US" sz="1600" dirty="0" err="1">
                <a:solidFill>
                  <a:srgbClr val="E6E6E6"/>
                </a:solidFill>
              </a:rPr>
              <a:t>fg</a:t>
            </a:r>
            <a:r>
              <a:rPr lang="en-US" sz="1600" dirty="0">
                <a:solidFill>
                  <a:srgbClr val="E6E6E6"/>
                </a:solidFill>
              </a:rPr>
              <a:t> to </a:t>
            </a:r>
            <a:r>
              <a:rPr lang="en-US" sz="1600" dirty="0" err="1">
                <a:solidFill>
                  <a:srgbClr val="E6E6E6"/>
                </a:solidFill>
              </a:rPr>
              <a:t>bg</a:t>
            </a:r>
            <a:endParaRPr lang="en-US" sz="2000" dirty="0"/>
          </a:p>
          <a:p>
            <a:endParaRPr lang="en-US" sz="2000" dirty="0"/>
          </a:p>
          <a:p>
            <a:pPr marL="0" indent="0">
              <a:buNone/>
            </a:pPr>
            <a:r>
              <a:rPr lang="en-US" sz="1600" dirty="0">
                <a:solidFill>
                  <a:srgbClr val="E6E6E6"/>
                </a:solidFill>
              </a:rPr>
              <a:t> </a:t>
            </a:r>
            <a:r>
              <a:rPr lang="en-US" sz="1600" dirty="0" err="1">
                <a:solidFill>
                  <a:srgbClr val="E6E6E6"/>
                </a:solidFill>
              </a:rPr>
              <a:t>nohup</a:t>
            </a:r>
            <a:r>
              <a:rPr lang="en-US" sz="1600" dirty="0">
                <a:solidFill>
                  <a:srgbClr val="E6E6E6"/>
                </a:solidFill>
              </a:rPr>
              <a:t> </a:t>
            </a:r>
            <a:r>
              <a:rPr kumimoji="0" lang="en-US" sz="1600" b="0" i="0" u="none" strike="noStrike" kern="1200" cap="none" spc="0" normalizeH="0" baseline="0" noProof="0" dirty="0">
                <a:ln>
                  <a:noFill/>
                </a:ln>
                <a:solidFill>
                  <a:srgbClr val="E6E6E6"/>
                </a:solidFill>
                <a:effectLst/>
                <a:uLnTx/>
                <a:uFillTx/>
                <a:latin typeface="Calibri" panose="020F0502020204030204"/>
                <a:ea typeface="+mn-ea"/>
                <a:cs typeface="+mn-cs"/>
              </a:rPr>
              <a:t>&amp;</a:t>
            </a:r>
            <a:r>
              <a:rPr lang="en-US" sz="1600" dirty="0">
                <a:solidFill>
                  <a:srgbClr val="E6E6E6"/>
                </a:solidFill>
              </a:rPr>
              <a:t>  continue process although shell exit </a:t>
            </a:r>
          </a:p>
          <a:p>
            <a:pPr marL="0" indent="0">
              <a:buNone/>
            </a:pPr>
            <a:endParaRPr lang="en-US" sz="2000" dirty="0"/>
          </a:p>
          <a:p>
            <a:r>
              <a:rPr lang="en-US" sz="1600" dirty="0">
                <a:solidFill>
                  <a:srgbClr val="E6E6E6"/>
                </a:solidFill>
              </a:rPr>
              <a:t>Kill %number of job    Stopping a background job with the kill </a:t>
            </a:r>
          </a:p>
          <a:p>
            <a:r>
              <a:rPr lang="en-US" sz="1600" dirty="0">
                <a:solidFill>
                  <a:srgbClr val="E6E6E6"/>
                </a:solidFill>
              </a:rPr>
              <a:t>Kill send signal to process </a:t>
            </a:r>
          </a:p>
        </p:txBody>
      </p:sp>
    </p:spTree>
    <p:extLst>
      <p:ext uri="{BB962C8B-B14F-4D97-AF65-F5344CB8AC3E}">
        <p14:creationId xmlns:p14="http://schemas.microsoft.com/office/powerpoint/2010/main" val="5923571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B45BA-5B6B-49BC-416F-6ECC24810051}"/>
              </a:ext>
            </a:extLst>
          </p:cNvPr>
          <p:cNvSpPr>
            <a:spLocks noGrp="1"/>
          </p:cNvSpPr>
          <p:nvPr>
            <p:ph type="title"/>
          </p:nvPr>
        </p:nvSpPr>
        <p:spPr>
          <a:xfrm>
            <a:off x="915144" y="158620"/>
            <a:ext cx="8172873" cy="702905"/>
          </a:xfrm>
        </p:spPr>
        <p:txBody>
          <a:bodyPr/>
          <a:lstStyle/>
          <a:p>
            <a:r>
              <a:rPr lang="en-US" sz="2800" b="1" dirty="0">
                <a:solidFill>
                  <a:srgbClr val="FFFFFF"/>
                </a:solidFill>
              </a:rPr>
              <a:t>                      kill</a:t>
            </a:r>
          </a:p>
        </p:txBody>
      </p:sp>
      <p:sp>
        <p:nvSpPr>
          <p:cNvPr id="3" name="Content Placeholder 2">
            <a:extLst>
              <a:ext uri="{FF2B5EF4-FFF2-40B4-BE49-F238E27FC236}">
                <a16:creationId xmlns:a16="http://schemas.microsoft.com/office/drawing/2014/main" id="{B8FB1FD7-A1F0-59CF-2B32-3A7770701F5F}"/>
              </a:ext>
            </a:extLst>
          </p:cNvPr>
          <p:cNvSpPr>
            <a:spLocks noGrp="1"/>
          </p:cNvSpPr>
          <p:nvPr>
            <p:ph idx="1"/>
          </p:nvPr>
        </p:nvSpPr>
        <p:spPr/>
        <p:txBody>
          <a:bodyPr>
            <a:normAutofit fontScale="92500" lnSpcReduction="10000"/>
          </a:bodyPr>
          <a:lstStyle/>
          <a:p>
            <a:r>
              <a:rPr lang="en-US" sz="1600" dirty="0">
                <a:solidFill>
                  <a:srgbClr val="E6E6E6"/>
                </a:solidFill>
              </a:rPr>
              <a:t>Kill send signal to process </a:t>
            </a:r>
          </a:p>
          <a:p>
            <a:endParaRPr lang="en-US" sz="2000" dirty="0"/>
          </a:p>
          <a:p>
            <a:r>
              <a:rPr lang="en-US" sz="1600" dirty="0">
                <a:solidFill>
                  <a:srgbClr val="E6E6E6"/>
                </a:solidFill>
              </a:rPr>
              <a:t>Kill -9 forcefully  kill process        kill without number by default 15</a:t>
            </a:r>
          </a:p>
          <a:p>
            <a:endParaRPr lang="en-US" sz="2000" dirty="0"/>
          </a:p>
          <a:p>
            <a:r>
              <a:rPr lang="en-US" sz="1600" dirty="0">
                <a:solidFill>
                  <a:srgbClr val="E6E6E6"/>
                </a:solidFill>
              </a:rPr>
              <a:t>Kill -15   normal </a:t>
            </a:r>
            <a:r>
              <a:rPr lang="en-US" sz="1600" dirty="0" err="1">
                <a:solidFill>
                  <a:srgbClr val="E6E6E6"/>
                </a:solidFill>
              </a:rPr>
              <a:t>terminatetion</a:t>
            </a:r>
            <a:r>
              <a:rPr lang="en-US" sz="1600" dirty="0">
                <a:solidFill>
                  <a:srgbClr val="E6E6E6"/>
                </a:solidFill>
              </a:rPr>
              <a:t> request</a:t>
            </a:r>
          </a:p>
          <a:p>
            <a:endParaRPr lang="en-US" sz="2000" dirty="0"/>
          </a:p>
          <a:p>
            <a:r>
              <a:rPr lang="en-US" sz="1600" dirty="0">
                <a:solidFill>
                  <a:srgbClr val="E6E6E6"/>
                </a:solidFill>
              </a:rPr>
              <a:t>Hup  1     give information to process that process controlling you terminated</a:t>
            </a:r>
          </a:p>
          <a:p>
            <a:r>
              <a:rPr lang="en-US" sz="1600" dirty="0" err="1">
                <a:solidFill>
                  <a:srgbClr val="E6E6E6"/>
                </a:solidFill>
              </a:rPr>
              <a:t>Killall</a:t>
            </a:r>
            <a:r>
              <a:rPr lang="en-US" sz="1600" dirty="0">
                <a:solidFill>
                  <a:srgbClr val="E6E6E6"/>
                </a:solidFill>
              </a:rPr>
              <a:t>   </a:t>
            </a:r>
            <a:r>
              <a:rPr lang="en-US" sz="1600" dirty="0" err="1">
                <a:solidFill>
                  <a:srgbClr val="E6E6E6"/>
                </a:solidFill>
              </a:rPr>
              <a:t>pkill</a:t>
            </a:r>
            <a:r>
              <a:rPr lang="en-US" sz="1600" dirty="0">
                <a:solidFill>
                  <a:srgbClr val="E6E6E6"/>
                </a:solidFill>
              </a:rPr>
              <a:t> </a:t>
            </a:r>
            <a:r>
              <a:rPr lang="en-US" sz="1600" dirty="0" err="1">
                <a:solidFill>
                  <a:srgbClr val="E6E6E6"/>
                </a:solidFill>
              </a:rPr>
              <a:t>sh</a:t>
            </a:r>
            <a:r>
              <a:rPr lang="en-US" sz="1600" dirty="0">
                <a:solidFill>
                  <a:srgbClr val="E6E6E6"/>
                </a:solidFill>
              </a:rPr>
              <a:t> </a:t>
            </a:r>
            <a:r>
              <a:rPr lang="en-US" sz="1600" dirty="0" err="1">
                <a:solidFill>
                  <a:srgbClr val="E6E6E6"/>
                </a:solidFill>
              </a:rPr>
              <a:t>menas</a:t>
            </a:r>
            <a:r>
              <a:rPr lang="en-US" sz="1600" dirty="0">
                <a:solidFill>
                  <a:srgbClr val="E6E6E6"/>
                </a:solidFill>
              </a:rPr>
              <a:t> kill for example each process contains </a:t>
            </a:r>
            <a:r>
              <a:rPr lang="en-US" sz="1600" dirty="0" err="1">
                <a:solidFill>
                  <a:srgbClr val="E6E6E6"/>
                </a:solidFill>
              </a:rPr>
              <a:t>sh</a:t>
            </a:r>
            <a:r>
              <a:rPr lang="en-US" sz="1600" dirty="0">
                <a:solidFill>
                  <a:srgbClr val="E6E6E6"/>
                </a:solidFill>
              </a:rPr>
              <a:t> kill </a:t>
            </a:r>
          </a:p>
        </p:txBody>
      </p:sp>
    </p:spTree>
    <p:extLst>
      <p:ext uri="{BB962C8B-B14F-4D97-AF65-F5344CB8AC3E}">
        <p14:creationId xmlns:p14="http://schemas.microsoft.com/office/powerpoint/2010/main" val="4405203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22785-F916-C162-FA36-94CA98B25758}"/>
              </a:ext>
            </a:extLst>
          </p:cNvPr>
          <p:cNvSpPr>
            <a:spLocks noGrp="1"/>
          </p:cNvSpPr>
          <p:nvPr>
            <p:ph type="title"/>
          </p:nvPr>
        </p:nvSpPr>
        <p:spPr>
          <a:xfrm>
            <a:off x="831170" y="83976"/>
            <a:ext cx="8443460" cy="898848"/>
          </a:xfrm>
        </p:spPr>
        <p:txBody>
          <a:bodyPr/>
          <a:lstStyle/>
          <a:p>
            <a:r>
              <a:rPr lang="en-US" sz="2800" b="1" dirty="0">
                <a:solidFill>
                  <a:srgbClr val="FFFFFF"/>
                </a:solidFill>
              </a:rPr>
              <a:t>                    screen</a:t>
            </a:r>
          </a:p>
        </p:txBody>
      </p:sp>
      <p:sp>
        <p:nvSpPr>
          <p:cNvPr id="3" name="Content Placeholder 2">
            <a:extLst>
              <a:ext uri="{FF2B5EF4-FFF2-40B4-BE49-F238E27FC236}">
                <a16:creationId xmlns:a16="http://schemas.microsoft.com/office/drawing/2014/main" id="{4E478365-EEA7-9692-F46D-F4B7A4D5CDCB}"/>
              </a:ext>
            </a:extLst>
          </p:cNvPr>
          <p:cNvSpPr>
            <a:spLocks noGrp="1"/>
          </p:cNvSpPr>
          <p:nvPr>
            <p:ph idx="1"/>
          </p:nvPr>
        </p:nvSpPr>
        <p:spPr/>
        <p:txBody>
          <a:bodyPr>
            <a:normAutofit/>
          </a:bodyPr>
          <a:lstStyle/>
          <a:p>
            <a:r>
              <a:rPr lang="en-US" sz="1600" dirty="0">
                <a:solidFill>
                  <a:srgbClr val="E6E6E6"/>
                </a:solidFill>
              </a:rPr>
              <a:t>Screen better than </a:t>
            </a:r>
            <a:r>
              <a:rPr lang="en-US" sz="1600" dirty="0" err="1">
                <a:solidFill>
                  <a:srgbClr val="E6E6E6"/>
                </a:solidFill>
              </a:rPr>
              <a:t>nohup</a:t>
            </a:r>
            <a:r>
              <a:rPr lang="en-US" sz="1600" dirty="0">
                <a:solidFill>
                  <a:srgbClr val="E6E6E6"/>
                </a:solidFill>
              </a:rPr>
              <a:t> manage process</a:t>
            </a:r>
          </a:p>
          <a:p>
            <a:endParaRPr lang="en-US" sz="2000" dirty="0"/>
          </a:p>
          <a:p>
            <a:endParaRPr lang="en-US" sz="2000" dirty="0"/>
          </a:p>
          <a:p>
            <a:r>
              <a:rPr lang="en-US" sz="1600" dirty="0">
                <a:solidFill>
                  <a:srgbClr val="E6E6E6"/>
                </a:solidFill>
              </a:rPr>
              <a:t>Screen –ls list of process in screen</a:t>
            </a:r>
          </a:p>
          <a:p>
            <a:endParaRPr lang="en-US" sz="2000" dirty="0"/>
          </a:p>
          <a:p>
            <a:pPr marL="0" indent="0">
              <a:buNone/>
            </a:pPr>
            <a:r>
              <a:rPr lang="en-US" sz="1600" dirty="0">
                <a:solidFill>
                  <a:srgbClr val="E6E6E6"/>
                </a:solidFill>
              </a:rPr>
              <a:t> ctrl + a   d    detach     </a:t>
            </a:r>
            <a:r>
              <a:rPr lang="en-US" sz="1600" dirty="0" err="1">
                <a:solidFill>
                  <a:srgbClr val="E6E6E6"/>
                </a:solidFill>
              </a:rPr>
              <a:t>ctrl+A</a:t>
            </a:r>
            <a:r>
              <a:rPr lang="en-US" sz="1600" dirty="0">
                <a:solidFill>
                  <a:srgbClr val="E6E6E6"/>
                </a:solidFill>
              </a:rPr>
              <a:t>  |   split page     </a:t>
            </a:r>
            <a:r>
              <a:rPr lang="en-US" sz="1600" dirty="0" err="1">
                <a:solidFill>
                  <a:srgbClr val="E6E6E6"/>
                </a:solidFill>
              </a:rPr>
              <a:t>ctrl+A</a:t>
            </a:r>
            <a:r>
              <a:rPr lang="en-US" sz="1600" dirty="0">
                <a:solidFill>
                  <a:srgbClr val="E6E6E6"/>
                </a:solidFill>
              </a:rPr>
              <a:t> \ delete   </a:t>
            </a:r>
          </a:p>
          <a:p>
            <a:r>
              <a:rPr lang="en-US" sz="1600" dirty="0">
                <a:solidFill>
                  <a:srgbClr val="E6E6E6"/>
                </a:solidFill>
              </a:rPr>
              <a:t>Screen –r reattach         </a:t>
            </a:r>
            <a:r>
              <a:rPr lang="en-US" sz="1600" dirty="0" err="1">
                <a:solidFill>
                  <a:srgbClr val="E6E6E6"/>
                </a:solidFill>
              </a:rPr>
              <a:t>ctrl+A</a:t>
            </a:r>
            <a:r>
              <a:rPr lang="en-US" sz="1600" dirty="0">
                <a:solidFill>
                  <a:srgbClr val="E6E6E6"/>
                </a:solidFill>
              </a:rPr>
              <a:t> tab and c (create)</a:t>
            </a:r>
          </a:p>
        </p:txBody>
      </p:sp>
    </p:spTree>
    <p:extLst>
      <p:ext uri="{BB962C8B-B14F-4D97-AF65-F5344CB8AC3E}">
        <p14:creationId xmlns:p14="http://schemas.microsoft.com/office/powerpoint/2010/main" val="32248420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DCFDE-FEE9-16C5-57BC-2A05BCFDB914}"/>
              </a:ext>
            </a:extLst>
          </p:cNvPr>
          <p:cNvSpPr>
            <a:spLocks noGrp="1"/>
          </p:cNvSpPr>
          <p:nvPr>
            <p:ph type="title"/>
          </p:nvPr>
        </p:nvSpPr>
        <p:spPr>
          <a:xfrm>
            <a:off x="1179949" y="158621"/>
            <a:ext cx="9037071" cy="1024811"/>
          </a:xfrm>
        </p:spPr>
        <p:txBody>
          <a:bodyPr>
            <a:normAutofit/>
          </a:bodyPr>
          <a:lstStyle/>
          <a:p>
            <a:r>
              <a:rPr lang="en-US" sz="2800" b="1" dirty="0">
                <a:solidFill>
                  <a:srgbClr val="FFFFFF"/>
                </a:solidFill>
              </a:rPr>
              <a:t>           managing process priority </a:t>
            </a:r>
          </a:p>
        </p:txBody>
      </p:sp>
      <p:sp>
        <p:nvSpPr>
          <p:cNvPr id="3" name="Content Placeholder 2">
            <a:extLst>
              <a:ext uri="{FF2B5EF4-FFF2-40B4-BE49-F238E27FC236}">
                <a16:creationId xmlns:a16="http://schemas.microsoft.com/office/drawing/2014/main" id="{9B5C2E2C-94D4-4FF7-B077-4A70AF7F4193}"/>
              </a:ext>
            </a:extLst>
          </p:cNvPr>
          <p:cNvSpPr>
            <a:spLocks noGrp="1"/>
          </p:cNvSpPr>
          <p:nvPr>
            <p:ph idx="1"/>
          </p:nvPr>
        </p:nvSpPr>
        <p:spPr>
          <a:xfrm>
            <a:off x="2506134" y="3172409"/>
            <a:ext cx="7617580" cy="1463108"/>
          </a:xfrm>
        </p:spPr>
        <p:txBody>
          <a:bodyPr>
            <a:noAutofit/>
          </a:bodyPr>
          <a:lstStyle/>
          <a:p>
            <a:pPr marL="0" indent="0">
              <a:buNone/>
            </a:pPr>
            <a:r>
              <a:rPr lang="en-US" sz="1600" dirty="0">
                <a:solidFill>
                  <a:srgbClr val="E6E6E6"/>
                </a:solidFill>
              </a:rPr>
              <a:t>The scheduling priority for a process determines when it obtains CPU time and</a:t>
            </a:r>
          </a:p>
          <a:p>
            <a:pPr marL="0" indent="0">
              <a:buNone/>
            </a:pPr>
            <a:r>
              <a:rPr lang="en-US" sz="1600" dirty="0">
                <a:solidFill>
                  <a:srgbClr val="E6E6E6"/>
                </a:solidFill>
              </a:rPr>
              <a:t> memory resources in comparison to other processes that operate at a different </a:t>
            </a:r>
          </a:p>
          <a:p>
            <a:pPr marL="0" indent="0">
              <a:buNone/>
            </a:pPr>
            <a:r>
              <a:rPr lang="en-US" sz="1600" dirty="0">
                <a:solidFill>
                  <a:srgbClr val="E6E6E6"/>
                </a:solidFill>
              </a:rPr>
              <a:t>priority. However, you may run some applications that need either a higher or lower level </a:t>
            </a:r>
          </a:p>
          <a:p>
            <a:pPr marL="0" indent="0">
              <a:buNone/>
            </a:pPr>
            <a:r>
              <a:rPr lang="en-US" sz="1600" dirty="0">
                <a:solidFill>
                  <a:srgbClr val="E6E6E6"/>
                </a:solidFill>
              </a:rPr>
              <a:t>of priority.</a:t>
            </a:r>
          </a:p>
          <a:p>
            <a:endParaRPr lang="en-US" sz="2000" dirty="0"/>
          </a:p>
          <a:p>
            <a:r>
              <a:rPr lang="en-US" sz="1600" dirty="0">
                <a:solidFill>
                  <a:srgbClr val="E6E6E6"/>
                </a:solidFill>
              </a:rPr>
              <a:t>nice                                         </a:t>
            </a:r>
            <a:r>
              <a:rPr lang="en-US" sz="1600" dirty="0" err="1">
                <a:solidFill>
                  <a:srgbClr val="E6E6E6"/>
                </a:solidFill>
              </a:rPr>
              <a:t>nice</a:t>
            </a:r>
            <a:r>
              <a:rPr lang="en-US" sz="1600" dirty="0">
                <a:solidFill>
                  <a:srgbClr val="E6E6E6"/>
                </a:solidFill>
              </a:rPr>
              <a:t> –n number command</a:t>
            </a:r>
          </a:p>
          <a:p>
            <a:pPr marL="0" indent="0">
              <a:buNone/>
            </a:pPr>
            <a:r>
              <a:rPr lang="en-US" sz="1600" dirty="0">
                <a:solidFill>
                  <a:srgbClr val="E6E6E6"/>
                </a:solidFill>
              </a:rPr>
              <a:t>number between -20 until 19 The lower the number, the higher priority the process receives. The default niceness level is zero  </a:t>
            </a:r>
          </a:p>
          <a:p>
            <a:r>
              <a:rPr lang="en-US" sz="1600" dirty="0">
                <a:solidFill>
                  <a:srgbClr val="E6E6E6"/>
                </a:solidFill>
              </a:rPr>
              <a:t>nice command default 10         </a:t>
            </a:r>
            <a:r>
              <a:rPr lang="en-US" sz="1600" dirty="0" err="1">
                <a:solidFill>
                  <a:srgbClr val="E6E6E6"/>
                </a:solidFill>
              </a:rPr>
              <a:t>ps</a:t>
            </a:r>
            <a:r>
              <a:rPr lang="en-US" sz="1600" dirty="0">
                <a:solidFill>
                  <a:srgbClr val="E6E6E6"/>
                </a:solidFill>
              </a:rPr>
              <a:t> –l  show nice</a:t>
            </a:r>
          </a:p>
          <a:p>
            <a:endParaRPr lang="en-US" sz="2000" dirty="0"/>
          </a:p>
          <a:p>
            <a:r>
              <a:rPr lang="en-US" sz="1600" dirty="0">
                <a:solidFill>
                  <a:srgbClr val="E6E6E6"/>
                </a:solidFill>
              </a:rPr>
              <a:t>renice  for changing priority    renice –n number –p (process id)  </a:t>
            </a:r>
          </a:p>
        </p:txBody>
      </p:sp>
    </p:spTree>
    <p:extLst>
      <p:ext uri="{BB962C8B-B14F-4D97-AF65-F5344CB8AC3E}">
        <p14:creationId xmlns:p14="http://schemas.microsoft.com/office/powerpoint/2010/main" val="42090063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41AE-06B8-D655-132B-C91F1C01256B}"/>
              </a:ext>
            </a:extLst>
          </p:cNvPr>
          <p:cNvSpPr>
            <a:spLocks noGrp="1"/>
          </p:cNvSpPr>
          <p:nvPr>
            <p:ph type="title"/>
          </p:nvPr>
        </p:nvSpPr>
        <p:spPr>
          <a:xfrm>
            <a:off x="840499" y="190500"/>
            <a:ext cx="10018713" cy="1752599"/>
          </a:xfrm>
        </p:spPr>
        <p:txBody>
          <a:bodyPr>
            <a:normAutofit/>
          </a:bodyPr>
          <a:lstStyle/>
          <a:p>
            <a:r>
              <a:rPr lang="en-US" sz="2800" b="1" dirty="0">
                <a:solidFill>
                  <a:srgbClr val="FFFFFF"/>
                </a:solidFill>
              </a:rPr>
              <a:t>             configuring hardware</a:t>
            </a:r>
          </a:p>
        </p:txBody>
      </p:sp>
      <p:sp>
        <p:nvSpPr>
          <p:cNvPr id="3" name="Content Placeholder 2">
            <a:extLst>
              <a:ext uri="{FF2B5EF4-FFF2-40B4-BE49-F238E27FC236}">
                <a16:creationId xmlns:a16="http://schemas.microsoft.com/office/drawing/2014/main" id="{EC8DEC11-D34F-29BF-1E32-8946DD17F185}"/>
              </a:ext>
            </a:extLst>
          </p:cNvPr>
          <p:cNvSpPr>
            <a:spLocks noGrp="1"/>
          </p:cNvSpPr>
          <p:nvPr>
            <p:ph idx="1"/>
          </p:nvPr>
        </p:nvSpPr>
        <p:spPr/>
        <p:txBody>
          <a:bodyPr>
            <a:noAutofit/>
          </a:bodyPr>
          <a:lstStyle/>
          <a:p>
            <a:r>
              <a:rPr lang="en-US" sz="1600" dirty="0">
                <a:solidFill>
                  <a:srgbClr val="E6E6E6"/>
                </a:solidFill>
              </a:rPr>
              <a:t>Firmware: means when you now typing in keyboard connect with </a:t>
            </a:r>
            <a:r>
              <a:rPr lang="en-US" sz="1600" dirty="0" err="1">
                <a:solidFill>
                  <a:srgbClr val="E6E6E6"/>
                </a:solidFill>
              </a:rPr>
              <a:t>os</a:t>
            </a:r>
            <a:r>
              <a:rPr lang="en-US" sz="1600" dirty="0">
                <a:solidFill>
                  <a:srgbClr val="E6E6E6"/>
                </a:solidFill>
              </a:rPr>
              <a:t> to write letter on screen.</a:t>
            </a:r>
          </a:p>
          <a:p>
            <a:endParaRPr lang="en-US" sz="2000" dirty="0"/>
          </a:p>
          <a:p>
            <a:r>
              <a:rPr lang="en-US" sz="1600" dirty="0">
                <a:solidFill>
                  <a:srgbClr val="E6E6E6"/>
                </a:solidFill>
              </a:rPr>
              <a:t>Old firmware (bios)  </a:t>
            </a:r>
          </a:p>
          <a:p>
            <a:endParaRPr lang="en-US" sz="2000" dirty="0"/>
          </a:p>
          <a:p>
            <a:r>
              <a:rPr lang="en-US" sz="1600" dirty="0">
                <a:solidFill>
                  <a:srgbClr val="E6E6E6"/>
                </a:solidFill>
              </a:rPr>
              <a:t>New firmware (unified extensible firmware interface)UEFI</a:t>
            </a:r>
          </a:p>
          <a:p>
            <a:endParaRPr lang="en-US" sz="2000" dirty="0"/>
          </a:p>
          <a:p>
            <a:r>
              <a:rPr lang="en-US" sz="1600" dirty="0">
                <a:solidFill>
                  <a:srgbClr val="E6E6E6"/>
                </a:solidFill>
              </a:rPr>
              <a:t>PCI: peripheral  component interface (location for any card on motherboard)   </a:t>
            </a:r>
            <a:r>
              <a:rPr lang="en-US" sz="1600" dirty="0" err="1">
                <a:solidFill>
                  <a:srgbClr val="E6E6E6"/>
                </a:solidFill>
              </a:rPr>
              <a:t>scsi</a:t>
            </a:r>
            <a:r>
              <a:rPr lang="en-US" sz="1600" dirty="0">
                <a:solidFill>
                  <a:srgbClr val="E6E6E6"/>
                </a:solidFill>
              </a:rPr>
              <a:t> (parallel up to 8)    </a:t>
            </a:r>
            <a:r>
              <a:rPr lang="en-US" sz="1600" dirty="0" err="1">
                <a:solidFill>
                  <a:srgbClr val="E6E6E6"/>
                </a:solidFill>
              </a:rPr>
              <a:t>sata</a:t>
            </a:r>
            <a:r>
              <a:rPr lang="en-US" sz="1600" dirty="0">
                <a:solidFill>
                  <a:srgbClr val="E6E6E6"/>
                </a:solidFill>
              </a:rPr>
              <a:t>(serial up to 4)  </a:t>
            </a:r>
            <a:r>
              <a:rPr lang="en-US" sz="1600" dirty="0" err="1">
                <a:solidFill>
                  <a:srgbClr val="E6E6E6"/>
                </a:solidFill>
              </a:rPr>
              <a:t>pata</a:t>
            </a:r>
            <a:r>
              <a:rPr lang="en-US" sz="1600" dirty="0">
                <a:solidFill>
                  <a:srgbClr val="E6E6E6"/>
                </a:solidFill>
              </a:rPr>
              <a:t>(very old)        </a:t>
            </a:r>
          </a:p>
        </p:txBody>
      </p:sp>
    </p:spTree>
    <p:extLst>
      <p:ext uri="{BB962C8B-B14F-4D97-AF65-F5344CB8AC3E}">
        <p14:creationId xmlns:p14="http://schemas.microsoft.com/office/powerpoint/2010/main" val="37021342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62898-6E20-2F3A-94D4-364E2F8C8509}"/>
              </a:ext>
            </a:extLst>
          </p:cNvPr>
          <p:cNvSpPr>
            <a:spLocks noGrp="1"/>
          </p:cNvSpPr>
          <p:nvPr>
            <p:ph type="title"/>
          </p:nvPr>
        </p:nvSpPr>
        <p:spPr>
          <a:xfrm>
            <a:off x="140702" y="190500"/>
            <a:ext cx="10018713" cy="1752599"/>
          </a:xfrm>
        </p:spPr>
        <p:txBody>
          <a:bodyPr/>
          <a:lstStyle/>
          <a:p>
            <a:r>
              <a:rPr lang="en-US" sz="2800" b="1" dirty="0">
                <a:solidFill>
                  <a:srgbClr val="FFFFFF"/>
                </a:solidFill>
              </a:rPr>
              <a:t>                </a:t>
            </a:r>
            <a:r>
              <a:rPr lang="en-US" sz="2800" b="1" dirty="0" err="1">
                <a:solidFill>
                  <a:srgbClr val="FFFFFF"/>
                </a:solidFill>
              </a:rPr>
              <a:t>sysfs</a:t>
            </a:r>
            <a:r>
              <a:rPr lang="en-US" sz="2800" b="1" dirty="0">
                <a:solidFill>
                  <a:srgbClr val="FFFFFF"/>
                </a:solidFill>
              </a:rPr>
              <a:t>  and </a:t>
            </a:r>
            <a:r>
              <a:rPr lang="en-US" sz="2800" b="1" dirty="0" err="1">
                <a:solidFill>
                  <a:srgbClr val="FFFFFF"/>
                </a:solidFill>
              </a:rPr>
              <a:t>udev</a:t>
            </a:r>
            <a:endParaRPr lang="en-US" dirty="0"/>
          </a:p>
        </p:txBody>
      </p:sp>
      <p:sp>
        <p:nvSpPr>
          <p:cNvPr id="3" name="Content Placeholder 2">
            <a:extLst>
              <a:ext uri="{FF2B5EF4-FFF2-40B4-BE49-F238E27FC236}">
                <a16:creationId xmlns:a16="http://schemas.microsoft.com/office/drawing/2014/main" id="{5622886D-E328-BC28-B061-F39A00D38ECC}"/>
              </a:ext>
            </a:extLst>
          </p:cNvPr>
          <p:cNvSpPr>
            <a:spLocks noGrp="1"/>
          </p:cNvSpPr>
          <p:nvPr>
            <p:ph idx="1"/>
          </p:nvPr>
        </p:nvSpPr>
        <p:spPr/>
        <p:txBody>
          <a:bodyPr>
            <a:normAutofit lnSpcReduction="10000"/>
          </a:bodyPr>
          <a:lstStyle/>
          <a:p>
            <a:r>
              <a:rPr lang="en-US" sz="1600" dirty="0">
                <a:solidFill>
                  <a:srgbClr val="E6E6E6"/>
                </a:solidFill>
              </a:rPr>
              <a:t>as like as filesystem or pseudo that exist information about kernel such as </a:t>
            </a:r>
            <a:r>
              <a:rPr lang="en-US" sz="1600" dirty="0" err="1">
                <a:solidFill>
                  <a:srgbClr val="E6E6E6"/>
                </a:solidFill>
              </a:rPr>
              <a:t>subsystem,module,bus,devices</a:t>
            </a:r>
            <a:r>
              <a:rPr lang="en-US" sz="1600" dirty="0">
                <a:solidFill>
                  <a:srgbClr val="E6E6E6"/>
                </a:solidFill>
              </a:rPr>
              <a:t>……  /sys</a:t>
            </a:r>
          </a:p>
          <a:p>
            <a:endParaRPr lang="en-US" sz="2000" dirty="0"/>
          </a:p>
          <a:p>
            <a:r>
              <a:rPr lang="en-US" sz="1600" dirty="0">
                <a:solidFill>
                  <a:srgbClr val="E6E6E6"/>
                </a:solidFill>
              </a:rPr>
              <a:t>/dev as device manager for the  </a:t>
            </a:r>
            <a:r>
              <a:rPr lang="en-US" sz="1600" dirty="0" err="1">
                <a:solidFill>
                  <a:srgbClr val="E6E6E6"/>
                </a:solidFill>
              </a:rPr>
              <a:t>linux</a:t>
            </a:r>
            <a:r>
              <a:rPr lang="en-US" sz="1600" dirty="0">
                <a:solidFill>
                  <a:srgbClr val="E6E6E6"/>
                </a:solidFill>
              </a:rPr>
              <a:t> kernel.</a:t>
            </a:r>
          </a:p>
          <a:p>
            <a:pPr marL="0" indent="0">
              <a:buNone/>
            </a:pPr>
            <a:r>
              <a:rPr lang="en-US" sz="1600" dirty="0" err="1">
                <a:solidFill>
                  <a:srgbClr val="E6E6E6"/>
                </a:solidFill>
              </a:rPr>
              <a:t>Sda</a:t>
            </a:r>
            <a:r>
              <a:rPr lang="en-US" sz="1600" dirty="0">
                <a:solidFill>
                  <a:srgbClr val="E6E6E6"/>
                </a:solidFill>
              </a:rPr>
              <a:t>  ____&gt;means first hard disk   sda1-</a:t>
            </a:r>
            <a:r>
              <a:rPr lang="en-US" sz="1600" dirty="0">
                <a:solidFill>
                  <a:srgbClr val="E6E6E6"/>
                </a:solidFill>
                <a:sym typeface="Wingdings" panose="05000000000000000000" pitchFamily="2" charset="2"/>
              </a:rPr>
              <a:t> means first partition of first hard disk     sda3-- means third partition of first hard</a:t>
            </a:r>
          </a:p>
          <a:p>
            <a:endParaRPr lang="en-US" sz="2000" dirty="0"/>
          </a:p>
          <a:p>
            <a:r>
              <a:rPr lang="en-US" sz="1600" dirty="0" err="1">
                <a:solidFill>
                  <a:srgbClr val="E6E6E6"/>
                </a:solidFill>
              </a:rPr>
              <a:t>dbus</a:t>
            </a:r>
            <a:r>
              <a:rPr lang="en-US" sz="1600" dirty="0">
                <a:solidFill>
                  <a:srgbClr val="E6E6E6"/>
                </a:solidFill>
              </a:rPr>
              <a:t> is a message bus system.is a simple way that application talk to another application</a:t>
            </a:r>
          </a:p>
        </p:txBody>
      </p:sp>
    </p:spTree>
    <p:extLst>
      <p:ext uri="{BB962C8B-B14F-4D97-AF65-F5344CB8AC3E}">
        <p14:creationId xmlns:p14="http://schemas.microsoft.com/office/powerpoint/2010/main" val="39148265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96D4-2292-BC63-DA91-B0FC7E7DE8DC}"/>
              </a:ext>
            </a:extLst>
          </p:cNvPr>
          <p:cNvSpPr>
            <a:spLocks noGrp="1"/>
          </p:cNvSpPr>
          <p:nvPr>
            <p:ph type="title"/>
          </p:nvPr>
        </p:nvSpPr>
        <p:spPr>
          <a:xfrm>
            <a:off x="677334" y="366261"/>
            <a:ext cx="8596668" cy="1320800"/>
          </a:xfrm>
        </p:spPr>
        <p:txBody>
          <a:bodyPr/>
          <a:lstStyle/>
          <a:p>
            <a:r>
              <a:rPr lang="en-US" sz="2800" b="1" dirty="0">
                <a:solidFill>
                  <a:srgbClr val="FFFFFF"/>
                </a:solidFill>
              </a:rPr>
              <a:t>                     hardware</a:t>
            </a:r>
          </a:p>
        </p:txBody>
      </p:sp>
      <p:sp>
        <p:nvSpPr>
          <p:cNvPr id="3" name="Content Placeholder 2">
            <a:extLst>
              <a:ext uri="{FF2B5EF4-FFF2-40B4-BE49-F238E27FC236}">
                <a16:creationId xmlns:a16="http://schemas.microsoft.com/office/drawing/2014/main" id="{D6CBF55D-8A34-9294-D632-A48A417E782E}"/>
              </a:ext>
            </a:extLst>
          </p:cNvPr>
          <p:cNvSpPr>
            <a:spLocks noGrp="1"/>
          </p:cNvSpPr>
          <p:nvPr>
            <p:ph idx="1"/>
          </p:nvPr>
        </p:nvSpPr>
        <p:spPr>
          <a:xfrm>
            <a:off x="677334" y="1687061"/>
            <a:ext cx="8596668" cy="3880773"/>
          </a:xfrm>
        </p:spPr>
        <p:txBody>
          <a:bodyPr>
            <a:noAutofit/>
          </a:bodyPr>
          <a:lstStyle/>
          <a:p>
            <a:r>
              <a:rPr lang="en-US" sz="1600" dirty="0">
                <a:solidFill>
                  <a:srgbClr val="E6E6E6"/>
                </a:solidFill>
              </a:rPr>
              <a:t>Information about process for kernel as pseudo file system.</a:t>
            </a:r>
          </a:p>
          <a:p>
            <a:pPr marL="0" indent="0">
              <a:buNone/>
            </a:pPr>
            <a:r>
              <a:rPr lang="en-US" sz="1600" dirty="0">
                <a:solidFill>
                  <a:srgbClr val="E6E6E6"/>
                </a:solidFill>
              </a:rPr>
              <a:t>                                                           </a:t>
            </a:r>
          </a:p>
          <a:p>
            <a:r>
              <a:rPr lang="en-US" sz="1600" dirty="0" err="1">
                <a:solidFill>
                  <a:srgbClr val="E6E6E6"/>
                </a:solidFill>
              </a:rPr>
              <a:t>lspci</a:t>
            </a:r>
            <a:r>
              <a:rPr lang="en-US" sz="1600" dirty="0">
                <a:solidFill>
                  <a:srgbClr val="E6E6E6"/>
                </a:solidFill>
              </a:rPr>
              <a:t>      </a:t>
            </a:r>
          </a:p>
          <a:p>
            <a:r>
              <a:rPr lang="en-US" sz="1600" dirty="0" err="1">
                <a:solidFill>
                  <a:srgbClr val="E6E6E6"/>
                </a:solidFill>
              </a:rPr>
              <a:t>lsdev</a:t>
            </a:r>
            <a:r>
              <a:rPr lang="en-US" sz="1600" dirty="0">
                <a:solidFill>
                  <a:srgbClr val="E6E6E6"/>
                </a:solidFill>
              </a:rPr>
              <a:t>                                                    </a:t>
            </a:r>
            <a:r>
              <a:rPr lang="en-US" sz="1600" dirty="0" err="1">
                <a:solidFill>
                  <a:srgbClr val="E6E6E6"/>
                </a:solidFill>
              </a:rPr>
              <a:t>lsmod</a:t>
            </a:r>
            <a:endParaRPr lang="en-US" dirty="0"/>
          </a:p>
          <a:p>
            <a:pPr marL="0" indent="0">
              <a:buNone/>
            </a:pPr>
            <a:r>
              <a:rPr lang="en-US" sz="1600" dirty="0">
                <a:solidFill>
                  <a:srgbClr val="E6E6E6"/>
                </a:solidFill>
              </a:rPr>
              <a:t>                                                                 </a:t>
            </a:r>
            <a:r>
              <a:rPr lang="en-US" sz="1600" dirty="0" err="1">
                <a:solidFill>
                  <a:srgbClr val="E6E6E6"/>
                </a:solidFill>
              </a:rPr>
              <a:t>rmmod</a:t>
            </a:r>
            <a:r>
              <a:rPr lang="en-US" sz="1600" dirty="0">
                <a:solidFill>
                  <a:srgbClr val="E6E6E6"/>
                </a:solidFill>
              </a:rPr>
              <a:t>                 </a:t>
            </a:r>
            <a:r>
              <a:rPr lang="en-US" sz="1600" dirty="0" err="1">
                <a:solidFill>
                  <a:srgbClr val="E6E6E6"/>
                </a:solidFill>
              </a:rPr>
              <a:t>modinfo</a:t>
            </a:r>
            <a:endParaRPr lang="en-US" dirty="0"/>
          </a:p>
          <a:p>
            <a:pPr marL="0" indent="0">
              <a:buNone/>
            </a:pPr>
            <a:r>
              <a:rPr lang="en-US" sz="1600" dirty="0" err="1">
                <a:solidFill>
                  <a:srgbClr val="E6E6E6"/>
                </a:solidFill>
              </a:rPr>
              <a:t>insmode</a:t>
            </a:r>
            <a:r>
              <a:rPr lang="en-US" sz="1600" dirty="0">
                <a:solidFill>
                  <a:srgbClr val="E6E6E6"/>
                </a:solidFill>
              </a:rPr>
              <a:t> insert module that because give full path not used instead </a:t>
            </a:r>
            <a:r>
              <a:rPr lang="en-US" sz="1600" dirty="0" err="1">
                <a:solidFill>
                  <a:srgbClr val="E6E6E6"/>
                </a:solidFill>
              </a:rPr>
              <a:t>modprobe</a:t>
            </a:r>
            <a:r>
              <a:rPr lang="en-US" sz="1600" dirty="0">
                <a:solidFill>
                  <a:srgbClr val="E6E6E6"/>
                </a:solidFill>
              </a:rPr>
              <a:t> </a:t>
            </a:r>
          </a:p>
          <a:p>
            <a:pPr marL="0" indent="0">
              <a:buNone/>
            </a:pPr>
            <a:endParaRPr lang="en-US" dirty="0"/>
          </a:p>
          <a:p>
            <a:pPr marL="0" indent="0">
              <a:buNone/>
            </a:pPr>
            <a:r>
              <a:rPr lang="en-US" sz="1600" dirty="0" err="1">
                <a:solidFill>
                  <a:srgbClr val="E6E6E6"/>
                </a:solidFill>
              </a:rPr>
              <a:t>Exapmle</a:t>
            </a:r>
            <a:r>
              <a:rPr lang="en-US" sz="1600" dirty="0">
                <a:solidFill>
                  <a:srgbClr val="E6E6E6"/>
                </a:solidFill>
              </a:rPr>
              <a:t> for module </a:t>
            </a:r>
            <a:r>
              <a:rPr lang="en-US" sz="1600" dirty="0" err="1">
                <a:solidFill>
                  <a:srgbClr val="E6E6E6"/>
                </a:solidFill>
              </a:rPr>
              <a:t>rmmod</a:t>
            </a:r>
            <a:r>
              <a:rPr lang="en-US" sz="1600" dirty="0">
                <a:solidFill>
                  <a:srgbClr val="E6E6E6"/>
                </a:solidFill>
              </a:rPr>
              <a:t> </a:t>
            </a:r>
            <a:r>
              <a:rPr lang="en-US" sz="1600" dirty="0" err="1">
                <a:solidFill>
                  <a:srgbClr val="E6E6E6"/>
                </a:solidFill>
              </a:rPr>
              <a:t>ilwifi</a:t>
            </a:r>
            <a:r>
              <a:rPr lang="en-US" sz="1600" dirty="0">
                <a:solidFill>
                  <a:srgbClr val="E6E6E6"/>
                </a:solidFill>
              </a:rPr>
              <a:t>  disconnect an after that </a:t>
            </a:r>
            <a:r>
              <a:rPr lang="en-US" sz="1600" dirty="0" err="1">
                <a:solidFill>
                  <a:srgbClr val="E6E6E6"/>
                </a:solidFill>
              </a:rPr>
              <a:t>modprobe</a:t>
            </a:r>
            <a:r>
              <a:rPr lang="en-US" sz="1600" dirty="0">
                <a:solidFill>
                  <a:srgbClr val="E6E6E6"/>
                </a:solidFill>
              </a:rPr>
              <a:t> </a:t>
            </a:r>
            <a:r>
              <a:rPr lang="en-US" sz="1600" dirty="0" err="1">
                <a:solidFill>
                  <a:srgbClr val="E6E6E6"/>
                </a:solidFill>
              </a:rPr>
              <a:t>ilwifi</a:t>
            </a:r>
            <a:endParaRPr lang="en-US" dirty="0"/>
          </a:p>
          <a:p>
            <a:r>
              <a:rPr lang="en-US" sz="1600" dirty="0" err="1">
                <a:solidFill>
                  <a:srgbClr val="E6E6E6"/>
                </a:solidFill>
              </a:rPr>
              <a:t>lsusb</a:t>
            </a:r>
            <a:r>
              <a:rPr lang="en-US" sz="1600" dirty="0">
                <a:solidFill>
                  <a:srgbClr val="E6E6E6"/>
                </a:solidFill>
              </a:rPr>
              <a:t>                                                        </a:t>
            </a:r>
          </a:p>
          <a:p>
            <a:endParaRPr lang="en-US" dirty="0"/>
          </a:p>
          <a:p>
            <a:r>
              <a:rPr lang="en-US" sz="1600" dirty="0" err="1">
                <a:solidFill>
                  <a:srgbClr val="E6E6E6"/>
                </a:solidFill>
              </a:rPr>
              <a:t>lsblk</a:t>
            </a:r>
            <a:r>
              <a:rPr lang="en-US" sz="1600" dirty="0">
                <a:solidFill>
                  <a:srgbClr val="E6E6E6"/>
                </a:solidFill>
              </a:rPr>
              <a:t> </a:t>
            </a:r>
          </a:p>
          <a:p>
            <a:r>
              <a:rPr lang="en-US" sz="1600" dirty="0">
                <a:solidFill>
                  <a:srgbClr val="E6E6E6"/>
                </a:solidFill>
              </a:rPr>
              <a:t>Module as Driver in </a:t>
            </a:r>
            <a:r>
              <a:rPr lang="en-US" sz="1600" dirty="0" err="1">
                <a:solidFill>
                  <a:srgbClr val="E6E6E6"/>
                </a:solidFill>
              </a:rPr>
              <a:t>linux</a:t>
            </a:r>
            <a:r>
              <a:rPr lang="en-US" sz="1600" dirty="0">
                <a:solidFill>
                  <a:srgbClr val="E6E6E6"/>
                </a:solidFill>
              </a:rPr>
              <a:t> by default 90% load with kernel </a:t>
            </a:r>
          </a:p>
        </p:txBody>
      </p:sp>
    </p:spTree>
    <p:extLst>
      <p:ext uri="{BB962C8B-B14F-4D97-AF65-F5344CB8AC3E}">
        <p14:creationId xmlns:p14="http://schemas.microsoft.com/office/powerpoint/2010/main" val="35103774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CD975-045E-49CC-B93C-F1DAF25D80E7}"/>
              </a:ext>
            </a:extLst>
          </p:cNvPr>
          <p:cNvSpPr>
            <a:spLocks noGrp="1"/>
          </p:cNvSpPr>
          <p:nvPr>
            <p:ph type="title"/>
          </p:nvPr>
        </p:nvSpPr>
        <p:spPr/>
        <p:txBody>
          <a:bodyPr/>
          <a:lstStyle/>
          <a:p>
            <a:r>
              <a:rPr lang="en-US" sz="2800" b="1" dirty="0">
                <a:solidFill>
                  <a:srgbClr val="FFFFFF"/>
                </a:solidFill>
              </a:rPr>
              <a:t>0 until 100 </a:t>
            </a:r>
            <a:r>
              <a:rPr lang="en-US" sz="2800" b="1" dirty="0" err="1">
                <a:solidFill>
                  <a:srgbClr val="FFFFFF"/>
                </a:solidFill>
              </a:rPr>
              <a:t>linux</a:t>
            </a:r>
            <a:r>
              <a:rPr lang="en-US" sz="2800" b="1" dirty="0">
                <a:solidFill>
                  <a:srgbClr val="FFFFFF"/>
                </a:solidFill>
              </a:rPr>
              <a:t> boot</a:t>
            </a:r>
          </a:p>
        </p:txBody>
      </p:sp>
      <p:sp>
        <p:nvSpPr>
          <p:cNvPr id="3" name="Content Placeholder 2">
            <a:extLst>
              <a:ext uri="{FF2B5EF4-FFF2-40B4-BE49-F238E27FC236}">
                <a16:creationId xmlns:a16="http://schemas.microsoft.com/office/drawing/2014/main" id="{5D53DAAA-E6DD-44EA-9A08-94307FA80714}"/>
              </a:ext>
            </a:extLst>
          </p:cNvPr>
          <p:cNvSpPr>
            <a:spLocks noGrp="1"/>
          </p:cNvSpPr>
          <p:nvPr>
            <p:ph idx="1"/>
          </p:nvPr>
        </p:nvSpPr>
        <p:spPr/>
        <p:txBody>
          <a:bodyPr>
            <a:normAutofit/>
          </a:bodyPr>
          <a:lstStyle/>
          <a:p>
            <a:r>
              <a:rPr lang="en-US" sz="1600" dirty="0">
                <a:solidFill>
                  <a:srgbClr val="E6E6E6"/>
                </a:solidFill>
              </a:rPr>
              <a:t>1. the bios(input output) firmware(is software that provides basic machine instruction that allow the hardware to communicate with other software running on a device) performs a power-on-self and </a:t>
            </a:r>
            <a:r>
              <a:rPr lang="en-US" sz="1600" dirty="0" err="1">
                <a:solidFill>
                  <a:srgbClr val="E6E6E6"/>
                </a:solidFill>
              </a:rPr>
              <a:t>initilaies</a:t>
            </a:r>
            <a:r>
              <a:rPr lang="en-US" sz="1600" dirty="0">
                <a:solidFill>
                  <a:srgbClr val="E6E6E6"/>
                </a:solidFill>
              </a:rPr>
              <a:t> the hardware</a:t>
            </a:r>
          </a:p>
          <a:p>
            <a:r>
              <a:rPr lang="en-US" sz="1600" dirty="0">
                <a:solidFill>
                  <a:srgbClr val="E6E6E6"/>
                </a:solidFill>
              </a:rPr>
              <a:t>2.the firmware loads the boot </a:t>
            </a:r>
            <a:r>
              <a:rPr lang="en-US" sz="1600" dirty="0" err="1">
                <a:solidFill>
                  <a:srgbClr val="E6E6E6"/>
                </a:solidFill>
              </a:rPr>
              <a:t>loader,such</a:t>
            </a:r>
            <a:r>
              <a:rPr lang="en-US" sz="1600" dirty="0">
                <a:solidFill>
                  <a:srgbClr val="E6E6E6"/>
                </a:solidFill>
              </a:rPr>
              <a:t> as </a:t>
            </a:r>
            <a:r>
              <a:rPr lang="en-US" sz="1600" dirty="0" err="1">
                <a:solidFill>
                  <a:srgbClr val="E6E6E6"/>
                </a:solidFill>
              </a:rPr>
              <a:t>GRUB,from</a:t>
            </a:r>
            <a:r>
              <a:rPr lang="en-US" sz="1600" dirty="0">
                <a:solidFill>
                  <a:srgbClr val="E6E6E6"/>
                </a:solidFill>
              </a:rPr>
              <a:t> boot device</a:t>
            </a:r>
          </a:p>
          <a:p>
            <a:r>
              <a:rPr lang="en-US" sz="1600" dirty="0">
                <a:solidFill>
                  <a:srgbClr val="E6E6E6"/>
                </a:solidFill>
              </a:rPr>
              <a:t>3.the boot loader </a:t>
            </a:r>
            <a:r>
              <a:rPr lang="en-US" sz="1600" dirty="0" err="1">
                <a:solidFill>
                  <a:srgbClr val="E6E6E6"/>
                </a:solidFill>
              </a:rPr>
              <a:t>displayes</a:t>
            </a:r>
            <a:r>
              <a:rPr lang="en-US" sz="1600" dirty="0">
                <a:solidFill>
                  <a:srgbClr val="E6E6E6"/>
                </a:solidFill>
              </a:rPr>
              <a:t> a menu of available operating systems or kernel to boot</a:t>
            </a:r>
          </a:p>
          <a:p>
            <a:r>
              <a:rPr lang="en-US" sz="1600" dirty="0">
                <a:solidFill>
                  <a:srgbClr val="E6E6E6"/>
                </a:solidFill>
              </a:rPr>
              <a:t>4.the boot loader reads the kernel and initial RAM disk(</a:t>
            </a:r>
            <a:r>
              <a:rPr lang="en-US" sz="1600" dirty="0" err="1">
                <a:solidFill>
                  <a:srgbClr val="E6E6E6"/>
                </a:solidFill>
              </a:rPr>
              <a:t>initrd</a:t>
            </a:r>
            <a:r>
              <a:rPr lang="en-US" sz="1600" dirty="0">
                <a:solidFill>
                  <a:srgbClr val="E6E6E6"/>
                </a:solidFill>
              </a:rPr>
              <a:t>) from the boot device and load them into memory</a:t>
            </a:r>
          </a:p>
          <a:p>
            <a:r>
              <a:rPr lang="en-US" sz="1600" dirty="0">
                <a:solidFill>
                  <a:srgbClr val="E6E6E6"/>
                </a:solidFill>
              </a:rPr>
              <a:t>5.the kernel initialize the hardware and loads necessary drives.</a:t>
            </a:r>
          </a:p>
        </p:txBody>
      </p:sp>
    </p:spTree>
    <p:extLst>
      <p:ext uri="{BB962C8B-B14F-4D97-AF65-F5344CB8AC3E}">
        <p14:creationId xmlns:p14="http://schemas.microsoft.com/office/powerpoint/2010/main" val="2666675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03C33-3F6F-47A9-9BFF-F052A57760C9}"/>
              </a:ext>
            </a:extLst>
          </p:cNvPr>
          <p:cNvSpPr>
            <a:spLocks noGrp="1"/>
          </p:cNvSpPr>
          <p:nvPr>
            <p:ph type="title"/>
          </p:nvPr>
        </p:nvSpPr>
        <p:spPr/>
        <p:txBody>
          <a:bodyPr/>
          <a:lstStyle/>
          <a:p>
            <a:r>
              <a:rPr lang="en-US" sz="2800" b="1" dirty="0">
                <a:solidFill>
                  <a:srgbClr val="FFFFFF"/>
                </a:solidFill>
              </a:rPr>
              <a:t>0 until 100 </a:t>
            </a:r>
            <a:r>
              <a:rPr lang="en-US" sz="2800" b="1" dirty="0" err="1">
                <a:solidFill>
                  <a:srgbClr val="FFFFFF"/>
                </a:solidFill>
              </a:rPr>
              <a:t>linux</a:t>
            </a:r>
            <a:r>
              <a:rPr lang="en-US" sz="2800" b="1" dirty="0">
                <a:solidFill>
                  <a:srgbClr val="FFFFFF"/>
                </a:solidFill>
              </a:rPr>
              <a:t> boot</a:t>
            </a:r>
          </a:p>
        </p:txBody>
      </p:sp>
      <p:sp>
        <p:nvSpPr>
          <p:cNvPr id="3" name="Content Placeholder 2">
            <a:extLst>
              <a:ext uri="{FF2B5EF4-FFF2-40B4-BE49-F238E27FC236}">
                <a16:creationId xmlns:a16="http://schemas.microsoft.com/office/drawing/2014/main" id="{14FCC7E6-1AAD-4C66-8A89-BA080C3C73A6}"/>
              </a:ext>
            </a:extLst>
          </p:cNvPr>
          <p:cNvSpPr>
            <a:spLocks noGrp="1"/>
          </p:cNvSpPr>
          <p:nvPr>
            <p:ph idx="1"/>
          </p:nvPr>
        </p:nvSpPr>
        <p:spPr/>
        <p:txBody>
          <a:bodyPr>
            <a:normAutofit/>
          </a:bodyPr>
          <a:lstStyle/>
          <a:p>
            <a:r>
              <a:rPr lang="en-US" sz="1600" dirty="0">
                <a:solidFill>
                  <a:srgbClr val="E6E6E6"/>
                </a:solidFill>
              </a:rPr>
              <a:t>6.the kernel starts the </a:t>
            </a:r>
            <a:r>
              <a:rPr lang="en-US" sz="1600" dirty="0" err="1">
                <a:solidFill>
                  <a:srgbClr val="E6E6E6"/>
                </a:solidFill>
              </a:rPr>
              <a:t>init</a:t>
            </a:r>
            <a:r>
              <a:rPr lang="en-US" sz="1600" dirty="0">
                <a:solidFill>
                  <a:srgbClr val="E6E6E6"/>
                </a:solidFill>
              </a:rPr>
              <a:t> process which is responsible for starting user-space processes and system </a:t>
            </a:r>
            <a:r>
              <a:rPr lang="en-US" sz="1600" dirty="0" err="1">
                <a:solidFill>
                  <a:srgbClr val="E6E6E6"/>
                </a:solidFill>
              </a:rPr>
              <a:t>services.the</a:t>
            </a:r>
            <a:r>
              <a:rPr lang="en-US" sz="1600" dirty="0">
                <a:solidFill>
                  <a:srgbClr val="E6E6E6"/>
                </a:solidFill>
              </a:rPr>
              <a:t> </a:t>
            </a:r>
            <a:r>
              <a:rPr lang="en-US" sz="1600" dirty="0" err="1">
                <a:solidFill>
                  <a:srgbClr val="E6E6E6"/>
                </a:solidFill>
              </a:rPr>
              <a:t>init</a:t>
            </a:r>
            <a:r>
              <a:rPr lang="en-US" sz="1600" dirty="0">
                <a:solidFill>
                  <a:srgbClr val="E6E6E6"/>
                </a:solidFill>
              </a:rPr>
              <a:t> process starts other processes and services such as the display manager and login </a:t>
            </a:r>
            <a:r>
              <a:rPr lang="en-US" sz="1600" dirty="0" err="1">
                <a:solidFill>
                  <a:srgbClr val="E6E6E6"/>
                </a:solidFill>
              </a:rPr>
              <a:t>manager,which</a:t>
            </a:r>
            <a:r>
              <a:rPr lang="en-US" sz="1600" dirty="0">
                <a:solidFill>
                  <a:srgbClr val="E6E6E6"/>
                </a:solidFill>
              </a:rPr>
              <a:t> allow the user to interact with the system.</a:t>
            </a:r>
          </a:p>
          <a:p>
            <a:r>
              <a:rPr lang="en-US" sz="1600" dirty="0">
                <a:solidFill>
                  <a:srgbClr val="E6E6E6"/>
                </a:solidFill>
              </a:rPr>
              <a:t>7.Once the user is logged </a:t>
            </a:r>
            <a:r>
              <a:rPr lang="en-US" sz="1600" dirty="0" err="1">
                <a:solidFill>
                  <a:srgbClr val="E6E6E6"/>
                </a:solidFill>
              </a:rPr>
              <a:t>in,they</a:t>
            </a:r>
            <a:r>
              <a:rPr lang="en-US" sz="1600" dirty="0">
                <a:solidFill>
                  <a:srgbClr val="E6E6E6"/>
                </a:solidFill>
              </a:rPr>
              <a:t> can interact with system and run applications.</a:t>
            </a:r>
          </a:p>
          <a:p>
            <a:endParaRPr lang="en-US" sz="2000" dirty="0"/>
          </a:p>
          <a:p>
            <a:r>
              <a:rPr lang="en-US" sz="1600" dirty="0">
                <a:solidFill>
                  <a:srgbClr val="E6E6E6"/>
                </a:solidFill>
              </a:rPr>
              <a:t>Summary:1-power on 2-post(power on self test (baby) 3-bios or </a:t>
            </a:r>
            <a:r>
              <a:rPr lang="en-US" sz="1600" dirty="0" err="1">
                <a:solidFill>
                  <a:srgbClr val="E6E6E6"/>
                </a:solidFill>
              </a:rPr>
              <a:t>uefi</a:t>
            </a:r>
            <a:r>
              <a:rPr lang="en-US" sz="1600" dirty="0">
                <a:solidFill>
                  <a:srgbClr val="E6E6E6"/>
                </a:solidFill>
              </a:rPr>
              <a:t> 4-kernel 5-system(</a:t>
            </a:r>
            <a:r>
              <a:rPr lang="en-US" sz="1600" dirty="0" err="1">
                <a:solidFill>
                  <a:srgbClr val="E6E6E6"/>
                </a:solidFill>
              </a:rPr>
              <a:t>init</a:t>
            </a:r>
            <a:r>
              <a:rPr lang="en-US" sz="1600" dirty="0">
                <a:solidFill>
                  <a:srgbClr val="E6E6E6"/>
                </a:solidFill>
              </a:rPr>
              <a:t>) </a:t>
            </a:r>
          </a:p>
        </p:txBody>
      </p:sp>
    </p:spTree>
    <p:extLst>
      <p:ext uri="{BB962C8B-B14F-4D97-AF65-F5344CB8AC3E}">
        <p14:creationId xmlns:p14="http://schemas.microsoft.com/office/powerpoint/2010/main" val="37761448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5A716-9632-0FD4-1695-699FFE3CEFED}"/>
              </a:ext>
            </a:extLst>
          </p:cNvPr>
          <p:cNvSpPr>
            <a:spLocks noGrp="1"/>
          </p:cNvSpPr>
          <p:nvPr>
            <p:ph type="title"/>
          </p:nvPr>
        </p:nvSpPr>
        <p:spPr/>
        <p:txBody>
          <a:bodyPr/>
          <a:lstStyle/>
          <a:p>
            <a:pPr algn="ctr"/>
            <a:r>
              <a:rPr lang="en-US" sz="2800" b="1" dirty="0" err="1">
                <a:solidFill>
                  <a:srgbClr val="FFFFFF"/>
                </a:solidFill>
              </a:rPr>
              <a:t>mbr</a:t>
            </a:r>
            <a:r>
              <a:rPr lang="en-US" sz="2800" b="1" dirty="0">
                <a:solidFill>
                  <a:srgbClr val="FFFFFF"/>
                </a:solidFill>
              </a:rPr>
              <a:t> vs </a:t>
            </a:r>
            <a:r>
              <a:rPr lang="en-US" sz="2800" b="1" dirty="0" err="1">
                <a:solidFill>
                  <a:srgbClr val="FFFFFF"/>
                </a:solidFill>
              </a:rPr>
              <a:t>esp</a:t>
            </a:r>
            <a:endParaRPr lang="en-US" dirty="0"/>
          </a:p>
        </p:txBody>
      </p:sp>
      <p:sp>
        <p:nvSpPr>
          <p:cNvPr id="3" name="Content Placeholder 2">
            <a:extLst>
              <a:ext uri="{FF2B5EF4-FFF2-40B4-BE49-F238E27FC236}">
                <a16:creationId xmlns:a16="http://schemas.microsoft.com/office/drawing/2014/main" id="{BD58697B-61DD-AEB7-2BFF-D8C83C33B739}"/>
              </a:ext>
            </a:extLst>
          </p:cNvPr>
          <p:cNvSpPr>
            <a:spLocks noGrp="1"/>
          </p:cNvSpPr>
          <p:nvPr>
            <p:ph idx="1"/>
          </p:nvPr>
        </p:nvSpPr>
        <p:spPr/>
        <p:txBody>
          <a:bodyPr>
            <a:normAutofit/>
          </a:bodyPr>
          <a:lstStyle/>
          <a:p>
            <a:r>
              <a:rPr lang="en-US" sz="1600" dirty="0" err="1">
                <a:solidFill>
                  <a:srgbClr val="E6E6E6"/>
                </a:solidFill>
              </a:rPr>
              <a:t>Mbr</a:t>
            </a:r>
            <a:r>
              <a:rPr lang="en-US" sz="1600" dirty="0">
                <a:solidFill>
                  <a:srgbClr val="E6E6E6"/>
                </a:solidFill>
              </a:rPr>
              <a:t>(master boot record):</a:t>
            </a:r>
          </a:p>
          <a:p>
            <a:pPr marL="0" indent="0">
              <a:buNone/>
            </a:pPr>
            <a:r>
              <a:rPr lang="en-US" sz="1600" dirty="0">
                <a:solidFill>
                  <a:srgbClr val="E6E6E6"/>
                </a:solidFill>
              </a:rPr>
              <a:t>The MBR is the first sector on the first hard drive partition on the system. There is only one MBR for the computer system.</a:t>
            </a:r>
          </a:p>
          <a:p>
            <a:pPr marL="0" indent="0">
              <a:buNone/>
            </a:pPr>
            <a:endParaRPr lang="en-US" sz="2000" dirty="0"/>
          </a:p>
          <a:p>
            <a:pPr marL="0" indent="0">
              <a:buNone/>
            </a:pPr>
            <a:r>
              <a:rPr lang="en-US" sz="1600" dirty="0">
                <a:solidFill>
                  <a:srgbClr val="E6E6E6"/>
                </a:solidFill>
              </a:rPr>
              <a:t>instead of relying on a single boot sector on a hard drive to hold the boot loader program, UEFI specifies a special disk partition, called the EFI System Partition (ESP), to store boot loader programs. This allows for any size of boot loader program, plus the ability to store multiple boot loader programs for multiple operating systems.</a:t>
            </a:r>
          </a:p>
        </p:txBody>
      </p:sp>
    </p:spTree>
    <p:extLst>
      <p:ext uri="{BB962C8B-B14F-4D97-AF65-F5344CB8AC3E}">
        <p14:creationId xmlns:p14="http://schemas.microsoft.com/office/powerpoint/2010/main" val="855687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35620-0935-EB32-A8A7-3D82FDF12A7B}"/>
              </a:ext>
            </a:extLst>
          </p:cNvPr>
          <p:cNvSpPr>
            <a:spLocks noGrp="1"/>
          </p:cNvSpPr>
          <p:nvPr>
            <p:ph type="title"/>
          </p:nvPr>
        </p:nvSpPr>
        <p:spPr>
          <a:xfrm>
            <a:off x="812508" y="326571"/>
            <a:ext cx="8406138" cy="852195"/>
          </a:xfrm>
        </p:spPr>
        <p:txBody>
          <a:bodyPr/>
          <a:lstStyle/>
          <a:p>
            <a:r>
              <a:rPr lang="en-US" sz="2800" b="1" dirty="0">
                <a:solidFill>
                  <a:srgbClr val="FFFFFF"/>
                </a:solidFill>
              </a:rPr>
              <a:t>                     device files</a:t>
            </a:r>
          </a:p>
        </p:txBody>
      </p:sp>
      <p:sp>
        <p:nvSpPr>
          <p:cNvPr id="3" name="Content Placeholder 2">
            <a:extLst>
              <a:ext uri="{FF2B5EF4-FFF2-40B4-BE49-F238E27FC236}">
                <a16:creationId xmlns:a16="http://schemas.microsoft.com/office/drawing/2014/main" id="{B6514435-0B2B-B9B3-74CB-3E91504DBE45}"/>
              </a:ext>
            </a:extLst>
          </p:cNvPr>
          <p:cNvSpPr>
            <a:spLocks noGrp="1"/>
          </p:cNvSpPr>
          <p:nvPr>
            <p:ph idx="1"/>
          </p:nvPr>
        </p:nvSpPr>
        <p:spPr>
          <a:xfrm>
            <a:off x="1400335" y="2051178"/>
            <a:ext cx="10018713" cy="3124201"/>
          </a:xfrm>
        </p:spPr>
        <p:txBody>
          <a:bodyPr>
            <a:normAutofit/>
          </a:bodyPr>
          <a:lstStyle/>
          <a:p>
            <a:r>
              <a:rPr lang="en-US" sz="1600" dirty="0">
                <a:solidFill>
                  <a:srgbClr val="E6E6E6"/>
                </a:solidFill>
              </a:rPr>
              <a:t>Character device files: Transfer data one character at a time. This method is often used for serial devices such as terminals and USB devices.</a:t>
            </a:r>
          </a:p>
          <a:p>
            <a:r>
              <a:rPr lang="en-US" sz="1600" dirty="0">
                <a:solidFill>
                  <a:srgbClr val="E6E6E6"/>
                </a:solidFill>
              </a:rPr>
              <a:t>usb1=12mbps usb2=480mbps   usb3=20Gbps</a:t>
            </a:r>
          </a:p>
          <a:p>
            <a:endParaRPr lang="en-US" sz="2000" dirty="0"/>
          </a:p>
          <a:p>
            <a:r>
              <a:rPr lang="en-US" sz="1600" dirty="0">
                <a:solidFill>
                  <a:srgbClr val="E6E6E6"/>
                </a:solidFill>
              </a:rPr>
              <a:t> Block device files: Transfer data in large blocks of data. This method is often used for high-speed data transfer devices such as hard drives and network cards.</a:t>
            </a:r>
          </a:p>
          <a:p>
            <a:pPr marL="0" indent="0">
              <a:buNone/>
            </a:pPr>
            <a:endParaRPr lang="en-US" sz="2000" dirty="0"/>
          </a:p>
        </p:txBody>
      </p:sp>
    </p:spTree>
    <p:extLst>
      <p:ext uri="{BB962C8B-B14F-4D97-AF65-F5344CB8AC3E}">
        <p14:creationId xmlns:p14="http://schemas.microsoft.com/office/powerpoint/2010/main" val="2110704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49FB8-717E-4229-1B74-9DBC2C1C4DC4}"/>
              </a:ext>
            </a:extLst>
          </p:cNvPr>
          <p:cNvSpPr>
            <a:spLocks noGrp="1"/>
          </p:cNvSpPr>
          <p:nvPr>
            <p:ph type="title"/>
          </p:nvPr>
        </p:nvSpPr>
        <p:spPr>
          <a:xfrm>
            <a:off x="1139079" y="354564"/>
            <a:ext cx="8443460" cy="628260"/>
          </a:xfrm>
        </p:spPr>
        <p:txBody>
          <a:bodyPr>
            <a:normAutofit fontScale="90000"/>
          </a:bodyPr>
          <a:lstStyle/>
          <a:p>
            <a:r>
              <a:rPr lang="en-US" sz="2800" b="1" dirty="0">
                <a:solidFill>
                  <a:srgbClr val="FFFFFF"/>
                </a:solidFill>
              </a:rPr>
              <a:t>                    hardware</a:t>
            </a:r>
          </a:p>
        </p:txBody>
      </p:sp>
      <p:sp>
        <p:nvSpPr>
          <p:cNvPr id="3" name="Content Placeholder 2">
            <a:extLst>
              <a:ext uri="{FF2B5EF4-FFF2-40B4-BE49-F238E27FC236}">
                <a16:creationId xmlns:a16="http://schemas.microsoft.com/office/drawing/2014/main" id="{832E9650-A2EC-10DC-4958-C1A1406F5F63}"/>
              </a:ext>
            </a:extLst>
          </p:cNvPr>
          <p:cNvSpPr>
            <a:spLocks noGrp="1"/>
          </p:cNvSpPr>
          <p:nvPr>
            <p:ph idx="1"/>
          </p:nvPr>
        </p:nvSpPr>
        <p:spPr>
          <a:xfrm>
            <a:off x="1363012" y="2060509"/>
            <a:ext cx="10018713" cy="3124201"/>
          </a:xfrm>
        </p:spPr>
        <p:txBody>
          <a:bodyPr>
            <a:normAutofit lnSpcReduction="10000"/>
          </a:bodyPr>
          <a:lstStyle/>
          <a:p>
            <a:r>
              <a:rPr lang="en-US" sz="1600" dirty="0" err="1">
                <a:solidFill>
                  <a:srgbClr val="E6E6E6"/>
                </a:solidFill>
              </a:rPr>
              <a:t>Partition:A</a:t>
            </a:r>
            <a:r>
              <a:rPr lang="en-US" sz="1600" dirty="0">
                <a:solidFill>
                  <a:srgbClr val="E6E6E6"/>
                </a:solidFill>
              </a:rPr>
              <a:t> partition is a self-contained section within the drive that the operating system treats as a separate storage space. Partitioning drives can help you better organize your data</a:t>
            </a:r>
          </a:p>
          <a:p>
            <a:r>
              <a:rPr lang="en-US" sz="1600" dirty="0">
                <a:solidFill>
                  <a:srgbClr val="E6E6E6"/>
                </a:solidFill>
              </a:rPr>
              <a:t>Sector=512Byte</a:t>
            </a:r>
          </a:p>
          <a:p>
            <a:endParaRPr lang="en-US" sz="2000" dirty="0"/>
          </a:p>
          <a:p>
            <a:r>
              <a:rPr lang="en-US" sz="1600" dirty="0">
                <a:solidFill>
                  <a:srgbClr val="E6E6E6"/>
                </a:solidFill>
              </a:rPr>
              <a:t>In bios </a:t>
            </a:r>
            <a:r>
              <a:rPr lang="en-US" sz="1600" dirty="0" err="1">
                <a:solidFill>
                  <a:srgbClr val="E6E6E6"/>
                </a:solidFill>
              </a:rPr>
              <a:t>mbr</a:t>
            </a:r>
            <a:r>
              <a:rPr lang="en-US" sz="1600" dirty="0">
                <a:solidFill>
                  <a:srgbClr val="E6E6E6"/>
                </a:solidFill>
              </a:rPr>
              <a:t> this method supports only up to four primary partitions on a drive. Each primary partition itself, however, can be split into multiple extended partitions. Systems that use the UEFI boot loader method use the more advanced GUID Partition Table (GPT) method for managing partitions, which supports up to 128 partitions on a drive</a:t>
            </a:r>
          </a:p>
        </p:txBody>
      </p:sp>
    </p:spTree>
    <p:extLst>
      <p:ext uri="{BB962C8B-B14F-4D97-AF65-F5344CB8AC3E}">
        <p14:creationId xmlns:p14="http://schemas.microsoft.com/office/powerpoint/2010/main" val="7181648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F566-8F84-5D76-A211-FC5C100D48F8}"/>
              </a:ext>
            </a:extLst>
          </p:cNvPr>
          <p:cNvSpPr>
            <a:spLocks noGrp="1"/>
          </p:cNvSpPr>
          <p:nvPr>
            <p:ph type="title"/>
          </p:nvPr>
        </p:nvSpPr>
        <p:spPr>
          <a:xfrm>
            <a:off x="1157740" y="354563"/>
            <a:ext cx="8387477" cy="805542"/>
          </a:xfrm>
        </p:spPr>
        <p:txBody>
          <a:bodyPr/>
          <a:lstStyle/>
          <a:p>
            <a:r>
              <a:rPr lang="en-US" sz="2800" b="1" dirty="0">
                <a:solidFill>
                  <a:srgbClr val="FFFFFF"/>
                </a:solidFill>
              </a:rPr>
              <a:t>                    structure hard</a:t>
            </a:r>
          </a:p>
        </p:txBody>
      </p:sp>
      <p:sp>
        <p:nvSpPr>
          <p:cNvPr id="3" name="Content Placeholder 2">
            <a:extLst>
              <a:ext uri="{FF2B5EF4-FFF2-40B4-BE49-F238E27FC236}">
                <a16:creationId xmlns:a16="http://schemas.microsoft.com/office/drawing/2014/main" id="{30144FF7-6E6C-D7E4-3280-2B39625A53D8}"/>
              </a:ext>
            </a:extLst>
          </p:cNvPr>
          <p:cNvSpPr>
            <a:spLocks noGrp="1"/>
          </p:cNvSpPr>
          <p:nvPr>
            <p:ph idx="1"/>
          </p:nvPr>
        </p:nvSpPr>
        <p:spPr>
          <a:xfrm>
            <a:off x="1391036" y="1626664"/>
            <a:ext cx="10085649" cy="4274073"/>
          </a:xfrm>
        </p:spPr>
        <p:txBody>
          <a:bodyPr>
            <a:normAutofit/>
          </a:bodyPr>
          <a:lstStyle/>
          <a:p>
            <a:r>
              <a:rPr lang="en-US" sz="1600" dirty="0">
                <a:solidFill>
                  <a:srgbClr val="E6E6E6"/>
                </a:solidFill>
              </a:rPr>
              <a:t>Hard  is blue</a:t>
            </a:r>
          </a:p>
          <a:p>
            <a:r>
              <a:rPr lang="en-US" sz="1600" dirty="0">
                <a:solidFill>
                  <a:srgbClr val="E6E6E6"/>
                </a:solidFill>
              </a:rPr>
              <a:t>Partition is green</a:t>
            </a:r>
          </a:p>
          <a:p>
            <a:r>
              <a:rPr lang="en-US" sz="1600" dirty="0">
                <a:solidFill>
                  <a:srgbClr val="E6E6E6"/>
                </a:solidFill>
              </a:rPr>
              <a:t>Sector is orange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1600" dirty="0" err="1">
                <a:solidFill>
                  <a:srgbClr val="E6E6E6"/>
                </a:solidFill>
              </a:rPr>
              <a:t>Bootloadr</a:t>
            </a:r>
            <a:r>
              <a:rPr lang="en-US" sz="1600" dirty="0">
                <a:solidFill>
                  <a:srgbClr val="E6E6E6"/>
                </a:solidFill>
              </a:rPr>
              <a:t> in </a:t>
            </a:r>
            <a:r>
              <a:rPr lang="en-US" sz="1600" dirty="0" err="1">
                <a:solidFill>
                  <a:srgbClr val="E6E6E6"/>
                </a:solidFill>
              </a:rPr>
              <a:t>linux</a:t>
            </a:r>
            <a:r>
              <a:rPr lang="en-US" sz="1600" dirty="0">
                <a:solidFill>
                  <a:srgbClr val="E6E6E6"/>
                </a:solidFill>
              </a:rPr>
              <a:t> is grub</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4" name="Ink 3">
                <a:extLst>
                  <a:ext uri="{FF2B5EF4-FFF2-40B4-BE49-F238E27FC236}">
                    <a16:creationId xmlns:a16="http://schemas.microsoft.com/office/drawing/2014/main" id="{A9912E90-0C1A-E095-2464-7612D4B71CB8}"/>
                  </a:ext>
                </a:extLst>
              </p14:cNvPr>
              <p14:cNvContentPartPr/>
              <p14:nvPr/>
            </p14:nvContentPartPr>
            <p14:xfrm>
              <a:off x="5775448" y="3299802"/>
              <a:ext cx="360" cy="360"/>
            </p14:xfrm>
          </p:contentPart>
        </mc:Choice>
        <mc:Fallback xmlns="">
          <p:pic>
            <p:nvPicPr>
              <p:cNvPr id="4" name="Ink 3">
                <a:extLst>
                  <a:ext uri="{FF2B5EF4-FFF2-40B4-BE49-F238E27FC236}">
                    <a16:creationId xmlns:a16="http://schemas.microsoft.com/office/drawing/2014/main" id="{A9912E90-0C1A-E095-2464-7612D4B71CB8}"/>
                  </a:ext>
                </a:extLst>
              </p:cNvPr>
              <p:cNvPicPr/>
              <p:nvPr/>
            </p:nvPicPr>
            <p:blipFill>
              <a:blip r:embed="rId3"/>
              <a:stretch>
                <a:fillRect/>
              </a:stretch>
            </p:blipFill>
            <p:spPr>
              <a:xfrm>
                <a:off x="5757448" y="3191802"/>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6" name="Ink 5">
                <a:extLst>
                  <a:ext uri="{FF2B5EF4-FFF2-40B4-BE49-F238E27FC236}">
                    <a16:creationId xmlns:a16="http://schemas.microsoft.com/office/drawing/2014/main" id="{761ABA30-304A-F587-2CFE-A816D69BEAD1}"/>
                  </a:ext>
                </a:extLst>
              </p14:cNvPr>
              <p14:cNvContentPartPr/>
              <p14:nvPr/>
            </p14:nvContentPartPr>
            <p14:xfrm>
              <a:off x="5876248" y="3884802"/>
              <a:ext cx="360" cy="360"/>
            </p14:xfrm>
          </p:contentPart>
        </mc:Choice>
        <mc:Fallback xmlns="">
          <p:pic>
            <p:nvPicPr>
              <p:cNvPr id="6" name="Ink 5">
                <a:extLst>
                  <a:ext uri="{FF2B5EF4-FFF2-40B4-BE49-F238E27FC236}">
                    <a16:creationId xmlns:a16="http://schemas.microsoft.com/office/drawing/2014/main" id="{761ABA30-304A-F587-2CFE-A816D69BEAD1}"/>
                  </a:ext>
                </a:extLst>
              </p:cNvPr>
              <p:cNvPicPr/>
              <p:nvPr/>
            </p:nvPicPr>
            <p:blipFill>
              <a:blip r:embed="rId5"/>
              <a:stretch>
                <a:fillRect/>
              </a:stretch>
            </p:blipFill>
            <p:spPr>
              <a:xfrm>
                <a:off x="5858248" y="3776802"/>
                <a:ext cx="36000" cy="216000"/>
              </a:xfrm>
              <a:prstGeom prst="rect">
                <a:avLst/>
              </a:prstGeom>
            </p:spPr>
          </p:pic>
        </mc:Fallback>
      </mc:AlternateContent>
      <p:sp>
        <p:nvSpPr>
          <p:cNvPr id="7" name="Rectangle 6">
            <a:extLst>
              <a:ext uri="{FF2B5EF4-FFF2-40B4-BE49-F238E27FC236}">
                <a16:creationId xmlns:a16="http://schemas.microsoft.com/office/drawing/2014/main" id="{5FC41CB2-5F9A-2552-7C30-090345D70A6A}"/>
              </a:ext>
            </a:extLst>
          </p:cNvPr>
          <p:cNvSpPr/>
          <p:nvPr/>
        </p:nvSpPr>
        <p:spPr>
          <a:xfrm>
            <a:off x="6235845" y="4005771"/>
            <a:ext cx="5566659" cy="1912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sz="1600" dirty="0">
                <a:solidFill>
                  <a:srgbClr val="E6E6E6"/>
                </a:solidFill>
              </a:rPr>
              <a:t>hard</a:t>
            </a:r>
          </a:p>
          <a:p>
            <a:pPr algn="ctr"/>
            <a:endParaRPr lang="en-US" dirty="0"/>
          </a:p>
          <a:p>
            <a:pPr algn="ctr"/>
            <a:endParaRPr lang="en-US" dirty="0"/>
          </a:p>
          <a:p>
            <a:pPr algn="ctr"/>
            <a:endParaRPr lang="en-US" dirty="0"/>
          </a:p>
          <a:p>
            <a:pPr algn="ctr"/>
            <a:endParaRPr lang="en-US" dirty="0"/>
          </a:p>
        </p:txBody>
      </p:sp>
      <p:sp>
        <p:nvSpPr>
          <p:cNvPr id="8" name="Rectangle 7">
            <a:extLst>
              <a:ext uri="{FF2B5EF4-FFF2-40B4-BE49-F238E27FC236}">
                <a16:creationId xmlns:a16="http://schemas.microsoft.com/office/drawing/2014/main" id="{C12FA3CF-7106-5878-9655-8BF360A1005B}"/>
              </a:ext>
            </a:extLst>
          </p:cNvPr>
          <p:cNvSpPr/>
          <p:nvPr/>
        </p:nvSpPr>
        <p:spPr>
          <a:xfrm>
            <a:off x="7085372" y="4206038"/>
            <a:ext cx="3715592" cy="1512435"/>
          </a:xfrm>
          <a:prstGeom prst="rect">
            <a:avLst/>
          </a:pr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r>
              <a:rPr lang="en-US" sz="1600" dirty="0">
                <a:solidFill>
                  <a:srgbClr val="E6E6E6"/>
                </a:solidFill>
              </a:rPr>
              <a:t>partition</a:t>
            </a:r>
          </a:p>
          <a:p>
            <a:pPr algn="ctr"/>
            <a:endParaRPr lang="en-US" dirty="0"/>
          </a:p>
        </p:txBody>
      </p:sp>
      <p:sp>
        <p:nvSpPr>
          <p:cNvPr id="9" name="Rectangle 8">
            <a:extLst>
              <a:ext uri="{FF2B5EF4-FFF2-40B4-BE49-F238E27FC236}">
                <a16:creationId xmlns:a16="http://schemas.microsoft.com/office/drawing/2014/main" id="{A409E750-EC5F-F171-D9B0-F09E9B03473B}"/>
              </a:ext>
            </a:extLst>
          </p:cNvPr>
          <p:cNvSpPr/>
          <p:nvPr/>
        </p:nvSpPr>
        <p:spPr>
          <a:xfrm>
            <a:off x="8229371" y="4492467"/>
            <a:ext cx="1579606" cy="73886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E6E6E6"/>
                </a:solidFill>
              </a:rPr>
              <a:t>sector</a:t>
            </a:r>
          </a:p>
        </p:txBody>
      </p:sp>
    </p:spTree>
    <p:extLst>
      <p:ext uri="{BB962C8B-B14F-4D97-AF65-F5344CB8AC3E}">
        <p14:creationId xmlns:p14="http://schemas.microsoft.com/office/powerpoint/2010/main" val="20027387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104C9-E41D-BD57-39A8-4189984A2B30}"/>
              </a:ext>
            </a:extLst>
          </p:cNvPr>
          <p:cNvSpPr>
            <a:spLocks noGrp="1"/>
          </p:cNvSpPr>
          <p:nvPr>
            <p:ph type="title"/>
          </p:nvPr>
        </p:nvSpPr>
        <p:spPr>
          <a:xfrm>
            <a:off x="1997495" y="130630"/>
            <a:ext cx="8779362" cy="936170"/>
          </a:xfrm>
        </p:spPr>
        <p:txBody>
          <a:bodyPr/>
          <a:lstStyle/>
          <a:p>
            <a:pPr algn="ctr"/>
            <a:r>
              <a:rPr lang="en-US" sz="2800" b="1" dirty="0" err="1">
                <a:solidFill>
                  <a:srgbClr val="FFFFFF"/>
                </a:solidFill>
              </a:rPr>
              <a:t>fdisk</a:t>
            </a:r>
            <a:r>
              <a:rPr lang="fa-IR" sz="2800" b="1" dirty="0">
                <a:solidFill>
                  <a:srgbClr val="FFFFFF"/>
                </a:solidFill>
              </a:rPr>
              <a:t> </a:t>
            </a:r>
            <a:endParaRPr lang="en-US" dirty="0"/>
          </a:p>
        </p:txBody>
      </p:sp>
      <p:sp>
        <p:nvSpPr>
          <p:cNvPr id="3" name="Content Placeholder 2">
            <a:extLst>
              <a:ext uri="{FF2B5EF4-FFF2-40B4-BE49-F238E27FC236}">
                <a16:creationId xmlns:a16="http://schemas.microsoft.com/office/drawing/2014/main" id="{670251B6-04F6-4034-E4B0-40008E6DCF10}"/>
              </a:ext>
            </a:extLst>
          </p:cNvPr>
          <p:cNvSpPr>
            <a:spLocks noGrp="1"/>
          </p:cNvSpPr>
          <p:nvPr>
            <p:ph idx="1"/>
          </p:nvPr>
        </p:nvSpPr>
        <p:spPr/>
        <p:txBody>
          <a:bodyPr>
            <a:noAutofit/>
          </a:bodyPr>
          <a:lstStyle/>
          <a:p>
            <a:r>
              <a:rPr lang="en-US" sz="1600" dirty="0" err="1">
                <a:solidFill>
                  <a:srgbClr val="E6E6E6"/>
                </a:solidFill>
              </a:rPr>
              <a:t>fdisk</a:t>
            </a:r>
            <a:r>
              <a:rPr lang="en-US" sz="1600" dirty="0">
                <a:solidFill>
                  <a:srgbClr val="E6E6E6"/>
                </a:solidFill>
              </a:rPr>
              <a:t> : </a:t>
            </a:r>
            <a:r>
              <a:rPr lang="en-US" sz="1600" dirty="0" err="1">
                <a:solidFill>
                  <a:srgbClr val="E6E6E6"/>
                </a:solidFill>
              </a:rPr>
              <a:t>fdisk</a:t>
            </a:r>
            <a:r>
              <a:rPr lang="en-US" sz="1600" dirty="0">
                <a:solidFill>
                  <a:srgbClr val="E6E6E6"/>
                </a:solidFill>
              </a:rPr>
              <a:t> program allows you to create, view, delete, and modify partitions on any drive that uses the MBR method of indexing partitions.</a:t>
            </a:r>
          </a:p>
          <a:p>
            <a:endParaRPr lang="en-US" sz="2000" dirty="0"/>
          </a:p>
          <a:p>
            <a:r>
              <a:rPr lang="en-US" sz="1600" dirty="0">
                <a:solidFill>
                  <a:srgbClr val="E6E6E6"/>
                </a:solidFill>
              </a:rPr>
              <a:t>m show the menu to choose action</a:t>
            </a:r>
          </a:p>
          <a:p>
            <a:endParaRPr lang="en-US" sz="2000" dirty="0"/>
          </a:p>
          <a:p>
            <a:r>
              <a:rPr lang="en-US" sz="1600" dirty="0">
                <a:solidFill>
                  <a:srgbClr val="E6E6E6"/>
                </a:solidFill>
              </a:rPr>
              <a:t>d   delete partition that create</a:t>
            </a:r>
          </a:p>
          <a:p>
            <a:endParaRPr lang="en-US" sz="2000" dirty="0"/>
          </a:p>
          <a:p>
            <a:r>
              <a:rPr lang="en-US" sz="1600" dirty="0">
                <a:solidFill>
                  <a:srgbClr val="E6E6E6"/>
                </a:solidFill>
              </a:rPr>
              <a:t>w    write </a:t>
            </a:r>
            <a:r>
              <a:rPr lang="en-US" sz="1600" dirty="0" err="1">
                <a:solidFill>
                  <a:srgbClr val="E6E6E6"/>
                </a:solidFill>
              </a:rPr>
              <a:t>partiotin</a:t>
            </a:r>
            <a:r>
              <a:rPr lang="en-US" sz="1600" dirty="0">
                <a:solidFill>
                  <a:srgbClr val="E6E6E6"/>
                </a:solidFill>
              </a:rPr>
              <a:t> on disk be </a:t>
            </a:r>
            <a:r>
              <a:rPr lang="en-US" sz="1600" dirty="0" err="1">
                <a:solidFill>
                  <a:srgbClr val="E6E6E6"/>
                </a:solidFill>
              </a:rPr>
              <a:t>carfull</a:t>
            </a:r>
            <a:r>
              <a:rPr lang="en-US" sz="1600" dirty="0">
                <a:solidFill>
                  <a:srgbClr val="E6E6E6"/>
                </a:solidFill>
              </a:rPr>
              <a:t> before this action data in memory and don’t save</a:t>
            </a:r>
          </a:p>
          <a:p>
            <a:pPr marL="0" indent="0">
              <a:buNone/>
            </a:pPr>
            <a:endParaRPr lang="en-US" sz="2000" dirty="0"/>
          </a:p>
        </p:txBody>
      </p:sp>
    </p:spTree>
    <p:extLst>
      <p:ext uri="{BB962C8B-B14F-4D97-AF65-F5344CB8AC3E}">
        <p14:creationId xmlns:p14="http://schemas.microsoft.com/office/powerpoint/2010/main" val="5056496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55EC0-BD09-1EB8-72D3-D411FD00C106}"/>
              </a:ext>
            </a:extLst>
          </p:cNvPr>
          <p:cNvSpPr>
            <a:spLocks noGrp="1"/>
          </p:cNvSpPr>
          <p:nvPr>
            <p:ph type="title"/>
          </p:nvPr>
        </p:nvSpPr>
        <p:spPr>
          <a:xfrm>
            <a:off x="401960" y="354563"/>
            <a:ext cx="8723379" cy="926840"/>
          </a:xfrm>
        </p:spPr>
        <p:txBody>
          <a:bodyPr/>
          <a:lstStyle/>
          <a:p>
            <a:r>
              <a:rPr lang="en-US" sz="2800" b="1" dirty="0">
                <a:solidFill>
                  <a:srgbClr val="FFFFFF"/>
                </a:solidFill>
              </a:rPr>
              <a:t>                         </a:t>
            </a:r>
            <a:r>
              <a:rPr lang="en-US" sz="2800" b="1" dirty="0" err="1">
                <a:solidFill>
                  <a:srgbClr val="FFFFFF"/>
                </a:solidFill>
              </a:rPr>
              <a:t>fdisk</a:t>
            </a:r>
            <a:endParaRPr lang="en-US" dirty="0"/>
          </a:p>
        </p:txBody>
      </p:sp>
      <p:sp>
        <p:nvSpPr>
          <p:cNvPr id="3" name="Content Placeholder 2">
            <a:extLst>
              <a:ext uri="{FF2B5EF4-FFF2-40B4-BE49-F238E27FC236}">
                <a16:creationId xmlns:a16="http://schemas.microsoft.com/office/drawing/2014/main" id="{BA7B7382-26A1-F703-6A5E-AC72CDD515F0}"/>
              </a:ext>
            </a:extLst>
          </p:cNvPr>
          <p:cNvSpPr>
            <a:spLocks noGrp="1"/>
          </p:cNvSpPr>
          <p:nvPr>
            <p:ph idx="1"/>
          </p:nvPr>
        </p:nvSpPr>
        <p:spPr/>
        <p:txBody>
          <a:bodyPr>
            <a:normAutofit/>
          </a:bodyPr>
          <a:lstStyle/>
          <a:p>
            <a:r>
              <a:rPr lang="en-US" sz="1600" dirty="0">
                <a:solidFill>
                  <a:srgbClr val="E6E6E6"/>
                </a:solidFill>
              </a:rPr>
              <a:t>t     Change a partition’s system ID and L show type of file system for example 8e is </a:t>
            </a:r>
            <a:r>
              <a:rPr lang="en-US" sz="1600" dirty="0" err="1">
                <a:solidFill>
                  <a:srgbClr val="E6E6E6"/>
                </a:solidFill>
              </a:rPr>
              <a:t>lvm</a:t>
            </a:r>
            <a:endParaRPr lang="en-US" sz="2000" dirty="0"/>
          </a:p>
          <a:p>
            <a:endParaRPr lang="en-US" sz="2000" dirty="0"/>
          </a:p>
          <a:p>
            <a:r>
              <a:rPr lang="en-US" sz="1600" dirty="0">
                <a:solidFill>
                  <a:srgbClr val="E6E6E6"/>
                </a:solidFill>
              </a:rPr>
              <a:t>q    quit without saving</a:t>
            </a:r>
          </a:p>
          <a:p>
            <a:endParaRPr lang="en-US" sz="2000" dirty="0"/>
          </a:p>
          <a:p>
            <a:r>
              <a:rPr lang="en-US" sz="1600" dirty="0">
                <a:solidFill>
                  <a:srgbClr val="E6E6E6"/>
                </a:solidFill>
              </a:rPr>
              <a:t>n     add a new partition</a:t>
            </a:r>
          </a:p>
          <a:p>
            <a:endParaRPr lang="en-US" sz="2000" dirty="0"/>
          </a:p>
          <a:p>
            <a:r>
              <a:rPr lang="en-US" sz="1600" dirty="0">
                <a:solidFill>
                  <a:srgbClr val="E6E6E6"/>
                </a:solidFill>
              </a:rPr>
              <a:t>p    displays the current partition scheme on the drive</a:t>
            </a:r>
          </a:p>
          <a:p>
            <a:endParaRPr lang="en-US" sz="2000" dirty="0"/>
          </a:p>
          <a:p>
            <a:endParaRPr lang="en-US" sz="2000" dirty="0"/>
          </a:p>
        </p:txBody>
      </p:sp>
    </p:spTree>
    <p:extLst>
      <p:ext uri="{BB962C8B-B14F-4D97-AF65-F5344CB8AC3E}">
        <p14:creationId xmlns:p14="http://schemas.microsoft.com/office/powerpoint/2010/main" val="26458650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951A7-FFBE-BB0B-EB0C-CCA13E8ADC79}"/>
              </a:ext>
            </a:extLst>
          </p:cNvPr>
          <p:cNvSpPr>
            <a:spLocks noGrp="1"/>
          </p:cNvSpPr>
          <p:nvPr>
            <p:ph type="title"/>
          </p:nvPr>
        </p:nvSpPr>
        <p:spPr>
          <a:xfrm>
            <a:off x="1045774" y="326571"/>
            <a:ext cx="8919322" cy="1029477"/>
          </a:xfrm>
        </p:spPr>
        <p:txBody>
          <a:bodyPr/>
          <a:lstStyle/>
          <a:p>
            <a:r>
              <a:rPr lang="en-US" sz="2800" b="1" dirty="0">
                <a:solidFill>
                  <a:srgbClr val="FFFFFF"/>
                </a:solidFill>
              </a:rPr>
              <a:t>                  important</a:t>
            </a:r>
          </a:p>
        </p:txBody>
      </p:sp>
      <p:sp>
        <p:nvSpPr>
          <p:cNvPr id="3" name="Content Placeholder 2">
            <a:extLst>
              <a:ext uri="{FF2B5EF4-FFF2-40B4-BE49-F238E27FC236}">
                <a16:creationId xmlns:a16="http://schemas.microsoft.com/office/drawing/2014/main" id="{0DA2D623-AA80-DF38-6568-9EB098528F80}"/>
              </a:ext>
            </a:extLst>
          </p:cNvPr>
          <p:cNvSpPr>
            <a:spLocks noGrp="1"/>
          </p:cNvSpPr>
          <p:nvPr>
            <p:ph idx="1"/>
          </p:nvPr>
        </p:nvSpPr>
        <p:spPr/>
        <p:txBody>
          <a:bodyPr>
            <a:normAutofit/>
          </a:bodyPr>
          <a:lstStyle/>
          <a:p>
            <a:r>
              <a:rPr lang="en-US" sz="1600" dirty="0">
                <a:solidFill>
                  <a:srgbClr val="E6E6E6"/>
                </a:solidFill>
              </a:rPr>
              <a:t>For scan hard don’t reboot system just use from below </a:t>
            </a:r>
          </a:p>
          <a:p>
            <a:endParaRPr lang="en-US" sz="2000" dirty="0"/>
          </a:p>
          <a:p>
            <a:r>
              <a:rPr lang="en-US" sz="1600" dirty="0">
                <a:solidFill>
                  <a:srgbClr val="E6E6E6"/>
                </a:solidFill>
              </a:rPr>
              <a:t>echo  “- - -” &gt; /sys/class/</a:t>
            </a:r>
            <a:r>
              <a:rPr lang="en-US" sz="1600" dirty="0" err="1">
                <a:solidFill>
                  <a:srgbClr val="E6E6E6"/>
                </a:solidFill>
              </a:rPr>
              <a:t>scsi_host</a:t>
            </a:r>
            <a:r>
              <a:rPr lang="en-US" sz="1600" dirty="0">
                <a:solidFill>
                  <a:srgbClr val="E6E6E6"/>
                </a:solidFill>
              </a:rPr>
              <a:t>/host0/scan</a:t>
            </a:r>
          </a:p>
          <a:p>
            <a:endParaRPr lang="en-US" sz="2000" dirty="0"/>
          </a:p>
          <a:p>
            <a:endParaRPr lang="en-US" sz="2000" dirty="0"/>
          </a:p>
          <a:p>
            <a:r>
              <a:rPr lang="en-US" sz="1600" dirty="0">
                <a:solidFill>
                  <a:srgbClr val="E6E6E6"/>
                </a:solidFill>
              </a:rPr>
              <a:t>Primary vs extend----</a:t>
            </a:r>
            <a:r>
              <a:rPr lang="en-US" sz="1600" dirty="0">
                <a:solidFill>
                  <a:srgbClr val="E6E6E6"/>
                </a:solidFill>
                <a:sym typeface="Wingdings" panose="05000000000000000000" pitchFamily="2" charset="2"/>
              </a:rPr>
              <a:t> bootloader in primary disk </a:t>
            </a:r>
          </a:p>
          <a:p>
            <a:r>
              <a:rPr lang="en-US" sz="1600" dirty="0">
                <a:solidFill>
                  <a:srgbClr val="E6E6E6"/>
                </a:solidFill>
                <a:sym typeface="Wingdings" panose="05000000000000000000" pitchFamily="2" charset="2"/>
              </a:rPr>
              <a:t>Max partition 4        </a:t>
            </a:r>
            <a:endParaRPr lang="en-US" sz="2000" dirty="0"/>
          </a:p>
        </p:txBody>
      </p:sp>
    </p:spTree>
    <p:extLst>
      <p:ext uri="{BB962C8B-B14F-4D97-AF65-F5344CB8AC3E}">
        <p14:creationId xmlns:p14="http://schemas.microsoft.com/office/powerpoint/2010/main" val="35417513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9F117-2496-CCF1-7789-37EB7C9727EA}"/>
              </a:ext>
            </a:extLst>
          </p:cNvPr>
          <p:cNvSpPr>
            <a:spLocks noGrp="1"/>
          </p:cNvSpPr>
          <p:nvPr>
            <p:ph type="title"/>
          </p:nvPr>
        </p:nvSpPr>
        <p:spPr>
          <a:xfrm>
            <a:off x="1484310" y="289250"/>
            <a:ext cx="7015877" cy="777550"/>
          </a:xfrm>
        </p:spPr>
        <p:txBody>
          <a:bodyPr/>
          <a:lstStyle/>
          <a:p>
            <a:r>
              <a:rPr lang="en-US" sz="2800" b="1" dirty="0">
                <a:solidFill>
                  <a:srgbClr val="FFFFFF"/>
                </a:solidFill>
              </a:rPr>
              <a:t>                        </a:t>
            </a:r>
            <a:r>
              <a:rPr lang="en-US" sz="2800" b="1" dirty="0" err="1">
                <a:solidFill>
                  <a:srgbClr val="FFFFFF"/>
                </a:solidFill>
              </a:rPr>
              <a:t>gdisk</a:t>
            </a:r>
            <a:endParaRPr lang="en-US" dirty="0"/>
          </a:p>
        </p:txBody>
      </p:sp>
      <p:sp>
        <p:nvSpPr>
          <p:cNvPr id="3" name="Content Placeholder 2">
            <a:extLst>
              <a:ext uri="{FF2B5EF4-FFF2-40B4-BE49-F238E27FC236}">
                <a16:creationId xmlns:a16="http://schemas.microsoft.com/office/drawing/2014/main" id="{74602DA3-3E90-3D53-2D5F-E19A55A0D1E4}"/>
              </a:ext>
            </a:extLst>
          </p:cNvPr>
          <p:cNvSpPr>
            <a:spLocks noGrp="1"/>
          </p:cNvSpPr>
          <p:nvPr>
            <p:ph idx="1"/>
          </p:nvPr>
        </p:nvSpPr>
        <p:spPr/>
        <p:txBody>
          <a:bodyPr>
            <a:normAutofit fontScale="92500" lnSpcReduction="10000"/>
          </a:bodyPr>
          <a:lstStyle/>
          <a:p>
            <a:r>
              <a:rPr lang="en-US" sz="1600" dirty="0">
                <a:solidFill>
                  <a:srgbClr val="E6E6E6"/>
                </a:solidFill>
              </a:rPr>
              <a:t>If you’re working with drives that use the GPT indexing method, you’ll need to use the </a:t>
            </a:r>
            <a:r>
              <a:rPr lang="en-US" sz="1600" dirty="0" err="1">
                <a:solidFill>
                  <a:srgbClr val="E6E6E6"/>
                </a:solidFill>
              </a:rPr>
              <a:t>gdisk</a:t>
            </a:r>
            <a:r>
              <a:rPr lang="en-US" sz="1600" dirty="0">
                <a:solidFill>
                  <a:srgbClr val="E6E6E6"/>
                </a:solidFill>
              </a:rPr>
              <a:t> program: </a:t>
            </a:r>
          </a:p>
          <a:p>
            <a:endParaRPr lang="en-US" sz="2000" dirty="0"/>
          </a:p>
          <a:p>
            <a:r>
              <a:rPr lang="en-US" sz="1600" dirty="0" err="1">
                <a:solidFill>
                  <a:srgbClr val="E6E6E6"/>
                </a:solidFill>
              </a:rPr>
              <a:t>Fdisk</a:t>
            </a:r>
            <a:r>
              <a:rPr lang="en-US" sz="1600" dirty="0">
                <a:solidFill>
                  <a:srgbClr val="E6E6E6"/>
                </a:solidFill>
              </a:rPr>
              <a:t> &lt;=2TB  </a:t>
            </a:r>
          </a:p>
          <a:p>
            <a:endParaRPr lang="en-US" sz="2000" dirty="0"/>
          </a:p>
          <a:p>
            <a:r>
              <a:rPr lang="en-US" sz="1600" dirty="0">
                <a:solidFill>
                  <a:srgbClr val="E6E6E6"/>
                </a:solidFill>
              </a:rPr>
              <a:t>Fat32 vs </a:t>
            </a:r>
            <a:r>
              <a:rPr lang="en-US" sz="1600" dirty="0" err="1">
                <a:solidFill>
                  <a:srgbClr val="E6E6E6"/>
                </a:solidFill>
              </a:rPr>
              <a:t>ntfs</a:t>
            </a:r>
            <a:r>
              <a:rPr lang="en-US" sz="1600" dirty="0">
                <a:solidFill>
                  <a:srgbClr val="E6E6E6"/>
                </a:solidFill>
              </a:rPr>
              <a:t> support in </a:t>
            </a:r>
            <a:r>
              <a:rPr lang="en-US" sz="1600" dirty="0" err="1">
                <a:solidFill>
                  <a:srgbClr val="E6E6E6"/>
                </a:solidFill>
              </a:rPr>
              <a:t>linux</a:t>
            </a:r>
            <a:r>
              <a:rPr lang="en-US" sz="1600" dirty="0">
                <a:solidFill>
                  <a:srgbClr val="E6E6E6"/>
                </a:solidFill>
              </a:rPr>
              <a:t> but not used more</a:t>
            </a:r>
          </a:p>
          <a:p>
            <a:endParaRPr lang="en-US" sz="2000" dirty="0"/>
          </a:p>
          <a:p>
            <a:pPr marL="0" indent="0">
              <a:buNone/>
            </a:pPr>
            <a:r>
              <a:rPr lang="en-US" sz="1600" dirty="0" err="1">
                <a:solidFill>
                  <a:srgbClr val="E6E6E6"/>
                </a:solidFill>
              </a:rPr>
              <a:t>Ntfs</a:t>
            </a:r>
            <a:r>
              <a:rPr lang="en-US" sz="1600" dirty="0">
                <a:solidFill>
                  <a:srgbClr val="E6E6E6"/>
                </a:solidFill>
              </a:rPr>
              <a:t> one file &gt;4G   in fat32&lt;=4G</a:t>
            </a:r>
          </a:p>
          <a:p>
            <a:endParaRPr lang="en-US" sz="2000" dirty="0"/>
          </a:p>
          <a:p>
            <a:endParaRPr lang="en-US" sz="2000" dirty="0"/>
          </a:p>
        </p:txBody>
      </p:sp>
    </p:spTree>
    <p:extLst>
      <p:ext uri="{BB962C8B-B14F-4D97-AF65-F5344CB8AC3E}">
        <p14:creationId xmlns:p14="http://schemas.microsoft.com/office/powerpoint/2010/main" val="38522601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95EFE-BD48-2CAB-21C6-2AF40D4BE93F}"/>
              </a:ext>
            </a:extLst>
          </p:cNvPr>
          <p:cNvSpPr>
            <a:spLocks noGrp="1"/>
          </p:cNvSpPr>
          <p:nvPr>
            <p:ph type="title"/>
          </p:nvPr>
        </p:nvSpPr>
        <p:spPr>
          <a:xfrm>
            <a:off x="937892" y="195942"/>
            <a:ext cx="8658065" cy="973493"/>
          </a:xfrm>
        </p:spPr>
        <p:txBody>
          <a:bodyPr/>
          <a:lstStyle/>
          <a:p>
            <a:r>
              <a:rPr lang="en-US" sz="2800" b="1" dirty="0">
                <a:solidFill>
                  <a:srgbClr val="FFFFFF"/>
                </a:solidFill>
              </a:rPr>
              <a:t>                   GiB vs GB</a:t>
            </a:r>
          </a:p>
        </p:txBody>
      </p:sp>
      <p:pic>
        <p:nvPicPr>
          <p:cNvPr id="5" name="Content Placeholder 4">
            <a:extLst>
              <a:ext uri="{FF2B5EF4-FFF2-40B4-BE49-F238E27FC236}">
                <a16:creationId xmlns:a16="http://schemas.microsoft.com/office/drawing/2014/main" id="{0B39C135-C995-BF52-F844-CDB27D585F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36057" y="3429000"/>
            <a:ext cx="5315223" cy="2470277"/>
          </a:xfrm>
        </p:spPr>
      </p:pic>
      <p:sp>
        <p:nvSpPr>
          <p:cNvPr id="7" name="TextBox 6">
            <a:extLst>
              <a:ext uri="{FF2B5EF4-FFF2-40B4-BE49-F238E27FC236}">
                <a16:creationId xmlns:a16="http://schemas.microsoft.com/office/drawing/2014/main" id="{F29C5F6C-BD81-1DB4-6549-3934327FA86E}"/>
              </a:ext>
            </a:extLst>
          </p:cNvPr>
          <p:cNvSpPr txBox="1"/>
          <p:nvPr/>
        </p:nvSpPr>
        <p:spPr>
          <a:xfrm>
            <a:off x="1986220" y="2492183"/>
            <a:ext cx="6094878" cy="369332"/>
          </a:xfrm>
          <a:prstGeom prst="rect">
            <a:avLst/>
          </a:prstGeom>
          <a:noFill/>
        </p:spPr>
        <p:txBody>
          <a:bodyPr wrap="square">
            <a:spAutoFit/>
          </a:bodyPr>
          <a:lstStyle/>
          <a:p>
            <a:r>
              <a:rPr lang="en-US" sz="1600" b="0" i="0" dirty="0">
                <a:solidFill>
                  <a:srgbClr val="E6E6E6"/>
                </a:solidFill>
                <a:effectLst/>
                <a:latin typeface="Nunito" panose="020B0604020202020204" pitchFamily="2" charset="0"/>
              </a:rPr>
              <a:t>That means one GB equals 0.93 GiB</a:t>
            </a:r>
            <a:endParaRPr lang="en-US" dirty="0"/>
          </a:p>
        </p:txBody>
      </p:sp>
    </p:spTree>
    <p:extLst>
      <p:ext uri="{BB962C8B-B14F-4D97-AF65-F5344CB8AC3E}">
        <p14:creationId xmlns:p14="http://schemas.microsoft.com/office/powerpoint/2010/main" val="24034208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7EC3-A494-0CF1-6471-C66BFDF7593E}"/>
              </a:ext>
            </a:extLst>
          </p:cNvPr>
          <p:cNvSpPr>
            <a:spLocks noGrp="1"/>
          </p:cNvSpPr>
          <p:nvPr>
            <p:ph type="title"/>
          </p:nvPr>
        </p:nvSpPr>
        <p:spPr>
          <a:xfrm>
            <a:off x="2114248" y="0"/>
            <a:ext cx="7468290" cy="752411"/>
          </a:xfrm>
        </p:spPr>
        <p:txBody>
          <a:bodyPr/>
          <a:lstStyle/>
          <a:p>
            <a:r>
              <a:rPr lang="en-US" sz="2800" b="1" dirty="0">
                <a:solidFill>
                  <a:srgbClr val="FFFFFF"/>
                </a:solidFill>
              </a:rPr>
              <a:t>              type of filesystem</a:t>
            </a:r>
          </a:p>
        </p:txBody>
      </p:sp>
      <p:sp>
        <p:nvSpPr>
          <p:cNvPr id="3" name="Content Placeholder 2">
            <a:extLst>
              <a:ext uri="{FF2B5EF4-FFF2-40B4-BE49-F238E27FC236}">
                <a16:creationId xmlns:a16="http://schemas.microsoft.com/office/drawing/2014/main" id="{9A7D42F2-A6CE-0902-F28E-572614EBDF61}"/>
              </a:ext>
            </a:extLst>
          </p:cNvPr>
          <p:cNvSpPr>
            <a:spLocks noGrp="1"/>
          </p:cNvSpPr>
          <p:nvPr>
            <p:ph idx="1"/>
          </p:nvPr>
        </p:nvSpPr>
        <p:spPr>
          <a:xfrm>
            <a:off x="2403496" y="3061615"/>
            <a:ext cx="6889793" cy="1320800"/>
          </a:xfrm>
        </p:spPr>
        <p:txBody>
          <a:bodyPr>
            <a:noAutofit/>
          </a:bodyPr>
          <a:lstStyle/>
          <a:p>
            <a:r>
              <a:rPr lang="en-US" sz="1600" dirty="0">
                <a:solidFill>
                  <a:srgbClr val="E6E6E6"/>
                </a:solidFill>
              </a:rPr>
              <a:t>before you can assign a drive partition to a mount point in the virtual directory, you must format it using a filesystem. There are numerous filesystem types that Linux supports, each with different features and capabilities.</a:t>
            </a:r>
          </a:p>
          <a:p>
            <a:r>
              <a:rPr lang="en-US" sz="1600" dirty="0" err="1">
                <a:solidFill>
                  <a:srgbClr val="E6E6E6"/>
                </a:solidFill>
              </a:rPr>
              <a:t>linux</a:t>
            </a:r>
            <a:r>
              <a:rPr lang="en-US" sz="1600" dirty="0">
                <a:solidFill>
                  <a:srgbClr val="E6E6E6"/>
                </a:solidFill>
              </a:rPr>
              <a:t> supports filesystems of other operating systems</a:t>
            </a:r>
          </a:p>
          <a:p>
            <a:r>
              <a:rPr lang="en-US" sz="1600" dirty="0">
                <a:solidFill>
                  <a:srgbClr val="E6E6E6"/>
                </a:solidFill>
              </a:rPr>
              <a:t>1:Linux file system</a:t>
            </a:r>
          </a:p>
          <a:p>
            <a:r>
              <a:rPr lang="en-US" sz="1600" dirty="0">
                <a:solidFill>
                  <a:srgbClr val="E6E6E6"/>
                </a:solidFill>
              </a:rPr>
              <a:t> Ext3*----</a:t>
            </a:r>
            <a:r>
              <a:rPr lang="en-US" sz="1600" dirty="0">
                <a:solidFill>
                  <a:srgbClr val="E6E6E6"/>
                </a:solidFill>
                <a:sym typeface="Wingdings" panose="05000000000000000000" pitchFamily="2" charset="2"/>
              </a:rPr>
              <a:t>    one file =&lt;2TiB       total filesystem=16TiB    </a:t>
            </a:r>
            <a:r>
              <a:rPr lang="en-US" sz="1600" dirty="0">
                <a:solidFill>
                  <a:srgbClr val="E6E6E6"/>
                </a:solidFill>
              </a:rPr>
              <a:t> journaling support</a:t>
            </a:r>
          </a:p>
          <a:p>
            <a:r>
              <a:rPr lang="en-US" sz="1600" dirty="0">
                <a:solidFill>
                  <a:srgbClr val="E6E6E6"/>
                </a:solidFill>
              </a:rPr>
              <a:t>Ext4*-----</a:t>
            </a:r>
            <a:r>
              <a:rPr lang="en-US" sz="1600" dirty="0">
                <a:solidFill>
                  <a:srgbClr val="E6E6E6"/>
                </a:solidFill>
                <a:sym typeface="Wingdings" panose="05000000000000000000" pitchFamily="2" charset="2"/>
              </a:rPr>
              <a:t>    one file=&lt;16TiB      total filesystem=1EiB        journaling support   better performance</a:t>
            </a:r>
          </a:p>
          <a:p>
            <a:r>
              <a:rPr lang="en-US" sz="1600" dirty="0" err="1">
                <a:solidFill>
                  <a:srgbClr val="E6E6E6"/>
                </a:solidFill>
                <a:sym typeface="Wingdings" panose="05000000000000000000" pitchFamily="2" charset="2"/>
              </a:rPr>
              <a:t>Btrfs</a:t>
            </a:r>
            <a:r>
              <a:rPr lang="en-US" sz="1600" dirty="0">
                <a:solidFill>
                  <a:srgbClr val="E6E6E6"/>
                </a:solidFill>
                <a:sym typeface="Wingdings" panose="05000000000000000000" pitchFamily="2" charset="2"/>
              </a:rPr>
              <a:t> </a:t>
            </a:r>
          </a:p>
          <a:p>
            <a:r>
              <a:rPr lang="en-US" sz="1600" dirty="0">
                <a:solidFill>
                  <a:srgbClr val="E6E6E6"/>
                </a:solidFill>
                <a:sym typeface="Wingdings" panose="05000000000000000000" pitchFamily="2" charset="2"/>
              </a:rPr>
              <a:t>swap ---- in first </a:t>
            </a:r>
            <a:r>
              <a:rPr lang="en-US" sz="1600" dirty="0" err="1">
                <a:solidFill>
                  <a:srgbClr val="E6E6E6"/>
                </a:solidFill>
                <a:sym typeface="Wingdings" panose="05000000000000000000" pitchFamily="2" charset="2"/>
              </a:rPr>
              <a:t>unix</a:t>
            </a:r>
            <a:r>
              <a:rPr lang="en-US" sz="1600" dirty="0">
                <a:solidFill>
                  <a:srgbClr val="E6E6E6"/>
                </a:solidFill>
                <a:sym typeface="Wingdings" panose="05000000000000000000" pitchFamily="2" charset="2"/>
              </a:rPr>
              <a:t> idea /swap paging ability for example 4gb ram and one </a:t>
            </a:r>
          </a:p>
          <a:p>
            <a:r>
              <a:rPr lang="en-US" sz="1600" dirty="0">
                <a:solidFill>
                  <a:srgbClr val="E6E6E6"/>
                </a:solidFill>
                <a:sym typeface="Wingdings" panose="05000000000000000000" pitchFamily="2" charset="2"/>
              </a:rPr>
              <a:t>App need ram we can use 2gb from storage temporary to prevent crash </a:t>
            </a:r>
            <a:r>
              <a:rPr lang="en-US" sz="1600" dirty="0" err="1">
                <a:solidFill>
                  <a:srgbClr val="E6E6E6"/>
                </a:solidFill>
                <a:sym typeface="Wingdings" panose="05000000000000000000" pitchFamily="2" charset="2"/>
              </a:rPr>
              <a:t>amout</a:t>
            </a:r>
            <a:r>
              <a:rPr lang="en-US" sz="1600" dirty="0">
                <a:solidFill>
                  <a:srgbClr val="E6E6E6"/>
                </a:solidFill>
                <a:sym typeface="Wingdings" panose="05000000000000000000" pitchFamily="2" charset="2"/>
              </a:rPr>
              <a:t> swap *2ram  &lt;=8gb     in </a:t>
            </a:r>
            <a:r>
              <a:rPr lang="en-US" sz="1600" dirty="0" err="1">
                <a:solidFill>
                  <a:srgbClr val="E6E6E6"/>
                </a:solidFill>
                <a:sym typeface="Wingdings" panose="05000000000000000000" pitchFamily="2" charset="2"/>
              </a:rPr>
              <a:t>ssd</a:t>
            </a:r>
            <a:r>
              <a:rPr lang="en-US" sz="1600" dirty="0">
                <a:solidFill>
                  <a:srgbClr val="E6E6E6"/>
                </a:solidFill>
                <a:sym typeface="Wingdings" panose="05000000000000000000" pitchFamily="2" charset="2"/>
              </a:rPr>
              <a:t> better ram+2gb</a:t>
            </a:r>
            <a:endParaRPr lang="en-US" sz="2000" dirty="0"/>
          </a:p>
        </p:txBody>
      </p:sp>
    </p:spTree>
    <p:extLst>
      <p:ext uri="{BB962C8B-B14F-4D97-AF65-F5344CB8AC3E}">
        <p14:creationId xmlns:p14="http://schemas.microsoft.com/office/powerpoint/2010/main" val="40929953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FCD1B-6850-49AF-0D68-855AC05E8ABE}"/>
              </a:ext>
            </a:extLst>
          </p:cNvPr>
          <p:cNvSpPr>
            <a:spLocks noGrp="1"/>
          </p:cNvSpPr>
          <p:nvPr>
            <p:ph type="title"/>
          </p:nvPr>
        </p:nvSpPr>
        <p:spPr>
          <a:xfrm>
            <a:off x="1307029" y="486747"/>
            <a:ext cx="8574089" cy="1160105"/>
          </a:xfrm>
        </p:spPr>
        <p:txBody>
          <a:bodyPr>
            <a:normAutofit/>
          </a:bodyPr>
          <a:lstStyle/>
          <a:p>
            <a:r>
              <a:rPr lang="fa-IR" sz="2800" b="1" dirty="0">
                <a:solidFill>
                  <a:srgbClr val="FFFFFF"/>
                </a:solidFill>
              </a:rPr>
              <a:t>      </a:t>
            </a:r>
            <a:r>
              <a:rPr lang="en-US" sz="2800" b="1" dirty="0">
                <a:solidFill>
                  <a:srgbClr val="FFFFFF"/>
                </a:solidFill>
              </a:rPr>
              <a:t>      partitioning in </a:t>
            </a:r>
            <a:r>
              <a:rPr lang="en-US" sz="2800" b="1" dirty="0" err="1">
                <a:solidFill>
                  <a:srgbClr val="FFFFFF"/>
                </a:solidFill>
              </a:rPr>
              <a:t>productio</a:t>
            </a:r>
            <a:endParaRPr lang="en-US" dirty="0"/>
          </a:p>
        </p:txBody>
      </p:sp>
      <p:sp>
        <p:nvSpPr>
          <p:cNvPr id="3" name="Content Placeholder 2">
            <a:extLst>
              <a:ext uri="{FF2B5EF4-FFF2-40B4-BE49-F238E27FC236}">
                <a16:creationId xmlns:a16="http://schemas.microsoft.com/office/drawing/2014/main" id="{7E64AE5A-15AC-ECD1-D5A8-319905F348B1}"/>
              </a:ext>
            </a:extLst>
          </p:cNvPr>
          <p:cNvSpPr>
            <a:spLocks noGrp="1"/>
          </p:cNvSpPr>
          <p:nvPr>
            <p:ph idx="1"/>
          </p:nvPr>
        </p:nvSpPr>
        <p:spPr/>
        <p:txBody>
          <a:bodyPr>
            <a:normAutofit/>
          </a:bodyPr>
          <a:lstStyle/>
          <a:p>
            <a:r>
              <a:rPr lang="en-US" sz="1600" dirty="0">
                <a:solidFill>
                  <a:srgbClr val="E6E6E6"/>
                </a:solidFill>
              </a:rPr>
              <a:t>/boot 100mg until 1gb</a:t>
            </a:r>
          </a:p>
          <a:p>
            <a:endParaRPr lang="en-US" sz="2000" dirty="0"/>
          </a:p>
          <a:p>
            <a:r>
              <a:rPr lang="en-US" sz="1600" dirty="0">
                <a:solidFill>
                  <a:srgbClr val="E6E6E6"/>
                </a:solidFill>
              </a:rPr>
              <a:t>/home 100gb</a:t>
            </a:r>
          </a:p>
          <a:p>
            <a:endParaRPr lang="en-US" sz="2000" dirty="0"/>
          </a:p>
          <a:p>
            <a:r>
              <a:rPr lang="en-US" sz="1600" dirty="0">
                <a:solidFill>
                  <a:srgbClr val="E6E6E6"/>
                </a:solidFill>
              </a:rPr>
              <a:t>/var      150gb</a:t>
            </a:r>
          </a:p>
          <a:p>
            <a:endParaRPr lang="en-US" sz="2000" dirty="0"/>
          </a:p>
          <a:p>
            <a:r>
              <a:rPr lang="en-US" sz="1600" dirty="0">
                <a:solidFill>
                  <a:srgbClr val="E6E6E6"/>
                </a:solidFill>
              </a:rPr>
              <a:t>/swap      ? Swap is virtual memory or paging for better performance</a:t>
            </a:r>
          </a:p>
        </p:txBody>
      </p:sp>
    </p:spTree>
    <p:extLst>
      <p:ext uri="{BB962C8B-B14F-4D97-AF65-F5344CB8AC3E}">
        <p14:creationId xmlns:p14="http://schemas.microsoft.com/office/powerpoint/2010/main" val="18916960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DE3AE-C1E1-193B-6CC1-A30ABC6A243A}"/>
              </a:ext>
            </a:extLst>
          </p:cNvPr>
          <p:cNvSpPr>
            <a:spLocks noGrp="1"/>
          </p:cNvSpPr>
          <p:nvPr>
            <p:ph type="title"/>
          </p:nvPr>
        </p:nvSpPr>
        <p:spPr>
          <a:xfrm>
            <a:off x="1885527" y="326571"/>
            <a:ext cx="7575713" cy="1029477"/>
          </a:xfrm>
        </p:spPr>
        <p:txBody>
          <a:bodyPr>
            <a:normAutofit/>
          </a:bodyPr>
          <a:lstStyle/>
          <a:p>
            <a:r>
              <a:rPr lang="en-US" sz="2800" b="1" dirty="0">
                <a:solidFill>
                  <a:srgbClr val="FFFFFF"/>
                </a:solidFill>
              </a:rPr>
              <a:t>               type of filesystem</a:t>
            </a:r>
          </a:p>
        </p:txBody>
      </p:sp>
      <p:sp>
        <p:nvSpPr>
          <p:cNvPr id="3" name="Content Placeholder 2">
            <a:extLst>
              <a:ext uri="{FF2B5EF4-FFF2-40B4-BE49-F238E27FC236}">
                <a16:creationId xmlns:a16="http://schemas.microsoft.com/office/drawing/2014/main" id="{A9702382-E0DD-C36F-FD56-76039C00C26E}"/>
              </a:ext>
            </a:extLst>
          </p:cNvPr>
          <p:cNvSpPr>
            <a:spLocks noGrp="1"/>
          </p:cNvSpPr>
          <p:nvPr>
            <p:ph idx="1"/>
          </p:nvPr>
        </p:nvSpPr>
        <p:spPr>
          <a:xfrm>
            <a:off x="1549624" y="2200468"/>
            <a:ext cx="10018713" cy="3124201"/>
          </a:xfrm>
        </p:spPr>
        <p:txBody>
          <a:bodyPr>
            <a:normAutofit lnSpcReduction="10000"/>
          </a:bodyPr>
          <a:lstStyle/>
          <a:p>
            <a:r>
              <a:rPr lang="en-US" sz="1600" dirty="0">
                <a:solidFill>
                  <a:srgbClr val="E6E6E6"/>
                </a:solidFill>
              </a:rPr>
              <a:t>filesystem provides journaling, which is a method of tracking data not yet written to the drive in a log file, called the journal. If the system fails before the data can be written to the drive, the journal data can be recovered and stored upon the next system boot.</a:t>
            </a:r>
          </a:p>
          <a:p>
            <a:r>
              <a:rPr lang="en-US" sz="1600" dirty="0">
                <a:solidFill>
                  <a:srgbClr val="E6E6E6"/>
                </a:solidFill>
              </a:rPr>
              <a:t>Example huge bank transaction</a:t>
            </a:r>
          </a:p>
          <a:p>
            <a:r>
              <a:rPr lang="en-US" sz="1600" dirty="0">
                <a:solidFill>
                  <a:srgbClr val="E6E6E6"/>
                </a:solidFill>
              </a:rPr>
              <a:t>2:non </a:t>
            </a:r>
            <a:r>
              <a:rPr lang="en-US" sz="1600" dirty="0" err="1">
                <a:solidFill>
                  <a:srgbClr val="E6E6E6"/>
                </a:solidFill>
              </a:rPr>
              <a:t>linux</a:t>
            </a:r>
            <a:r>
              <a:rPr lang="en-US" sz="1600" dirty="0">
                <a:solidFill>
                  <a:srgbClr val="E6E6E6"/>
                </a:solidFill>
              </a:rPr>
              <a:t> file system</a:t>
            </a:r>
          </a:p>
          <a:p>
            <a:r>
              <a:rPr lang="en-US" sz="1600" dirty="0">
                <a:solidFill>
                  <a:srgbClr val="E6E6E6"/>
                </a:solidFill>
              </a:rPr>
              <a:t> NTFS          </a:t>
            </a:r>
          </a:p>
          <a:p>
            <a:r>
              <a:rPr lang="en-US" sz="1600" dirty="0">
                <a:solidFill>
                  <a:srgbClr val="E6E6E6"/>
                </a:solidFill>
              </a:rPr>
              <a:t> XFS *          one file=&lt;16TiB    total file system=&lt;16TiB   journaling support</a:t>
            </a:r>
          </a:p>
          <a:p>
            <a:pPr marL="0" indent="0">
              <a:buNone/>
            </a:pPr>
            <a:r>
              <a:rPr lang="en-US" sz="1600" dirty="0">
                <a:solidFill>
                  <a:srgbClr val="E6E6E6"/>
                </a:solidFill>
              </a:rPr>
              <a:t>Higher </a:t>
            </a:r>
            <a:r>
              <a:rPr lang="en-US" sz="1600" dirty="0" err="1">
                <a:solidFill>
                  <a:srgbClr val="E6E6E6"/>
                </a:solidFill>
              </a:rPr>
              <a:t>perforamance</a:t>
            </a:r>
            <a:endParaRPr lang="en-US" sz="2000" dirty="0"/>
          </a:p>
        </p:txBody>
      </p:sp>
    </p:spTree>
    <p:extLst>
      <p:ext uri="{BB962C8B-B14F-4D97-AF65-F5344CB8AC3E}">
        <p14:creationId xmlns:p14="http://schemas.microsoft.com/office/powerpoint/2010/main" val="41579783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2C4E0-0B8D-59DE-CE93-EE07E3295663}"/>
              </a:ext>
            </a:extLst>
          </p:cNvPr>
          <p:cNvSpPr>
            <a:spLocks noGrp="1"/>
          </p:cNvSpPr>
          <p:nvPr>
            <p:ph type="title"/>
          </p:nvPr>
        </p:nvSpPr>
        <p:spPr>
          <a:xfrm>
            <a:off x="1958245" y="382555"/>
            <a:ext cx="8275509" cy="1150775"/>
          </a:xfrm>
        </p:spPr>
        <p:txBody>
          <a:bodyPr/>
          <a:lstStyle/>
          <a:p>
            <a:r>
              <a:rPr lang="en-US" sz="2800" b="1" dirty="0">
                <a:solidFill>
                  <a:srgbClr val="FFFFFF"/>
                </a:solidFill>
              </a:rPr>
              <a:t>             creating file system</a:t>
            </a:r>
          </a:p>
        </p:txBody>
      </p:sp>
      <p:sp>
        <p:nvSpPr>
          <p:cNvPr id="3" name="Content Placeholder 2">
            <a:extLst>
              <a:ext uri="{FF2B5EF4-FFF2-40B4-BE49-F238E27FC236}">
                <a16:creationId xmlns:a16="http://schemas.microsoft.com/office/drawing/2014/main" id="{032EA226-6BE5-EC55-029E-4E2FB3816AAB}"/>
              </a:ext>
            </a:extLst>
          </p:cNvPr>
          <p:cNvSpPr>
            <a:spLocks noGrp="1"/>
          </p:cNvSpPr>
          <p:nvPr>
            <p:ph idx="1"/>
          </p:nvPr>
        </p:nvSpPr>
        <p:spPr>
          <a:xfrm>
            <a:off x="1521633" y="2303105"/>
            <a:ext cx="10018713" cy="3124201"/>
          </a:xfrm>
        </p:spPr>
        <p:txBody>
          <a:bodyPr>
            <a:normAutofit fontScale="92500" lnSpcReduction="20000"/>
          </a:bodyPr>
          <a:lstStyle/>
          <a:p>
            <a:r>
              <a:rPr lang="en-US" sz="1600" dirty="0" err="1">
                <a:solidFill>
                  <a:srgbClr val="E6E6E6"/>
                </a:solidFill>
              </a:rPr>
              <a:t>mkfs</a:t>
            </a:r>
            <a:r>
              <a:rPr lang="en-US" sz="1600" dirty="0">
                <a:solidFill>
                  <a:srgbClr val="E6E6E6"/>
                </a:solidFill>
              </a:rPr>
              <a:t> </a:t>
            </a:r>
          </a:p>
          <a:p>
            <a:endParaRPr lang="en-US" sz="2000" dirty="0"/>
          </a:p>
          <a:p>
            <a:r>
              <a:rPr lang="en-US" sz="1600" dirty="0">
                <a:solidFill>
                  <a:srgbClr val="E6E6E6"/>
                </a:solidFill>
              </a:rPr>
              <a:t>for changing format  or overwriting  </a:t>
            </a:r>
            <a:r>
              <a:rPr lang="en-US" sz="1600" dirty="0" err="1">
                <a:solidFill>
                  <a:srgbClr val="E6E6E6"/>
                </a:solidFill>
              </a:rPr>
              <a:t>mkfs</a:t>
            </a:r>
            <a:r>
              <a:rPr lang="en-US" sz="1600" dirty="0">
                <a:solidFill>
                  <a:srgbClr val="E6E6E6"/>
                </a:solidFill>
              </a:rPr>
              <a:t> -f</a:t>
            </a:r>
          </a:p>
          <a:p>
            <a:endParaRPr lang="en-US" sz="2000" dirty="0"/>
          </a:p>
          <a:p>
            <a:r>
              <a:rPr lang="en-US" sz="1600" dirty="0">
                <a:solidFill>
                  <a:srgbClr val="E6E6E6"/>
                </a:solidFill>
              </a:rPr>
              <a:t>Mount: when creating partition and formatting now assign real or virtual directory that store and write data on partition this progress as </a:t>
            </a:r>
          </a:p>
          <a:p>
            <a:pPr marL="0" indent="0">
              <a:buNone/>
            </a:pPr>
            <a:r>
              <a:rPr lang="en-US" sz="1600" dirty="0">
                <a:solidFill>
                  <a:srgbClr val="E6E6E6"/>
                </a:solidFill>
              </a:rPr>
              <a:t>said mounting      for example </a:t>
            </a:r>
            <a:r>
              <a:rPr lang="en-US" sz="1600" dirty="0" err="1">
                <a:solidFill>
                  <a:srgbClr val="E6E6E6"/>
                </a:solidFill>
              </a:rPr>
              <a:t>mkdir</a:t>
            </a:r>
            <a:r>
              <a:rPr lang="en-US" sz="1600" dirty="0">
                <a:solidFill>
                  <a:srgbClr val="E6E6E6"/>
                </a:solidFill>
              </a:rPr>
              <a:t> /</a:t>
            </a:r>
            <a:r>
              <a:rPr lang="en-US" sz="1600" dirty="0" err="1">
                <a:solidFill>
                  <a:srgbClr val="E6E6E6"/>
                </a:solidFill>
              </a:rPr>
              <a:t>cando</a:t>
            </a:r>
            <a:r>
              <a:rPr lang="en-US" sz="1600" dirty="0">
                <a:solidFill>
                  <a:srgbClr val="E6E6E6"/>
                </a:solidFill>
              </a:rPr>
              <a:t> and</a:t>
            </a:r>
          </a:p>
          <a:p>
            <a:pPr marL="0" indent="0">
              <a:buNone/>
            </a:pPr>
            <a:r>
              <a:rPr lang="en-US" sz="1600" dirty="0">
                <a:solidFill>
                  <a:srgbClr val="E6E6E6"/>
                </a:solidFill>
              </a:rPr>
              <a:t> mount /dev/sb2  /</a:t>
            </a:r>
            <a:r>
              <a:rPr lang="en-US" sz="1600" dirty="0" err="1">
                <a:solidFill>
                  <a:srgbClr val="E6E6E6"/>
                </a:solidFill>
              </a:rPr>
              <a:t>cando</a:t>
            </a:r>
            <a:r>
              <a:rPr lang="en-US" sz="1600" dirty="0">
                <a:solidFill>
                  <a:srgbClr val="E6E6E6"/>
                </a:solidFill>
              </a:rPr>
              <a:t>   this process in windows as same as assign letter to partition  such as c d e    mount point assign partition to file</a:t>
            </a:r>
          </a:p>
        </p:txBody>
      </p:sp>
    </p:spTree>
    <p:extLst>
      <p:ext uri="{BB962C8B-B14F-4D97-AF65-F5344CB8AC3E}">
        <p14:creationId xmlns:p14="http://schemas.microsoft.com/office/powerpoint/2010/main" val="26432700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17F31-8D5C-02BE-0E5B-A02CB30273B1}"/>
              </a:ext>
            </a:extLst>
          </p:cNvPr>
          <p:cNvSpPr>
            <a:spLocks noGrp="1"/>
          </p:cNvSpPr>
          <p:nvPr>
            <p:ph type="title"/>
          </p:nvPr>
        </p:nvSpPr>
        <p:spPr>
          <a:xfrm>
            <a:off x="1801551" y="186612"/>
            <a:ext cx="7025207" cy="982823"/>
          </a:xfrm>
        </p:spPr>
        <p:txBody>
          <a:bodyPr/>
          <a:lstStyle/>
          <a:p>
            <a:r>
              <a:rPr lang="en-US" sz="2800" b="1" dirty="0">
                <a:solidFill>
                  <a:srgbClr val="FFFFFF"/>
                </a:solidFill>
              </a:rPr>
              <a:t>                     mount</a:t>
            </a:r>
          </a:p>
        </p:txBody>
      </p:sp>
      <p:sp>
        <p:nvSpPr>
          <p:cNvPr id="3" name="Content Placeholder 2">
            <a:extLst>
              <a:ext uri="{FF2B5EF4-FFF2-40B4-BE49-F238E27FC236}">
                <a16:creationId xmlns:a16="http://schemas.microsoft.com/office/drawing/2014/main" id="{A2F30647-7A86-5123-6FD7-9F481C638AFB}"/>
              </a:ext>
            </a:extLst>
          </p:cNvPr>
          <p:cNvSpPr>
            <a:spLocks noGrp="1"/>
          </p:cNvSpPr>
          <p:nvPr>
            <p:ph idx="1"/>
          </p:nvPr>
        </p:nvSpPr>
        <p:spPr>
          <a:xfrm>
            <a:off x="1409665" y="1716834"/>
            <a:ext cx="9927029" cy="3906416"/>
          </a:xfrm>
        </p:spPr>
        <p:txBody>
          <a:bodyPr>
            <a:normAutofit/>
          </a:bodyPr>
          <a:lstStyle/>
          <a:p>
            <a:r>
              <a:rPr lang="en-US" sz="1600" dirty="0">
                <a:solidFill>
                  <a:srgbClr val="E6E6E6"/>
                </a:solidFill>
              </a:rPr>
              <a:t>mount show list of whole of mount point in </a:t>
            </a:r>
            <a:r>
              <a:rPr lang="en-US" sz="1600" dirty="0" err="1">
                <a:solidFill>
                  <a:srgbClr val="E6E6E6"/>
                </a:solidFill>
              </a:rPr>
              <a:t>linux</a:t>
            </a:r>
            <a:endParaRPr lang="en-US" sz="2000" dirty="0"/>
          </a:p>
          <a:p>
            <a:endParaRPr lang="en-US" sz="2000" dirty="0"/>
          </a:p>
          <a:p>
            <a:r>
              <a:rPr lang="en-US" sz="1600" dirty="0">
                <a:solidFill>
                  <a:srgbClr val="E6E6E6"/>
                </a:solidFill>
              </a:rPr>
              <a:t>In </a:t>
            </a:r>
            <a:r>
              <a:rPr lang="en-US" sz="1600" dirty="0" err="1">
                <a:solidFill>
                  <a:srgbClr val="E6E6E6"/>
                </a:solidFill>
              </a:rPr>
              <a:t>linux</a:t>
            </a:r>
            <a:r>
              <a:rPr lang="en-US" sz="1600" dirty="0">
                <a:solidFill>
                  <a:srgbClr val="E6E6E6"/>
                </a:solidFill>
              </a:rPr>
              <a:t>   maybe  /  mount to /dev/sda1   but  /</a:t>
            </a:r>
            <a:r>
              <a:rPr lang="en-US" sz="1600" dirty="0" err="1">
                <a:solidFill>
                  <a:srgbClr val="E6E6E6"/>
                </a:solidFill>
              </a:rPr>
              <a:t>cando</a:t>
            </a:r>
            <a:r>
              <a:rPr lang="en-US" sz="1600" dirty="0">
                <a:solidFill>
                  <a:srgbClr val="E6E6E6"/>
                </a:solidFill>
              </a:rPr>
              <a:t> mount to /dev/sb1</a:t>
            </a:r>
          </a:p>
          <a:p>
            <a:endParaRPr lang="en-US" sz="2000" dirty="0"/>
          </a:p>
          <a:p>
            <a:r>
              <a:rPr lang="en-US" sz="1600" dirty="0" err="1">
                <a:solidFill>
                  <a:srgbClr val="E6E6E6"/>
                </a:solidFill>
              </a:rPr>
              <a:t>df</a:t>
            </a:r>
            <a:r>
              <a:rPr lang="en-US" sz="1600" dirty="0">
                <a:solidFill>
                  <a:srgbClr val="E6E6E6"/>
                </a:solidFill>
              </a:rPr>
              <a:t> -h   show whole of partition and mount point and how much used and available if you show with type filesystem </a:t>
            </a:r>
            <a:r>
              <a:rPr lang="en-US" sz="1600" dirty="0" err="1">
                <a:solidFill>
                  <a:srgbClr val="E6E6E6"/>
                </a:solidFill>
              </a:rPr>
              <a:t>df</a:t>
            </a:r>
            <a:r>
              <a:rPr lang="en-US" sz="1600" dirty="0">
                <a:solidFill>
                  <a:srgbClr val="E6E6E6"/>
                </a:solidFill>
              </a:rPr>
              <a:t> -</a:t>
            </a:r>
            <a:r>
              <a:rPr lang="en-US" sz="1600" dirty="0" err="1">
                <a:solidFill>
                  <a:srgbClr val="E6E6E6"/>
                </a:solidFill>
              </a:rPr>
              <a:t>hT</a:t>
            </a:r>
            <a:endParaRPr lang="en-US" sz="2000" dirty="0"/>
          </a:p>
        </p:txBody>
      </p:sp>
    </p:spTree>
    <p:extLst>
      <p:ext uri="{BB962C8B-B14F-4D97-AF65-F5344CB8AC3E}">
        <p14:creationId xmlns:p14="http://schemas.microsoft.com/office/powerpoint/2010/main" val="42064536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F0738-7A36-20C0-2246-6341C615B0E1}"/>
              </a:ext>
            </a:extLst>
          </p:cNvPr>
          <p:cNvSpPr>
            <a:spLocks noGrp="1"/>
          </p:cNvSpPr>
          <p:nvPr>
            <p:ph type="title"/>
          </p:nvPr>
        </p:nvSpPr>
        <p:spPr>
          <a:xfrm>
            <a:off x="1680254" y="233266"/>
            <a:ext cx="7808979" cy="1178766"/>
          </a:xfrm>
        </p:spPr>
        <p:txBody>
          <a:bodyPr/>
          <a:lstStyle/>
          <a:p>
            <a:r>
              <a:rPr lang="en-US" sz="2800" b="1" dirty="0">
                <a:solidFill>
                  <a:srgbClr val="FFFFFF"/>
                </a:solidFill>
              </a:rPr>
              <a:t>             </a:t>
            </a:r>
            <a:r>
              <a:rPr lang="en-US" sz="2800" b="1" dirty="0" err="1">
                <a:solidFill>
                  <a:srgbClr val="FFFFFF"/>
                </a:solidFill>
              </a:rPr>
              <a:t>umount</a:t>
            </a:r>
            <a:r>
              <a:rPr lang="en-US" sz="2800" b="1" dirty="0">
                <a:solidFill>
                  <a:srgbClr val="FFFFFF"/>
                </a:solidFill>
              </a:rPr>
              <a:t> and </a:t>
            </a:r>
            <a:r>
              <a:rPr lang="en-US" sz="2800" b="1" dirty="0" err="1">
                <a:solidFill>
                  <a:srgbClr val="FFFFFF"/>
                </a:solidFill>
              </a:rPr>
              <a:t>fsck</a:t>
            </a:r>
            <a:endParaRPr lang="en-US" dirty="0"/>
          </a:p>
        </p:txBody>
      </p:sp>
      <p:sp>
        <p:nvSpPr>
          <p:cNvPr id="3" name="Content Placeholder 2">
            <a:extLst>
              <a:ext uri="{FF2B5EF4-FFF2-40B4-BE49-F238E27FC236}">
                <a16:creationId xmlns:a16="http://schemas.microsoft.com/office/drawing/2014/main" id="{516660F3-5452-260C-ED7A-2F42BDE6283A}"/>
              </a:ext>
            </a:extLst>
          </p:cNvPr>
          <p:cNvSpPr>
            <a:spLocks noGrp="1"/>
          </p:cNvSpPr>
          <p:nvPr>
            <p:ph idx="1"/>
          </p:nvPr>
        </p:nvSpPr>
        <p:spPr>
          <a:xfrm>
            <a:off x="1465649" y="1866899"/>
            <a:ext cx="10018713" cy="3124201"/>
          </a:xfrm>
        </p:spPr>
        <p:txBody>
          <a:bodyPr>
            <a:normAutofit/>
          </a:bodyPr>
          <a:lstStyle/>
          <a:p>
            <a:r>
              <a:rPr lang="en-US" sz="1600" dirty="0" err="1">
                <a:solidFill>
                  <a:srgbClr val="E6E6E6"/>
                </a:solidFill>
              </a:rPr>
              <a:t>umount</a:t>
            </a:r>
            <a:r>
              <a:rPr lang="en-US" sz="1600" dirty="0">
                <a:solidFill>
                  <a:srgbClr val="E6E6E6"/>
                </a:solidFill>
              </a:rPr>
              <a:t>   remove assign partition to directory but don’t affect to data that exist in directory means don’t remove data just we change </a:t>
            </a:r>
          </a:p>
          <a:p>
            <a:endParaRPr lang="en-US" sz="2000" dirty="0"/>
          </a:p>
          <a:p>
            <a:r>
              <a:rPr lang="en-US" sz="1600" dirty="0">
                <a:solidFill>
                  <a:srgbClr val="E6E6E6"/>
                </a:solidFill>
              </a:rPr>
              <a:t>fsck.ext4 repair partition if corrupt </a:t>
            </a:r>
          </a:p>
          <a:p>
            <a:endParaRPr lang="en-US" sz="2000" dirty="0"/>
          </a:p>
          <a:p>
            <a:r>
              <a:rPr lang="en-US" sz="1600" dirty="0" err="1">
                <a:solidFill>
                  <a:srgbClr val="E6E6E6"/>
                </a:solidFill>
              </a:rPr>
              <a:t>Xfs_reapir</a:t>
            </a:r>
            <a:r>
              <a:rPr lang="en-US" sz="1600" dirty="0">
                <a:solidFill>
                  <a:srgbClr val="E6E6E6"/>
                </a:solidFill>
              </a:rPr>
              <a:t>   just for </a:t>
            </a:r>
            <a:r>
              <a:rPr lang="en-US" sz="1600" dirty="0" err="1">
                <a:solidFill>
                  <a:srgbClr val="E6E6E6"/>
                </a:solidFill>
              </a:rPr>
              <a:t>xfs</a:t>
            </a:r>
            <a:r>
              <a:rPr lang="en-US" sz="1600" dirty="0">
                <a:solidFill>
                  <a:srgbClr val="E6E6E6"/>
                </a:solidFill>
              </a:rPr>
              <a:t> filesystem</a:t>
            </a:r>
          </a:p>
        </p:txBody>
      </p:sp>
    </p:spTree>
    <p:extLst>
      <p:ext uri="{BB962C8B-B14F-4D97-AF65-F5344CB8AC3E}">
        <p14:creationId xmlns:p14="http://schemas.microsoft.com/office/powerpoint/2010/main" val="27066623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8DB0-EAF8-4B49-B1F0-3E01F2C20E19}"/>
              </a:ext>
            </a:extLst>
          </p:cNvPr>
          <p:cNvSpPr>
            <a:spLocks noGrp="1"/>
          </p:cNvSpPr>
          <p:nvPr>
            <p:ph type="title"/>
          </p:nvPr>
        </p:nvSpPr>
        <p:spPr>
          <a:xfrm>
            <a:off x="1911592" y="227045"/>
            <a:ext cx="8368816" cy="1026367"/>
          </a:xfrm>
        </p:spPr>
        <p:txBody>
          <a:bodyPr/>
          <a:lstStyle/>
          <a:p>
            <a:pPr algn="ctr"/>
            <a:r>
              <a:rPr lang="en-US" sz="2800" b="1" dirty="0" err="1">
                <a:solidFill>
                  <a:srgbClr val="FFFFFF"/>
                </a:solidFill>
              </a:rPr>
              <a:t>inode</a:t>
            </a:r>
            <a:r>
              <a:rPr lang="en-US" sz="2800" b="1" dirty="0">
                <a:solidFill>
                  <a:srgbClr val="FFFFFF"/>
                </a:solidFill>
              </a:rPr>
              <a:t>(index node)</a:t>
            </a:r>
          </a:p>
        </p:txBody>
      </p:sp>
      <p:sp>
        <p:nvSpPr>
          <p:cNvPr id="3" name="Content Placeholder 2">
            <a:extLst>
              <a:ext uri="{FF2B5EF4-FFF2-40B4-BE49-F238E27FC236}">
                <a16:creationId xmlns:a16="http://schemas.microsoft.com/office/drawing/2014/main" id="{8D8FE4EE-7DA5-4F2B-AB11-6DE03EEB822C}"/>
              </a:ext>
            </a:extLst>
          </p:cNvPr>
          <p:cNvSpPr>
            <a:spLocks noGrp="1"/>
          </p:cNvSpPr>
          <p:nvPr>
            <p:ph idx="1"/>
          </p:nvPr>
        </p:nvSpPr>
        <p:spPr>
          <a:xfrm>
            <a:off x="1353681" y="2321767"/>
            <a:ext cx="10018713" cy="3124201"/>
          </a:xfrm>
        </p:spPr>
        <p:txBody>
          <a:bodyPr>
            <a:normAutofit fontScale="92500" lnSpcReduction="10000"/>
          </a:bodyPr>
          <a:lstStyle/>
          <a:p>
            <a:pPr marL="0" indent="0">
              <a:buNone/>
            </a:pPr>
            <a:endParaRPr lang="en-US" sz="2000" dirty="0"/>
          </a:p>
          <a:p>
            <a:r>
              <a:rPr lang="en-US" sz="1600" dirty="0">
                <a:solidFill>
                  <a:srgbClr val="E6E6E6"/>
                </a:solidFill>
              </a:rPr>
              <a:t>t is important to know that Linux treats every object as a file</a:t>
            </a:r>
          </a:p>
          <a:p>
            <a:pPr marL="0" indent="0">
              <a:buNone/>
            </a:pPr>
            <a:endParaRPr lang="en-US" sz="2000" dirty="0"/>
          </a:p>
          <a:p>
            <a:r>
              <a:rPr lang="en-US" sz="1600" dirty="0">
                <a:solidFill>
                  <a:srgbClr val="E6E6E6"/>
                </a:solidFill>
              </a:rPr>
              <a:t>Metadata such as modified file and permission and owner and size …</a:t>
            </a:r>
          </a:p>
          <a:p>
            <a:endParaRPr lang="en-US" sz="2000" dirty="0"/>
          </a:p>
          <a:p>
            <a:endParaRPr lang="en-US" sz="2000" dirty="0"/>
          </a:p>
          <a:p>
            <a:pPr marL="0" indent="0">
              <a:buNone/>
            </a:pPr>
            <a:r>
              <a:rPr lang="en-US" sz="1600" dirty="0">
                <a:solidFill>
                  <a:srgbClr val="E6E6E6"/>
                </a:solidFill>
              </a:rPr>
              <a:t>ls –</a:t>
            </a:r>
            <a:r>
              <a:rPr lang="en-US" sz="1600" dirty="0" err="1">
                <a:solidFill>
                  <a:srgbClr val="E6E6E6"/>
                </a:solidFill>
              </a:rPr>
              <a:t>ali</a:t>
            </a:r>
            <a:r>
              <a:rPr lang="en-US" sz="1600" dirty="0">
                <a:solidFill>
                  <a:srgbClr val="E6E6E6"/>
                </a:solidFill>
              </a:rPr>
              <a:t> </a:t>
            </a:r>
          </a:p>
          <a:p>
            <a:pPr marL="0" indent="0">
              <a:buNone/>
            </a:pPr>
            <a:r>
              <a:rPr lang="en-US" sz="1600" dirty="0" err="1">
                <a:solidFill>
                  <a:srgbClr val="E6E6E6"/>
                </a:solidFill>
              </a:rPr>
              <a:t>df</a:t>
            </a:r>
            <a:r>
              <a:rPr lang="en-US" sz="1600" dirty="0">
                <a:solidFill>
                  <a:srgbClr val="E6E6E6"/>
                </a:solidFill>
              </a:rPr>
              <a:t> -</a:t>
            </a:r>
            <a:r>
              <a:rPr lang="en-US" sz="1600" dirty="0" err="1">
                <a:solidFill>
                  <a:srgbClr val="E6E6E6"/>
                </a:solidFill>
              </a:rPr>
              <a:t>ih</a:t>
            </a:r>
            <a:endParaRPr lang="en-US" sz="2000" dirty="0"/>
          </a:p>
        </p:txBody>
      </p:sp>
      <p:sp>
        <p:nvSpPr>
          <p:cNvPr id="4" name="Rectangle 3">
            <a:extLst>
              <a:ext uri="{FF2B5EF4-FFF2-40B4-BE49-F238E27FC236}">
                <a16:creationId xmlns:a16="http://schemas.microsoft.com/office/drawing/2014/main" id="{B3E115F3-BFAA-4445-AD4D-23CFCA494397}"/>
              </a:ext>
            </a:extLst>
          </p:cNvPr>
          <p:cNvSpPr/>
          <p:nvPr/>
        </p:nvSpPr>
        <p:spPr>
          <a:xfrm>
            <a:off x="6645798" y="4965532"/>
            <a:ext cx="4857225" cy="13191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E6E6E6"/>
                </a:solidFill>
              </a:rPr>
              <a:t>metadata    file                         FILE</a:t>
            </a:r>
          </a:p>
        </p:txBody>
      </p:sp>
      <p:cxnSp>
        <p:nvCxnSpPr>
          <p:cNvPr id="6" name="Straight Connector 5">
            <a:extLst>
              <a:ext uri="{FF2B5EF4-FFF2-40B4-BE49-F238E27FC236}">
                <a16:creationId xmlns:a16="http://schemas.microsoft.com/office/drawing/2014/main" id="{97E6335D-BA8F-4B58-9DCC-4EFA8EBBCBCA}"/>
              </a:ext>
            </a:extLst>
          </p:cNvPr>
          <p:cNvCxnSpPr>
            <a:stCxn id="4" idx="0"/>
            <a:endCxn id="4" idx="2"/>
          </p:cNvCxnSpPr>
          <p:nvPr/>
        </p:nvCxnSpPr>
        <p:spPr>
          <a:xfrm>
            <a:off x="9074411" y="4965532"/>
            <a:ext cx="0" cy="131916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7076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1D655-6FF7-09FC-9E8D-4E29246376C7}"/>
              </a:ext>
            </a:extLst>
          </p:cNvPr>
          <p:cNvSpPr>
            <a:spLocks noGrp="1"/>
          </p:cNvSpPr>
          <p:nvPr>
            <p:ph type="title"/>
          </p:nvPr>
        </p:nvSpPr>
        <p:spPr>
          <a:xfrm>
            <a:off x="597903" y="141516"/>
            <a:ext cx="10018713" cy="1752599"/>
          </a:xfrm>
        </p:spPr>
        <p:txBody>
          <a:bodyPr/>
          <a:lstStyle/>
          <a:p>
            <a:r>
              <a:rPr lang="en-US" sz="2800" b="1" dirty="0">
                <a:solidFill>
                  <a:srgbClr val="FFFFFF"/>
                </a:solidFill>
              </a:rPr>
              <a:t>                soft link vs hard link</a:t>
            </a:r>
          </a:p>
        </p:txBody>
      </p:sp>
      <p:sp>
        <p:nvSpPr>
          <p:cNvPr id="3" name="Content Placeholder 2">
            <a:extLst>
              <a:ext uri="{FF2B5EF4-FFF2-40B4-BE49-F238E27FC236}">
                <a16:creationId xmlns:a16="http://schemas.microsoft.com/office/drawing/2014/main" id="{00020211-8500-EEE0-0044-F196C97C8392}"/>
              </a:ext>
            </a:extLst>
          </p:cNvPr>
          <p:cNvSpPr>
            <a:spLocks noGrp="1"/>
          </p:cNvSpPr>
          <p:nvPr>
            <p:ph idx="1"/>
          </p:nvPr>
        </p:nvSpPr>
        <p:spPr>
          <a:xfrm>
            <a:off x="1363012" y="1894115"/>
            <a:ext cx="9899037" cy="4270310"/>
          </a:xfrm>
        </p:spPr>
        <p:txBody>
          <a:bodyPr>
            <a:normAutofit/>
          </a:bodyPr>
          <a:lstStyle/>
          <a:p>
            <a:r>
              <a:rPr lang="en-US" sz="1600" dirty="0">
                <a:solidFill>
                  <a:srgbClr val="E6E6E6"/>
                </a:solidFill>
              </a:rPr>
              <a:t>The </a:t>
            </a:r>
            <a:r>
              <a:rPr lang="en-US" sz="1600" dirty="0" err="1">
                <a:solidFill>
                  <a:srgbClr val="E6E6E6"/>
                </a:solidFill>
              </a:rPr>
              <a:t>inode</a:t>
            </a:r>
            <a:r>
              <a:rPr lang="en-US" sz="1600" dirty="0">
                <a:solidFill>
                  <a:srgbClr val="E6E6E6"/>
                </a:solidFill>
              </a:rPr>
              <a:t> is the location of information about a file, and the location of the file is specified with the </a:t>
            </a:r>
            <a:r>
              <a:rPr lang="en-US" sz="1600" dirty="0" err="1">
                <a:solidFill>
                  <a:srgbClr val="E6E6E6"/>
                </a:solidFill>
              </a:rPr>
              <a:t>inode</a:t>
            </a:r>
            <a:r>
              <a:rPr lang="en-US" sz="1600" dirty="0">
                <a:solidFill>
                  <a:srgbClr val="E6E6E6"/>
                </a:solidFill>
              </a:rPr>
              <a:t> number. The file system is a very large collection of </a:t>
            </a:r>
            <a:r>
              <a:rPr lang="en-US" sz="1600" dirty="0" err="1">
                <a:solidFill>
                  <a:srgbClr val="E6E6E6"/>
                </a:solidFill>
              </a:rPr>
              <a:t>inodes</a:t>
            </a:r>
            <a:r>
              <a:rPr lang="en-US" sz="1600" dirty="0">
                <a:solidFill>
                  <a:srgbClr val="E6E6E6"/>
                </a:solidFill>
              </a:rPr>
              <a:t>.</a:t>
            </a:r>
          </a:p>
          <a:p>
            <a:r>
              <a:rPr lang="en-US" sz="1600" dirty="0">
                <a:solidFill>
                  <a:srgbClr val="E6E6E6"/>
                </a:solidFill>
              </a:rPr>
              <a:t>There are two types of links. One is a symbolic link, which is also called a soft link. The other is a hard link.</a:t>
            </a:r>
          </a:p>
          <a:p>
            <a:r>
              <a:rPr lang="en-US" sz="1600" dirty="0">
                <a:solidFill>
                  <a:srgbClr val="E6E6E6"/>
                </a:solidFill>
              </a:rPr>
              <a:t>Hard </a:t>
            </a:r>
            <a:r>
              <a:rPr lang="en-US" sz="1600" dirty="0" err="1">
                <a:solidFill>
                  <a:srgbClr val="E6E6E6"/>
                </a:solidFill>
              </a:rPr>
              <a:t>link:A</a:t>
            </a:r>
            <a:r>
              <a:rPr lang="en-US" sz="1600" dirty="0">
                <a:solidFill>
                  <a:srgbClr val="E6E6E6"/>
                </a:solidFill>
              </a:rPr>
              <a:t> hard link is a file or directory that has one index (</a:t>
            </a:r>
            <a:r>
              <a:rPr lang="en-US" sz="1600" dirty="0" err="1">
                <a:solidFill>
                  <a:srgbClr val="E6E6E6"/>
                </a:solidFill>
              </a:rPr>
              <a:t>inode</a:t>
            </a:r>
            <a:r>
              <a:rPr lang="en-US" sz="1600" dirty="0">
                <a:solidFill>
                  <a:srgbClr val="E6E6E6"/>
                </a:solidFill>
              </a:rPr>
              <a:t>) number but at least two different filenames. Having a single </a:t>
            </a:r>
            <a:r>
              <a:rPr lang="en-US" sz="1600" dirty="0" err="1">
                <a:solidFill>
                  <a:srgbClr val="E6E6E6"/>
                </a:solidFill>
              </a:rPr>
              <a:t>inode</a:t>
            </a:r>
            <a:r>
              <a:rPr lang="en-US" sz="1600" dirty="0">
                <a:solidFill>
                  <a:srgbClr val="E6E6E6"/>
                </a:solidFill>
              </a:rPr>
              <a:t> number means that it is a single data file on the filesystem. Having two or more names means the file can be accessed in multiple ways</a:t>
            </a:r>
          </a:p>
        </p:txBody>
      </p:sp>
    </p:spTree>
    <p:extLst>
      <p:ext uri="{BB962C8B-B14F-4D97-AF65-F5344CB8AC3E}">
        <p14:creationId xmlns:p14="http://schemas.microsoft.com/office/powerpoint/2010/main" val="32986616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51192-4B88-B087-BBA0-57BAF2EEBFC6}"/>
              </a:ext>
            </a:extLst>
          </p:cNvPr>
          <p:cNvSpPr>
            <a:spLocks noGrp="1"/>
          </p:cNvSpPr>
          <p:nvPr>
            <p:ph type="title"/>
          </p:nvPr>
        </p:nvSpPr>
        <p:spPr>
          <a:xfrm>
            <a:off x="1265807" y="81736"/>
            <a:ext cx="8596668" cy="1320800"/>
          </a:xfrm>
        </p:spPr>
        <p:txBody>
          <a:bodyPr/>
          <a:lstStyle/>
          <a:p>
            <a:r>
              <a:rPr lang="en-US" sz="2800" b="1" dirty="0">
                <a:solidFill>
                  <a:srgbClr val="FFFFFF"/>
                </a:solidFill>
              </a:rPr>
              <a:t>               hard link vs soft link</a:t>
            </a:r>
          </a:p>
        </p:txBody>
      </p:sp>
      <p:pic>
        <p:nvPicPr>
          <p:cNvPr id="5" name="Content Placeholder 4">
            <a:extLst>
              <a:ext uri="{FF2B5EF4-FFF2-40B4-BE49-F238E27FC236}">
                <a16:creationId xmlns:a16="http://schemas.microsoft.com/office/drawing/2014/main" id="{FFD01E74-20F6-DD32-0055-00AF754266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98932" y="1538380"/>
            <a:ext cx="5409928" cy="2132917"/>
          </a:xfrm>
        </p:spPr>
      </p:pic>
      <p:sp>
        <p:nvSpPr>
          <p:cNvPr id="7" name="TextBox 6">
            <a:extLst>
              <a:ext uri="{FF2B5EF4-FFF2-40B4-BE49-F238E27FC236}">
                <a16:creationId xmlns:a16="http://schemas.microsoft.com/office/drawing/2014/main" id="{51F7DCE7-A5F4-1E31-6EE7-4512D9E4E951}"/>
              </a:ext>
            </a:extLst>
          </p:cNvPr>
          <p:cNvSpPr txBox="1"/>
          <p:nvPr/>
        </p:nvSpPr>
        <p:spPr>
          <a:xfrm>
            <a:off x="1146096" y="3942985"/>
            <a:ext cx="10515600" cy="1015663"/>
          </a:xfrm>
          <a:prstGeom prst="rect">
            <a:avLst/>
          </a:prstGeom>
          <a:noFill/>
        </p:spPr>
        <p:txBody>
          <a:bodyPr wrap="square">
            <a:spAutoFit/>
          </a:bodyPr>
          <a:lstStyle/>
          <a:p>
            <a:r>
              <a:rPr lang="en-US" sz="1600" dirty="0">
                <a:solidFill>
                  <a:srgbClr val="E6E6E6"/>
                </a:solidFill>
              </a:rPr>
              <a:t>This is often used in file backups where not enough filesystem space exists to back up the file’s data. If someone deletes one of the file’s names, you still have another filename that links to its data</a:t>
            </a:r>
          </a:p>
        </p:txBody>
      </p:sp>
      <p:sp>
        <p:nvSpPr>
          <p:cNvPr id="9" name="TextBox 8">
            <a:extLst>
              <a:ext uri="{FF2B5EF4-FFF2-40B4-BE49-F238E27FC236}">
                <a16:creationId xmlns:a16="http://schemas.microsoft.com/office/drawing/2014/main" id="{EE2FB1B4-C6B6-8F8B-273A-D4496B7F445A}"/>
              </a:ext>
            </a:extLst>
          </p:cNvPr>
          <p:cNvSpPr txBox="1"/>
          <p:nvPr/>
        </p:nvSpPr>
        <p:spPr>
          <a:xfrm>
            <a:off x="1146096" y="5042623"/>
            <a:ext cx="10771094" cy="1015663"/>
          </a:xfrm>
          <a:prstGeom prst="rect">
            <a:avLst/>
          </a:prstGeom>
          <a:noFill/>
        </p:spPr>
        <p:txBody>
          <a:bodyPr wrap="square">
            <a:spAutoFit/>
          </a:bodyPr>
          <a:lstStyle/>
          <a:p>
            <a:r>
              <a:rPr lang="en-US" sz="1600" dirty="0">
                <a:solidFill>
                  <a:srgbClr val="E6E6E6"/>
                </a:solidFill>
              </a:rPr>
              <a:t>To create a hard link, use the ln command. For hard links, the original file must exist prior to issuing the ln command. The linked file must not exist; it is created when the command is issued</a:t>
            </a:r>
          </a:p>
        </p:txBody>
      </p:sp>
    </p:spTree>
    <p:extLst>
      <p:ext uri="{BB962C8B-B14F-4D97-AF65-F5344CB8AC3E}">
        <p14:creationId xmlns:p14="http://schemas.microsoft.com/office/powerpoint/2010/main" val="34683988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C873F-5EAB-F000-950C-E26EB695ED03}"/>
              </a:ext>
            </a:extLst>
          </p:cNvPr>
          <p:cNvSpPr>
            <a:spLocks noGrp="1"/>
          </p:cNvSpPr>
          <p:nvPr>
            <p:ph type="title"/>
          </p:nvPr>
        </p:nvSpPr>
        <p:spPr>
          <a:xfrm>
            <a:off x="1204513" y="268351"/>
            <a:ext cx="8596668" cy="1320800"/>
          </a:xfrm>
        </p:spPr>
        <p:txBody>
          <a:bodyPr/>
          <a:lstStyle/>
          <a:p>
            <a:r>
              <a:rPr lang="en-US" sz="2800" b="1" dirty="0">
                <a:solidFill>
                  <a:srgbClr val="FFFFFF"/>
                </a:solidFill>
              </a:rPr>
              <a:t>                 hard link vs soft link</a:t>
            </a:r>
          </a:p>
        </p:txBody>
      </p:sp>
      <p:sp>
        <p:nvSpPr>
          <p:cNvPr id="3" name="Content Placeholder 2">
            <a:extLst>
              <a:ext uri="{FF2B5EF4-FFF2-40B4-BE49-F238E27FC236}">
                <a16:creationId xmlns:a16="http://schemas.microsoft.com/office/drawing/2014/main" id="{189DF7FC-2650-B3F4-C29B-A0DCEE11DCF2}"/>
              </a:ext>
            </a:extLst>
          </p:cNvPr>
          <p:cNvSpPr>
            <a:spLocks noGrp="1"/>
          </p:cNvSpPr>
          <p:nvPr>
            <p:ph idx="1"/>
          </p:nvPr>
        </p:nvSpPr>
        <p:spPr>
          <a:xfrm>
            <a:off x="1287624" y="1928002"/>
            <a:ext cx="10515600" cy="4351338"/>
          </a:xfrm>
        </p:spPr>
        <p:txBody>
          <a:bodyPr>
            <a:normAutofit/>
          </a:bodyPr>
          <a:lstStyle/>
          <a:p>
            <a:r>
              <a:rPr lang="en-US" sz="1600" dirty="0">
                <a:solidFill>
                  <a:srgbClr val="E6E6E6"/>
                </a:solidFill>
              </a:rPr>
              <a:t>When you create and use hard links, there are a few important items to remember</a:t>
            </a:r>
          </a:p>
          <a:p>
            <a:pPr marL="0" indent="0">
              <a:buNone/>
            </a:pPr>
            <a:r>
              <a:rPr lang="en-US" sz="1600" dirty="0">
                <a:solidFill>
                  <a:srgbClr val="E6E6E6"/>
                </a:solidFill>
              </a:rPr>
              <a:t>     ■ The original file must exist before you issue the ln command. </a:t>
            </a:r>
          </a:p>
          <a:p>
            <a:r>
              <a:rPr lang="en-US" sz="1600" dirty="0">
                <a:solidFill>
                  <a:srgbClr val="E6E6E6"/>
                </a:solidFill>
              </a:rPr>
              <a:t>■ The second filename listed in the ln command must not exist prior to issuing the command.</a:t>
            </a:r>
          </a:p>
          <a:p>
            <a:r>
              <a:rPr lang="en-US" sz="1600" dirty="0">
                <a:solidFill>
                  <a:srgbClr val="E6E6E6"/>
                </a:solidFill>
              </a:rPr>
              <a:t> ■ An original file and its hard links share the same </a:t>
            </a:r>
            <a:r>
              <a:rPr lang="en-US" sz="1600" dirty="0" err="1">
                <a:solidFill>
                  <a:srgbClr val="E6E6E6"/>
                </a:solidFill>
              </a:rPr>
              <a:t>inode</a:t>
            </a:r>
            <a:r>
              <a:rPr lang="en-US" sz="1600" dirty="0">
                <a:solidFill>
                  <a:srgbClr val="E6E6E6"/>
                </a:solidFill>
              </a:rPr>
              <a:t> number. </a:t>
            </a:r>
          </a:p>
          <a:p>
            <a:r>
              <a:rPr lang="en-US" sz="1600" dirty="0">
                <a:solidFill>
                  <a:srgbClr val="E6E6E6"/>
                </a:solidFill>
              </a:rPr>
              <a:t>■ An original file and its hard links share the same data.</a:t>
            </a:r>
          </a:p>
          <a:p>
            <a:r>
              <a:rPr lang="en-US" sz="1600" dirty="0">
                <a:solidFill>
                  <a:srgbClr val="E6E6E6"/>
                </a:solidFill>
              </a:rPr>
              <a:t> ■ An original file and any of its hard links can exist in different directories. </a:t>
            </a:r>
          </a:p>
          <a:p>
            <a:r>
              <a:rPr lang="en-US" sz="1600" dirty="0">
                <a:solidFill>
                  <a:srgbClr val="E6E6E6"/>
                </a:solidFill>
              </a:rPr>
              <a:t>■ An original file and its hard links must exist on the same filesystem</a:t>
            </a:r>
          </a:p>
        </p:txBody>
      </p:sp>
    </p:spTree>
    <p:extLst>
      <p:ext uri="{BB962C8B-B14F-4D97-AF65-F5344CB8AC3E}">
        <p14:creationId xmlns:p14="http://schemas.microsoft.com/office/powerpoint/2010/main" val="21495873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01D2-7991-170D-0539-122FAA1E0BF8}"/>
              </a:ext>
            </a:extLst>
          </p:cNvPr>
          <p:cNvSpPr>
            <a:spLocks noGrp="1"/>
          </p:cNvSpPr>
          <p:nvPr>
            <p:ph type="title"/>
          </p:nvPr>
        </p:nvSpPr>
        <p:spPr>
          <a:xfrm>
            <a:off x="1437658" y="336787"/>
            <a:ext cx="8490113" cy="768219"/>
          </a:xfrm>
        </p:spPr>
        <p:txBody>
          <a:bodyPr/>
          <a:lstStyle/>
          <a:p>
            <a:r>
              <a:rPr lang="en-US" sz="2800" b="1" dirty="0">
                <a:solidFill>
                  <a:srgbClr val="FFFFFF"/>
                </a:solidFill>
              </a:rPr>
              <a:t>              hard link vs soft link</a:t>
            </a:r>
          </a:p>
        </p:txBody>
      </p:sp>
      <p:sp>
        <p:nvSpPr>
          <p:cNvPr id="3" name="Content Placeholder 2">
            <a:extLst>
              <a:ext uri="{FF2B5EF4-FFF2-40B4-BE49-F238E27FC236}">
                <a16:creationId xmlns:a16="http://schemas.microsoft.com/office/drawing/2014/main" id="{1A27DCC7-DF98-D857-6C19-4131279F6E19}"/>
              </a:ext>
            </a:extLst>
          </p:cNvPr>
          <p:cNvSpPr>
            <a:spLocks noGrp="1"/>
          </p:cNvSpPr>
          <p:nvPr>
            <p:ph idx="1"/>
          </p:nvPr>
        </p:nvSpPr>
        <p:spPr>
          <a:xfrm>
            <a:off x="1437658" y="1675898"/>
            <a:ext cx="8596668" cy="3880773"/>
          </a:xfrm>
        </p:spPr>
        <p:txBody>
          <a:bodyPr>
            <a:normAutofit/>
          </a:bodyPr>
          <a:lstStyle/>
          <a:p>
            <a:r>
              <a:rPr lang="en-US" sz="1600" dirty="0">
                <a:solidFill>
                  <a:srgbClr val="E6E6E6"/>
                </a:solidFill>
              </a:rPr>
              <a:t>Typically, a soft link file provides a pointer to a file that may reside on another filesystem. The two files do not share </a:t>
            </a:r>
            <a:r>
              <a:rPr lang="en-US" sz="1600" dirty="0" err="1">
                <a:solidFill>
                  <a:srgbClr val="E6E6E6"/>
                </a:solidFill>
              </a:rPr>
              <a:t>inode</a:t>
            </a:r>
            <a:r>
              <a:rPr lang="en-US" sz="1600" dirty="0">
                <a:solidFill>
                  <a:srgbClr val="E6E6E6"/>
                </a:solidFill>
              </a:rPr>
              <a:t> numbers because they do not point to the same data.</a:t>
            </a:r>
          </a:p>
          <a:p>
            <a:endParaRPr lang="en-US" sz="2000" dirty="0"/>
          </a:p>
          <a:p>
            <a:endParaRPr lang="en-US" sz="2000" dirty="0"/>
          </a:p>
          <a:p>
            <a:endParaRPr lang="en-US" sz="2000" dirty="0"/>
          </a:p>
          <a:p>
            <a:r>
              <a:rPr lang="en-US" sz="1600" dirty="0">
                <a:solidFill>
                  <a:srgbClr val="E6E6E6"/>
                </a:solidFill>
              </a:rPr>
              <a:t>ln –s</a:t>
            </a:r>
          </a:p>
          <a:p>
            <a:r>
              <a:rPr lang="en-US" sz="1600" dirty="0">
                <a:solidFill>
                  <a:srgbClr val="E6E6E6"/>
                </a:solidFill>
              </a:rPr>
              <a:t>Similar to a hard link, the original file must exist prior to issuing the ln -s command. The soft-linked file must not exist.</a:t>
            </a:r>
            <a:endParaRPr lang="fa-IR" sz="2000" dirty="0"/>
          </a:p>
          <a:p>
            <a:pPr marL="0" indent="0">
              <a:buNone/>
            </a:pPr>
            <a:endParaRPr lang="en-US" sz="2000" dirty="0"/>
          </a:p>
        </p:txBody>
      </p:sp>
      <p:pic>
        <p:nvPicPr>
          <p:cNvPr id="5" name="Picture 4">
            <a:extLst>
              <a:ext uri="{FF2B5EF4-FFF2-40B4-BE49-F238E27FC236}">
                <a16:creationId xmlns:a16="http://schemas.microsoft.com/office/drawing/2014/main" id="{883EFFFC-7C66-67F5-835A-836A6F7680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6879" y="2710333"/>
            <a:ext cx="6750424" cy="1606633"/>
          </a:xfrm>
          <a:prstGeom prst="rect">
            <a:avLst/>
          </a:prstGeom>
        </p:spPr>
      </p:pic>
    </p:spTree>
    <p:extLst>
      <p:ext uri="{BB962C8B-B14F-4D97-AF65-F5344CB8AC3E}">
        <p14:creationId xmlns:p14="http://schemas.microsoft.com/office/powerpoint/2010/main" val="34106272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3CC88-277D-FB86-0841-6C0681512938}"/>
              </a:ext>
            </a:extLst>
          </p:cNvPr>
          <p:cNvSpPr>
            <a:spLocks noGrp="1"/>
          </p:cNvSpPr>
          <p:nvPr>
            <p:ph type="title"/>
          </p:nvPr>
        </p:nvSpPr>
        <p:spPr>
          <a:xfrm>
            <a:off x="1227840" y="0"/>
            <a:ext cx="8596668" cy="1320800"/>
          </a:xfrm>
        </p:spPr>
        <p:txBody>
          <a:bodyPr/>
          <a:lstStyle/>
          <a:p>
            <a:r>
              <a:rPr lang="en-US" sz="2800" b="1" dirty="0">
                <a:solidFill>
                  <a:srgbClr val="FFFFFF"/>
                </a:solidFill>
              </a:rPr>
              <a:t>            hard link vs soft link</a:t>
            </a:r>
          </a:p>
        </p:txBody>
      </p:sp>
      <p:sp>
        <p:nvSpPr>
          <p:cNvPr id="3" name="Content Placeholder 2">
            <a:extLst>
              <a:ext uri="{FF2B5EF4-FFF2-40B4-BE49-F238E27FC236}">
                <a16:creationId xmlns:a16="http://schemas.microsoft.com/office/drawing/2014/main" id="{50B8A7BC-BFF4-EAFE-DD6F-BBDCA0E322FF}"/>
              </a:ext>
            </a:extLst>
          </p:cNvPr>
          <p:cNvSpPr>
            <a:spLocks noGrp="1"/>
          </p:cNvSpPr>
          <p:nvPr>
            <p:ph idx="1"/>
          </p:nvPr>
        </p:nvSpPr>
        <p:spPr>
          <a:xfrm>
            <a:off x="2002281" y="2058697"/>
            <a:ext cx="8596668" cy="3880773"/>
          </a:xfrm>
        </p:spPr>
        <p:txBody>
          <a:bodyPr>
            <a:noAutofit/>
          </a:bodyPr>
          <a:lstStyle/>
          <a:p>
            <a:r>
              <a:rPr lang="en-US" sz="1600" dirty="0">
                <a:solidFill>
                  <a:srgbClr val="E6E6E6"/>
                </a:solidFill>
              </a:rPr>
              <a:t>When creating and using soft links, keep in mind a few important items:</a:t>
            </a:r>
          </a:p>
          <a:p>
            <a:r>
              <a:rPr lang="en-US" sz="1600" dirty="0">
                <a:solidFill>
                  <a:srgbClr val="E6E6E6"/>
                </a:solidFill>
              </a:rPr>
              <a:t> ■ The original file must exist before you issue the ln -s command. </a:t>
            </a:r>
          </a:p>
          <a:p>
            <a:r>
              <a:rPr lang="en-US" sz="1600" dirty="0">
                <a:solidFill>
                  <a:srgbClr val="E6E6E6"/>
                </a:solidFill>
              </a:rPr>
              <a:t>■ The second filename listed in the ln -s command must not exist prior to issuing the command. </a:t>
            </a:r>
          </a:p>
          <a:p>
            <a:r>
              <a:rPr lang="en-US" sz="1600" dirty="0">
                <a:solidFill>
                  <a:srgbClr val="E6E6E6"/>
                </a:solidFill>
              </a:rPr>
              <a:t>■ An original file and its soft links do not share the same </a:t>
            </a:r>
            <a:r>
              <a:rPr lang="en-US" sz="1600" dirty="0" err="1">
                <a:solidFill>
                  <a:srgbClr val="E6E6E6"/>
                </a:solidFill>
              </a:rPr>
              <a:t>inode</a:t>
            </a:r>
            <a:r>
              <a:rPr lang="en-US" sz="1600" dirty="0">
                <a:solidFill>
                  <a:srgbClr val="E6E6E6"/>
                </a:solidFill>
              </a:rPr>
              <a:t> number. </a:t>
            </a:r>
          </a:p>
          <a:p>
            <a:r>
              <a:rPr lang="en-US" sz="1600" dirty="0">
                <a:solidFill>
                  <a:srgbClr val="E6E6E6"/>
                </a:solidFill>
              </a:rPr>
              <a:t>■ An original file and its soft links do not share the same data. </a:t>
            </a:r>
          </a:p>
          <a:p>
            <a:r>
              <a:rPr lang="en-US" sz="1600" dirty="0">
                <a:solidFill>
                  <a:srgbClr val="E6E6E6"/>
                </a:solidFill>
              </a:rPr>
              <a:t>■ An original file and any of its soft links can exist in different directories. </a:t>
            </a:r>
          </a:p>
          <a:p>
            <a:r>
              <a:rPr lang="en-US" sz="1600" dirty="0">
                <a:solidFill>
                  <a:srgbClr val="E6E6E6"/>
                </a:solidFill>
              </a:rPr>
              <a:t>■ An original file and its soft links can exist in different filesystems</a:t>
            </a:r>
            <a:endParaRPr lang="fa-IR" sz="2000" dirty="0"/>
          </a:p>
          <a:p>
            <a:r>
              <a:rPr lang="en-US" sz="1600" dirty="0">
                <a:solidFill>
                  <a:srgbClr val="E6E6E6"/>
                </a:solidFill>
              </a:rPr>
              <a:t>The </a:t>
            </a:r>
            <a:r>
              <a:rPr lang="en-US" sz="1600" dirty="0" err="1">
                <a:solidFill>
                  <a:srgbClr val="E6E6E6"/>
                </a:solidFill>
              </a:rPr>
              <a:t>readlink</a:t>
            </a:r>
            <a:r>
              <a:rPr lang="en-US" sz="1600" dirty="0">
                <a:solidFill>
                  <a:srgbClr val="E6E6E6"/>
                </a:solidFill>
              </a:rPr>
              <a:t> utility will display the final file’s name and directory location.</a:t>
            </a:r>
          </a:p>
        </p:txBody>
      </p:sp>
    </p:spTree>
    <p:extLst>
      <p:ext uri="{BB962C8B-B14F-4D97-AF65-F5344CB8AC3E}">
        <p14:creationId xmlns:p14="http://schemas.microsoft.com/office/powerpoint/2010/main" val="7188844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77FD1-D28A-A80E-A35E-383E4B434293}"/>
              </a:ext>
            </a:extLst>
          </p:cNvPr>
          <p:cNvSpPr>
            <a:spLocks noGrp="1"/>
          </p:cNvSpPr>
          <p:nvPr>
            <p:ph type="title"/>
          </p:nvPr>
        </p:nvSpPr>
        <p:spPr>
          <a:xfrm>
            <a:off x="-148546" y="107302"/>
            <a:ext cx="10018713" cy="1752599"/>
          </a:xfrm>
        </p:spPr>
        <p:txBody>
          <a:bodyPr/>
          <a:lstStyle/>
          <a:p>
            <a:r>
              <a:rPr lang="en-US" sz="2800" b="1" dirty="0">
                <a:solidFill>
                  <a:srgbClr val="FFFFFF"/>
                </a:solidFill>
              </a:rPr>
              <a:t>                       </a:t>
            </a:r>
            <a:r>
              <a:rPr lang="en-US" sz="2800" b="1" dirty="0" err="1">
                <a:solidFill>
                  <a:srgbClr val="FFFFFF"/>
                </a:solidFill>
              </a:rPr>
              <a:t>fstab</a:t>
            </a:r>
            <a:endParaRPr lang="en-US" dirty="0"/>
          </a:p>
        </p:txBody>
      </p:sp>
      <p:sp>
        <p:nvSpPr>
          <p:cNvPr id="3" name="Content Placeholder 2">
            <a:extLst>
              <a:ext uri="{FF2B5EF4-FFF2-40B4-BE49-F238E27FC236}">
                <a16:creationId xmlns:a16="http://schemas.microsoft.com/office/drawing/2014/main" id="{89D9CFA9-62E9-8947-A52F-B7C3A9A157EF}"/>
              </a:ext>
            </a:extLst>
          </p:cNvPr>
          <p:cNvSpPr>
            <a:spLocks noGrp="1"/>
          </p:cNvSpPr>
          <p:nvPr>
            <p:ph idx="1"/>
          </p:nvPr>
        </p:nvSpPr>
        <p:spPr>
          <a:xfrm>
            <a:off x="1596278" y="2069840"/>
            <a:ext cx="10018713" cy="3124201"/>
          </a:xfrm>
        </p:spPr>
        <p:txBody>
          <a:bodyPr>
            <a:normAutofit/>
          </a:bodyPr>
          <a:lstStyle/>
          <a:p>
            <a:r>
              <a:rPr lang="en-US" sz="1600" dirty="0">
                <a:solidFill>
                  <a:srgbClr val="E6E6E6"/>
                </a:solidFill>
              </a:rPr>
              <a:t>For permanent storage devices, Linux maintains the /</a:t>
            </a:r>
            <a:r>
              <a:rPr lang="en-US" sz="1600" dirty="0" err="1">
                <a:solidFill>
                  <a:srgbClr val="E6E6E6"/>
                </a:solidFill>
              </a:rPr>
              <a:t>etc</a:t>
            </a:r>
            <a:r>
              <a:rPr lang="en-US" sz="1600" dirty="0">
                <a:solidFill>
                  <a:srgbClr val="E6E6E6"/>
                </a:solidFill>
              </a:rPr>
              <a:t>/</a:t>
            </a:r>
            <a:r>
              <a:rPr lang="en-US" sz="1600" dirty="0" err="1">
                <a:solidFill>
                  <a:srgbClr val="E6E6E6"/>
                </a:solidFill>
              </a:rPr>
              <a:t>fstab</a:t>
            </a:r>
            <a:r>
              <a:rPr lang="en-US" sz="1600" dirty="0">
                <a:solidFill>
                  <a:srgbClr val="E6E6E6"/>
                </a:solidFill>
              </a:rPr>
              <a:t> file to indicate which drive devices should be mounted to the virtual directory at boot time. The /</a:t>
            </a:r>
            <a:r>
              <a:rPr lang="en-US" sz="1600" dirty="0" err="1">
                <a:solidFill>
                  <a:srgbClr val="E6E6E6"/>
                </a:solidFill>
              </a:rPr>
              <a:t>etc</a:t>
            </a:r>
            <a:r>
              <a:rPr lang="en-US" sz="1600" dirty="0">
                <a:solidFill>
                  <a:srgbClr val="E6E6E6"/>
                </a:solidFill>
              </a:rPr>
              <a:t>/</a:t>
            </a:r>
            <a:r>
              <a:rPr lang="en-US" sz="1600" dirty="0" err="1">
                <a:solidFill>
                  <a:srgbClr val="E6E6E6"/>
                </a:solidFill>
              </a:rPr>
              <a:t>fstab</a:t>
            </a:r>
            <a:r>
              <a:rPr lang="en-US" sz="1600" dirty="0">
                <a:solidFill>
                  <a:srgbClr val="E6E6E6"/>
                </a:solidFill>
              </a:rPr>
              <a:t> file is a table that indicates the drive device </a:t>
            </a:r>
            <a:r>
              <a:rPr lang="en-US" sz="1600" dirty="0" err="1">
                <a:solidFill>
                  <a:srgbClr val="E6E6E6"/>
                </a:solidFill>
              </a:rPr>
              <a:t>fle</a:t>
            </a:r>
            <a:r>
              <a:rPr lang="en-US" sz="1600" dirty="0">
                <a:solidFill>
                  <a:srgbClr val="E6E6E6"/>
                </a:solidFill>
              </a:rPr>
              <a:t> (either the raw file or one of its permanent </a:t>
            </a:r>
            <a:r>
              <a:rPr lang="en-US" sz="1600" dirty="0" err="1">
                <a:solidFill>
                  <a:srgbClr val="E6E6E6"/>
                </a:solidFill>
              </a:rPr>
              <a:t>udev</a:t>
            </a:r>
            <a:r>
              <a:rPr lang="en-US" sz="1600" dirty="0">
                <a:solidFill>
                  <a:srgbClr val="E6E6E6"/>
                </a:solidFill>
              </a:rPr>
              <a:t> fi </a:t>
            </a:r>
            <a:r>
              <a:rPr lang="en-US" sz="1600" dirty="0" err="1">
                <a:solidFill>
                  <a:srgbClr val="E6E6E6"/>
                </a:solidFill>
              </a:rPr>
              <a:t>lenames</a:t>
            </a:r>
            <a:r>
              <a:rPr lang="en-US" sz="1600" dirty="0">
                <a:solidFill>
                  <a:srgbClr val="E6E6E6"/>
                </a:solidFill>
              </a:rPr>
              <a:t>), the mount point location, the filesystem type, and any additional options required to mount the drive</a:t>
            </a:r>
          </a:p>
          <a:p>
            <a:endParaRPr lang="en-US" sz="2000" dirty="0"/>
          </a:p>
          <a:p>
            <a:r>
              <a:rPr lang="en-US" sz="1600" dirty="0">
                <a:solidFill>
                  <a:srgbClr val="E6E6E6"/>
                </a:solidFill>
              </a:rPr>
              <a:t>filesystem         mountpoint       type         options   dump         pass</a:t>
            </a:r>
          </a:p>
          <a:p>
            <a:r>
              <a:rPr lang="en-US" sz="1600" dirty="0">
                <a:solidFill>
                  <a:srgbClr val="E6E6E6"/>
                </a:solidFill>
              </a:rPr>
              <a:t>/dev/hdb1        /home                ext2        defaults     1               0</a:t>
            </a:r>
          </a:p>
        </p:txBody>
      </p:sp>
    </p:spTree>
    <p:extLst>
      <p:ext uri="{BB962C8B-B14F-4D97-AF65-F5344CB8AC3E}">
        <p14:creationId xmlns:p14="http://schemas.microsoft.com/office/powerpoint/2010/main" val="26675635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81ECB-5534-FB82-9330-BD10833FC934}"/>
              </a:ext>
            </a:extLst>
          </p:cNvPr>
          <p:cNvSpPr>
            <a:spLocks noGrp="1"/>
          </p:cNvSpPr>
          <p:nvPr>
            <p:ph type="title"/>
          </p:nvPr>
        </p:nvSpPr>
        <p:spPr>
          <a:xfrm>
            <a:off x="1754900" y="0"/>
            <a:ext cx="6484032" cy="1094791"/>
          </a:xfrm>
        </p:spPr>
        <p:txBody>
          <a:bodyPr/>
          <a:lstStyle/>
          <a:p>
            <a:r>
              <a:rPr lang="en-US" sz="2800" b="1" dirty="0">
                <a:solidFill>
                  <a:srgbClr val="FFFFFF"/>
                </a:solidFill>
              </a:rPr>
              <a:t>                      </a:t>
            </a:r>
            <a:r>
              <a:rPr lang="en-US" sz="2800" b="1" dirty="0" err="1">
                <a:solidFill>
                  <a:srgbClr val="FFFFFF"/>
                </a:solidFill>
              </a:rPr>
              <a:t>fstab</a:t>
            </a:r>
            <a:endParaRPr lang="en-US" dirty="0"/>
          </a:p>
        </p:txBody>
      </p:sp>
      <p:sp>
        <p:nvSpPr>
          <p:cNvPr id="3" name="Content Placeholder 2">
            <a:extLst>
              <a:ext uri="{FF2B5EF4-FFF2-40B4-BE49-F238E27FC236}">
                <a16:creationId xmlns:a16="http://schemas.microsoft.com/office/drawing/2014/main" id="{73D0BEE6-35B0-3456-8DB8-7947FE2C0C03}"/>
              </a:ext>
            </a:extLst>
          </p:cNvPr>
          <p:cNvSpPr>
            <a:spLocks noGrp="1"/>
          </p:cNvSpPr>
          <p:nvPr>
            <p:ph idx="1"/>
          </p:nvPr>
        </p:nvSpPr>
        <p:spPr>
          <a:xfrm>
            <a:off x="1474979" y="1007707"/>
            <a:ext cx="10216278" cy="4531567"/>
          </a:xfrm>
        </p:spPr>
        <p:txBody>
          <a:bodyPr>
            <a:normAutofit/>
          </a:bodyPr>
          <a:lstStyle/>
          <a:p>
            <a:r>
              <a:rPr lang="en-US" sz="1600" dirty="0">
                <a:solidFill>
                  <a:srgbClr val="E6E6E6"/>
                </a:solidFill>
              </a:rPr>
              <a:t>Part 4: by default auto means when </a:t>
            </a:r>
            <a:r>
              <a:rPr lang="en-US" sz="1600" dirty="0" err="1">
                <a:solidFill>
                  <a:srgbClr val="E6E6E6"/>
                </a:solidFill>
              </a:rPr>
              <a:t>os</a:t>
            </a:r>
            <a:r>
              <a:rPr lang="en-US" sz="1600" dirty="0">
                <a:solidFill>
                  <a:srgbClr val="E6E6E6"/>
                </a:solidFill>
              </a:rPr>
              <a:t> boot mount automatically done if you don’t want put </a:t>
            </a:r>
            <a:r>
              <a:rPr lang="en-US" sz="1600" dirty="0" err="1">
                <a:solidFill>
                  <a:srgbClr val="E6E6E6"/>
                </a:solidFill>
              </a:rPr>
              <a:t>noauto.nouser</a:t>
            </a:r>
            <a:r>
              <a:rPr lang="en-US" sz="1600" dirty="0">
                <a:solidFill>
                  <a:srgbClr val="E6E6E6"/>
                </a:solidFill>
              </a:rPr>
              <a:t> by default means nobody mount file just root if you want other user mount put user .</a:t>
            </a:r>
          </a:p>
          <a:p>
            <a:r>
              <a:rPr lang="en-US" sz="1600" dirty="0">
                <a:solidFill>
                  <a:srgbClr val="E6E6E6"/>
                </a:solidFill>
              </a:rPr>
              <a:t>Ro/</a:t>
            </a:r>
            <a:r>
              <a:rPr lang="en-US" sz="1600" dirty="0" err="1">
                <a:solidFill>
                  <a:srgbClr val="E6E6E6"/>
                </a:solidFill>
              </a:rPr>
              <a:t>Rw</a:t>
            </a:r>
            <a:r>
              <a:rPr lang="en-US" sz="1600" dirty="0">
                <a:solidFill>
                  <a:srgbClr val="E6E6E6"/>
                </a:solidFill>
              </a:rPr>
              <a:t>  in part for </a:t>
            </a:r>
            <a:r>
              <a:rPr lang="en-US" sz="1600" dirty="0" err="1">
                <a:solidFill>
                  <a:srgbClr val="E6E6E6"/>
                </a:solidFill>
              </a:rPr>
              <a:t>bydefault</a:t>
            </a:r>
            <a:r>
              <a:rPr lang="en-US" sz="1600" dirty="0">
                <a:solidFill>
                  <a:srgbClr val="E6E6E6"/>
                </a:solidFill>
              </a:rPr>
              <a:t> </a:t>
            </a:r>
            <a:r>
              <a:rPr lang="en-US" sz="1600" dirty="0" err="1">
                <a:solidFill>
                  <a:srgbClr val="E6E6E6"/>
                </a:solidFill>
              </a:rPr>
              <a:t>ro</a:t>
            </a:r>
            <a:r>
              <a:rPr lang="en-US" sz="1600" dirty="0">
                <a:solidFill>
                  <a:srgbClr val="E6E6E6"/>
                </a:solidFill>
              </a:rPr>
              <a:t> means read-only about user but if you other user read and write put </a:t>
            </a:r>
            <a:r>
              <a:rPr lang="en-US" sz="1600" dirty="0" err="1">
                <a:solidFill>
                  <a:srgbClr val="E6E6E6"/>
                </a:solidFill>
              </a:rPr>
              <a:t>rw</a:t>
            </a:r>
            <a:endParaRPr lang="en-US" sz="2000" dirty="0"/>
          </a:p>
          <a:p>
            <a:r>
              <a:rPr lang="en-US" sz="1600" dirty="0">
                <a:solidFill>
                  <a:srgbClr val="E6E6E6"/>
                </a:solidFill>
              </a:rPr>
              <a:t>Part5:dump tools for backup from filesystem </a:t>
            </a:r>
            <a:r>
              <a:rPr lang="en-US" sz="1600" dirty="0" err="1">
                <a:solidFill>
                  <a:srgbClr val="E6E6E6"/>
                </a:solidFill>
              </a:rPr>
              <a:t>bydeafult</a:t>
            </a:r>
            <a:r>
              <a:rPr lang="en-US" sz="1600" dirty="0">
                <a:solidFill>
                  <a:srgbClr val="E6E6E6"/>
                </a:solidFill>
              </a:rPr>
              <a:t> 0 but if you want get backup put 1</a:t>
            </a:r>
          </a:p>
          <a:p>
            <a:r>
              <a:rPr lang="en-US" sz="1600" dirty="0">
                <a:solidFill>
                  <a:srgbClr val="E6E6E6"/>
                </a:solidFill>
              </a:rPr>
              <a:t>Part6:fsck for repair filesystem and check health of fs by default o but if you want check put 1</a:t>
            </a:r>
          </a:p>
        </p:txBody>
      </p:sp>
    </p:spTree>
    <p:extLst>
      <p:ext uri="{BB962C8B-B14F-4D97-AF65-F5344CB8AC3E}">
        <p14:creationId xmlns:p14="http://schemas.microsoft.com/office/powerpoint/2010/main" val="12076726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42E95-A05E-7B84-0934-9056A14F66FC}"/>
              </a:ext>
            </a:extLst>
          </p:cNvPr>
          <p:cNvSpPr>
            <a:spLocks noGrp="1"/>
          </p:cNvSpPr>
          <p:nvPr>
            <p:ph type="title"/>
          </p:nvPr>
        </p:nvSpPr>
        <p:spPr>
          <a:xfrm>
            <a:off x="327315" y="0"/>
            <a:ext cx="10018713" cy="1752599"/>
          </a:xfrm>
        </p:spPr>
        <p:txBody>
          <a:bodyPr/>
          <a:lstStyle/>
          <a:p>
            <a:r>
              <a:rPr lang="en-US" sz="2800" b="1" dirty="0">
                <a:solidFill>
                  <a:srgbClr val="FFFFFF"/>
                </a:solidFill>
              </a:rPr>
              <a:t>                      </a:t>
            </a:r>
            <a:r>
              <a:rPr lang="en-US" sz="2800" b="1" dirty="0" err="1">
                <a:solidFill>
                  <a:srgbClr val="FFFFFF"/>
                </a:solidFill>
              </a:rPr>
              <a:t>fstab</a:t>
            </a:r>
            <a:endParaRPr lang="en-US" dirty="0"/>
          </a:p>
        </p:txBody>
      </p:sp>
      <p:sp>
        <p:nvSpPr>
          <p:cNvPr id="3" name="Content Placeholder 2">
            <a:extLst>
              <a:ext uri="{FF2B5EF4-FFF2-40B4-BE49-F238E27FC236}">
                <a16:creationId xmlns:a16="http://schemas.microsoft.com/office/drawing/2014/main" id="{2BEA2570-04A5-A3A9-6DCC-ABA09F79AB67}"/>
              </a:ext>
            </a:extLst>
          </p:cNvPr>
          <p:cNvSpPr>
            <a:spLocks noGrp="1"/>
          </p:cNvSpPr>
          <p:nvPr>
            <p:ph idx="1"/>
          </p:nvPr>
        </p:nvSpPr>
        <p:spPr/>
        <p:txBody>
          <a:bodyPr>
            <a:normAutofit/>
          </a:bodyPr>
          <a:lstStyle/>
          <a:p>
            <a:r>
              <a:rPr lang="en-US" sz="1600" dirty="0">
                <a:solidFill>
                  <a:srgbClr val="E6E6E6"/>
                </a:solidFill>
              </a:rPr>
              <a:t>The first partition is mounted at the /boot/</a:t>
            </a:r>
            <a:r>
              <a:rPr lang="en-US" sz="1600" dirty="0" err="1">
                <a:solidFill>
                  <a:srgbClr val="E6E6E6"/>
                </a:solidFill>
              </a:rPr>
              <a:t>efi</a:t>
            </a:r>
            <a:r>
              <a:rPr lang="en-US" sz="1600" dirty="0">
                <a:solidFill>
                  <a:srgbClr val="E6E6E6"/>
                </a:solidFill>
              </a:rPr>
              <a:t> mount point in the virtual directory. </a:t>
            </a:r>
          </a:p>
          <a:p>
            <a:r>
              <a:rPr lang="en-US" sz="1600" dirty="0">
                <a:solidFill>
                  <a:srgbClr val="E6E6E6"/>
                </a:solidFill>
              </a:rPr>
              <a:t>The second partition is mounted at the root ( / ) of the virtual directory</a:t>
            </a:r>
          </a:p>
          <a:p>
            <a:r>
              <a:rPr lang="en-US" sz="1600" dirty="0">
                <a:solidFill>
                  <a:srgbClr val="E6E6E6"/>
                </a:solidFill>
              </a:rPr>
              <a:t>The  third partition is mounted as a swap area for virtual memory. You can manually add devices to the /</a:t>
            </a:r>
            <a:r>
              <a:rPr lang="en-US" sz="1600" dirty="0" err="1">
                <a:solidFill>
                  <a:srgbClr val="E6E6E6"/>
                </a:solidFill>
              </a:rPr>
              <a:t>etc</a:t>
            </a:r>
            <a:r>
              <a:rPr lang="en-US" sz="1600" dirty="0">
                <a:solidFill>
                  <a:srgbClr val="E6E6E6"/>
                </a:solidFill>
              </a:rPr>
              <a:t>/</a:t>
            </a:r>
            <a:r>
              <a:rPr lang="en-US" sz="1600" dirty="0" err="1">
                <a:solidFill>
                  <a:srgbClr val="E6E6E6"/>
                </a:solidFill>
              </a:rPr>
              <a:t>fstab</a:t>
            </a:r>
            <a:r>
              <a:rPr lang="en-US" sz="1600" dirty="0">
                <a:solidFill>
                  <a:srgbClr val="E6E6E6"/>
                </a:solidFill>
              </a:rPr>
              <a:t> fi le so that they are mounted automatically when the Linux system boots.</a:t>
            </a:r>
          </a:p>
          <a:p>
            <a:r>
              <a:rPr lang="en-US" sz="1600" dirty="0">
                <a:solidFill>
                  <a:srgbClr val="E6E6E6"/>
                </a:solidFill>
              </a:rPr>
              <a:t> However, if they don’t exist at boot time, that will generate a boot error</a:t>
            </a:r>
          </a:p>
        </p:txBody>
      </p:sp>
    </p:spTree>
    <p:extLst>
      <p:ext uri="{BB962C8B-B14F-4D97-AF65-F5344CB8AC3E}">
        <p14:creationId xmlns:p14="http://schemas.microsoft.com/office/powerpoint/2010/main" val="14271290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A4F95-F58B-4BB8-94E2-4B1C06229633}"/>
              </a:ext>
            </a:extLst>
          </p:cNvPr>
          <p:cNvSpPr>
            <a:spLocks noGrp="1"/>
          </p:cNvSpPr>
          <p:nvPr>
            <p:ph type="title"/>
          </p:nvPr>
        </p:nvSpPr>
        <p:spPr/>
        <p:txBody>
          <a:bodyPr/>
          <a:lstStyle/>
          <a:p>
            <a:pPr algn="ctr"/>
            <a:r>
              <a:rPr lang="en-US" sz="2800" b="1" dirty="0">
                <a:solidFill>
                  <a:srgbClr val="FFFFFF"/>
                </a:solidFill>
              </a:rPr>
              <a:t>Type file</a:t>
            </a:r>
          </a:p>
        </p:txBody>
      </p:sp>
      <p:sp>
        <p:nvSpPr>
          <p:cNvPr id="3" name="Content Placeholder 2">
            <a:extLst>
              <a:ext uri="{FF2B5EF4-FFF2-40B4-BE49-F238E27FC236}">
                <a16:creationId xmlns:a16="http://schemas.microsoft.com/office/drawing/2014/main" id="{996B91FF-3AB6-4179-A27D-2FC31D807D75}"/>
              </a:ext>
            </a:extLst>
          </p:cNvPr>
          <p:cNvSpPr>
            <a:spLocks noGrp="1"/>
          </p:cNvSpPr>
          <p:nvPr>
            <p:ph idx="1"/>
          </p:nvPr>
        </p:nvSpPr>
        <p:spPr/>
        <p:txBody>
          <a:bodyPr>
            <a:normAutofit fontScale="85000" lnSpcReduction="20000"/>
          </a:bodyPr>
          <a:lstStyle/>
          <a:p>
            <a:r>
              <a:rPr lang="en-US" sz="1600" dirty="0">
                <a:solidFill>
                  <a:srgbClr val="E6E6E6"/>
                </a:solidFill>
              </a:rPr>
              <a:t>Directory</a:t>
            </a:r>
          </a:p>
          <a:p>
            <a:pPr marL="0" indent="0">
              <a:buNone/>
            </a:pPr>
            <a:endParaRPr lang="en-US" sz="2000" dirty="0"/>
          </a:p>
          <a:p>
            <a:r>
              <a:rPr lang="en-US" sz="1600" dirty="0">
                <a:solidFill>
                  <a:srgbClr val="E6E6E6"/>
                </a:solidFill>
              </a:rPr>
              <a:t>Normal file</a:t>
            </a:r>
          </a:p>
          <a:p>
            <a:endParaRPr lang="en-US" sz="2000" dirty="0"/>
          </a:p>
          <a:p>
            <a:r>
              <a:rPr lang="en-US" sz="1600" dirty="0">
                <a:solidFill>
                  <a:srgbClr val="E6E6E6"/>
                </a:solidFill>
              </a:rPr>
              <a:t>Link == shortcut in windows</a:t>
            </a:r>
          </a:p>
          <a:p>
            <a:r>
              <a:rPr lang="en-US" sz="1600" dirty="0">
                <a:solidFill>
                  <a:srgbClr val="E6E6E6"/>
                </a:solidFill>
              </a:rPr>
              <a:t>                                        </a:t>
            </a:r>
          </a:p>
          <a:p>
            <a:r>
              <a:rPr lang="en-US" sz="1600" dirty="0">
                <a:solidFill>
                  <a:srgbClr val="E6E6E6"/>
                </a:solidFill>
              </a:rPr>
              <a:t>                                           soft link</a:t>
            </a:r>
          </a:p>
          <a:p>
            <a:r>
              <a:rPr lang="en-US" sz="1600" dirty="0">
                <a:solidFill>
                  <a:srgbClr val="E6E6E6"/>
                </a:solidFill>
              </a:rPr>
              <a:t>                                   </a:t>
            </a:r>
          </a:p>
          <a:p>
            <a:r>
              <a:rPr lang="en-US" sz="1600" dirty="0">
                <a:solidFill>
                  <a:srgbClr val="E6E6E6"/>
                </a:solidFill>
              </a:rPr>
              <a:t>                                 hard link</a:t>
            </a:r>
          </a:p>
        </p:txBody>
      </p:sp>
      <p:cxnSp>
        <p:nvCxnSpPr>
          <p:cNvPr id="5" name="Straight Arrow Connector 4">
            <a:extLst>
              <a:ext uri="{FF2B5EF4-FFF2-40B4-BE49-F238E27FC236}">
                <a16:creationId xmlns:a16="http://schemas.microsoft.com/office/drawing/2014/main" id="{BE120307-5A16-43C7-ABCD-EC1A306BDAE7}"/>
              </a:ext>
            </a:extLst>
          </p:cNvPr>
          <p:cNvCxnSpPr/>
          <p:nvPr/>
        </p:nvCxnSpPr>
        <p:spPr>
          <a:xfrm>
            <a:off x="1543574" y="4353886"/>
            <a:ext cx="2701255" cy="620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7F38D9A-F920-4322-B295-63CC0E5B76D8}"/>
              </a:ext>
            </a:extLst>
          </p:cNvPr>
          <p:cNvCxnSpPr/>
          <p:nvPr/>
        </p:nvCxnSpPr>
        <p:spPr>
          <a:xfrm>
            <a:off x="1543574" y="4353886"/>
            <a:ext cx="2004969" cy="1325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12583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A4C-073E-22F5-ACC3-6DDF81A2AF78}"/>
              </a:ext>
            </a:extLst>
          </p:cNvPr>
          <p:cNvSpPr>
            <a:spLocks noGrp="1"/>
          </p:cNvSpPr>
          <p:nvPr>
            <p:ph type="title"/>
          </p:nvPr>
        </p:nvSpPr>
        <p:spPr>
          <a:xfrm>
            <a:off x="1344353" y="121298"/>
            <a:ext cx="7734334" cy="1010815"/>
          </a:xfrm>
        </p:spPr>
        <p:txBody>
          <a:bodyPr/>
          <a:lstStyle/>
          <a:p>
            <a:r>
              <a:rPr lang="en-US" sz="2800" b="1" dirty="0">
                <a:solidFill>
                  <a:srgbClr val="FFFFFF"/>
                </a:solidFill>
              </a:rPr>
              <a:t>                compressing file</a:t>
            </a:r>
          </a:p>
        </p:txBody>
      </p:sp>
      <p:sp>
        <p:nvSpPr>
          <p:cNvPr id="3" name="Content Placeholder 2">
            <a:extLst>
              <a:ext uri="{FF2B5EF4-FFF2-40B4-BE49-F238E27FC236}">
                <a16:creationId xmlns:a16="http://schemas.microsoft.com/office/drawing/2014/main" id="{BBA7AB80-835E-1999-92A5-60406D775DAA}"/>
              </a:ext>
            </a:extLst>
          </p:cNvPr>
          <p:cNvSpPr>
            <a:spLocks noGrp="1"/>
          </p:cNvSpPr>
          <p:nvPr>
            <p:ph idx="1"/>
          </p:nvPr>
        </p:nvSpPr>
        <p:spPr>
          <a:xfrm>
            <a:off x="1469131" y="1511558"/>
            <a:ext cx="10791293" cy="4175069"/>
          </a:xfrm>
        </p:spPr>
        <p:txBody>
          <a:bodyPr>
            <a:noAutofit/>
          </a:bodyPr>
          <a:lstStyle/>
          <a:p>
            <a:pPr algn="just"/>
            <a:r>
              <a:rPr lang="en-US" sz="1600" dirty="0" err="1">
                <a:solidFill>
                  <a:srgbClr val="E6E6E6"/>
                </a:solidFill>
              </a:rPr>
              <a:t>gzip</a:t>
            </a:r>
            <a:r>
              <a:rPr lang="en-US" sz="1600" dirty="0">
                <a:solidFill>
                  <a:srgbClr val="E6E6E6"/>
                </a:solidFill>
              </a:rPr>
              <a:t>:</a:t>
            </a:r>
          </a:p>
          <a:p>
            <a:pPr marL="0" indent="0" algn="just">
              <a:buNone/>
            </a:pPr>
            <a:r>
              <a:rPr lang="en-US" sz="1600" dirty="0">
                <a:solidFill>
                  <a:srgbClr val="E6E6E6"/>
                </a:solidFill>
              </a:rPr>
              <a:t>file compression rates of 60–70 percent, </a:t>
            </a:r>
            <a:r>
              <a:rPr lang="en-US" sz="1600" dirty="0" err="1">
                <a:solidFill>
                  <a:srgbClr val="E6E6E6"/>
                </a:solidFill>
              </a:rPr>
              <a:t>gzip</a:t>
            </a:r>
            <a:r>
              <a:rPr lang="en-US" sz="1600" dirty="0">
                <a:solidFill>
                  <a:srgbClr val="E6E6E6"/>
                </a:solidFill>
              </a:rPr>
              <a:t> has long been a popular data compression utility. To compress a file, type </a:t>
            </a:r>
            <a:r>
              <a:rPr lang="en-US" sz="1600" dirty="0" err="1">
                <a:solidFill>
                  <a:srgbClr val="E6E6E6"/>
                </a:solidFill>
              </a:rPr>
              <a:t>gzip</a:t>
            </a:r>
            <a:r>
              <a:rPr lang="en-US" sz="1600" dirty="0">
                <a:solidFill>
                  <a:srgbClr val="E6E6E6"/>
                </a:solidFill>
              </a:rPr>
              <a:t> followed by the file’s name. The original file is replaced by a compressed version with a .</a:t>
            </a:r>
            <a:r>
              <a:rPr lang="en-US" sz="1600" dirty="0" err="1">
                <a:solidFill>
                  <a:srgbClr val="E6E6E6"/>
                </a:solidFill>
              </a:rPr>
              <a:t>gz</a:t>
            </a:r>
            <a:r>
              <a:rPr lang="en-US" sz="1600" dirty="0">
                <a:solidFill>
                  <a:srgbClr val="E6E6E6"/>
                </a:solidFill>
              </a:rPr>
              <a:t> file extension. To reverse the operation, type </a:t>
            </a:r>
            <a:r>
              <a:rPr lang="en-US" sz="1600" dirty="0" err="1">
                <a:solidFill>
                  <a:srgbClr val="E6E6E6"/>
                </a:solidFill>
              </a:rPr>
              <a:t>gunzip</a:t>
            </a:r>
            <a:r>
              <a:rPr lang="en-US" sz="1600" dirty="0">
                <a:solidFill>
                  <a:srgbClr val="E6E6E6"/>
                </a:solidFill>
              </a:rPr>
              <a:t> followed by the compressed file’s name</a:t>
            </a:r>
          </a:p>
          <a:p>
            <a:pPr marL="0" indent="0" algn="just">
              <a:buNone/>
            </a:pPr>
            <a:endParaRPr lang="en-US" sz="1500" dirty="0"/>
          </a:p>
          <a:p>
            <a:pPr algn="just"/>
            <a:r>
              <a:rPr lang="en-US" sz="1600" dirty="0">
                <a:solidFill>
                  <a:srgbClr val="E6E6E6"/>
                </a:solidFill>
              </a:rPr>
              <a:t>Bzip2:</a:t>
            </a:r>
          </a:p>
          <a:p>
            <a:pPr algn="just"/>
            <a:r>
              <a:rPr lang="en-US" sz="1600" dirty="0">
                <a:solidFill>
                  <a:srgbClr val="E6E6E6"/>
                </a:solidFill>
              </a:rPr>
              <a:t> bzip2 utility offers higher compression rates than </a:t>
            </a:r>
            <a:r>
              <a:rPr lang="en-US" sz="1600" dirty="0" err="1">
                <a:solidFill>
                  <a:srgbClr val="E6E6E6"/>
                </a:solidFill>
              </a:rPr>
              <a:t>gzip</a:t>
            </a:r>
            <a:r>
              <a:rPr lang="en-US" sz="1600" dirty="0">
                <a:solidFill>
                  <a:srgbClr val="E6E6E6"/>
                </a:solidFill>
              </a:rPr>
              <a:t> but takes slightly longer to perform the data compression. The bzip2 utility employs multiple layers of compression techniques and algorithms. Until 2013, this data compression utility was used to compress the Linux kernel for distribution. To compress a file, type bzip2 followed by the file’s name. The original file is replaced by a compressed version with a .bz2 file extension. To reverse the operation, type bunzip2 followed by the compressed file’s name, which decompresses (</a:t>
            </a:r>
            <a:r>
              <a:rPr lang="en-US" sz="1600" dirty="0" err="1">
                <a:solidFill>
                  <a:srgbClr val="E6E6E6"/>
                </a:solidFill>
              </a:rPr>
              <a:t>defl</a:t>
            </a:r>
            <a:r>
              <a:rPr lang="en-US" sz="1600" dirty="0">
                <a:solidFill>
                  <a:srgbClr val="E6E6E6"/>
                </a:solidFill>
              </a:rPr>
              <a:t> </a:t>
            </a:r>
            <a:r>
              <a:rPr lang="en-US" sz="1600" dirty="0" err="1">
                <a:solidFill>
                  <a:srgbClr val="E6E6E6"/>
                </a:solidFill>
              </a:rPr>
              <a:t>ates</a:t>
            </a:r>
            <a:r>
              <a:rPr lang="en-US" sz="1600" dirty="0">
                <a:solidFill>
                  <a:srgbClr val="E6E6E6"/>
                </a:solidFill>
              </a:rPr>
              <a:t>) the data</a:t>
            </a:r>
          </a:p>
          <a:p>
            <a:pPr marL="0" indent="0" algn="just">
              <a:buNone/>
            </a:pPr>
            <a:endParaRPr lang="en-US" sz="1500" dirty="0"/>
          </a:p>
          <a:p>
            <a:pPr algn="just"/>
            <a:r>
              <a:rPr lang="en-US" sz="1600" dirty="0" err="1">
                <a:solidFill>
                  <a:srgbClr val="E6E6E6"/>
                </a:solidFill>
              </a:rPr>
              <a:t>xz:It</a:t>
            </a:r>
            <a:r>
              <a:rPr lang="en-US" sz="1600" dirty="0">
                <a:solidFill>
                  <a:srgbClr val="E6E6E6"/>
                </a:solidFill>
              </a:rPr>
              <a:t> boasts a higher default compression rate than bzip2</a:t>
            </a:r>
          </a:p>
          <a:p>
            <a:pPr algn="just"/>
            <a:r>
              <a:rPr lang="en-US" sz="1600" dirty="0">
                <a:solidFill>
                  <a:srgbClr val="E6E6E6"/>
                </a:solidFill>
              </a:rPr>
              <a:t>Zip The zip utility is different from the other data compression utilities in that it operates on multiple files. If you have ever created a zip file on a Windows operating system, then you’ve used this file format. Multiple files are packed together in a single file, often called a folder or an archive file, and then compressed. Another difference from the other Linux compression utilities is that zip does not replace the original file(s). Instead, it places a copy of the file(s) into an archive file</a:t>
            </a:r>
          </a:p>
        </p:txBody>
      </p:sp>
    </p:spTree>
    <p:extLst>
      <p:ext uri="{BB962C8B-B14F-4D97-AF65-F5344CB8AC3E}">
        <p14:creationId xmlns:p14="http://schemas.microsoft.com/office/powerpoint/2010/main" val="16093201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738AC-6B62-8F62-F994-13FD30DBE621}"/>
              </a:ext>
            </a:extLst>
          </p:cNvPr>
          <p:cNvSpPr>
            <a:spLocks noGrp="1"/>
          </p:cNvSpPr>
          <p:nvPr>
            <p:ph type="title"/>
          </p:nvPr>
        </p:nvSpPr>
        <p:spPr>
          <a:xfrm>
            <a:off x="1484310" y="158619"/>
            <a:ext cx="8107558" cy="1150775"/>
          </a:xfrm>
        </p:spPr>
        <p:txBody>
          <a:bodyPr>
            <a:normAutofit/>
          </a:bodyPr>
          <a:lstStyle/>
          <a:p>
            <a:r>
              <a:rPr lang="en-US" sz="2800" b="1" dirty="0">
                <a:solidFill>
                  <a:srgbClr val="FFFFFF"/>
                </a:solidFill>
              </a:rPr>
              <a:t>          compare compressing file</a:t>
            </a:r>
          </a:p>
        </p:txBody>
      </p:sp>
      <p:sp>
        <p:nvSpPr>
          <p:cNvPr id="3" name="Content Placeholder 2">
            <a:extLst>
              <a:ext uri="{FF2B5EF4-FFF2-40B4-BE49-F238E27FC236}">
                <a16:creationId xmlns:a16="http://schemas.microsoft.com/office/drawing/2014/main" id="{291E25FC-C007-3FE8-DD97-218D07201BD2}"/>
              </a:ext>
            </a:extLst>
          </p:cNvPr>
          <p:cNvSpPr>
            <a:spLocks noGrp="1"/>
          </p:cNvSpPr>
          <p:nvPr>
            <p:ph idx="1"/>
          </p:nvPr>
        </p:nvSpPr>
        <p:spPr/>
        <p:txBody>
          <a:bodyPr>
            <a:normAutofit fontScale="92500" lnSpcReduction="20000"/>
          </a:bodyPr>
          <a:lstStyle/>
          <a:p>
            <a:r>
              <a:rPr lang="en-US" sz="1600" dirty="0">
                <a:solidFill>
                  <a:srgbClr val="E6E6E6"/>
                </a:solidFill>
              </a:rPr>
              <a:t>cp /var/log/yum.log   test</a:t>
            </a:r>
          </a:p>
          <a:p>
            <a:endParaRPr lang="en-US" sz="2000" dirty="0"/>
          </a:p>
          <a:p>
            <a:r>
              <a:rPr lang="en-US" sz="1600" dirty="0">
                <a:solidFill>
                  <a:srgbClr val="E6E6E6"/>
                </a:solidFill>
              </a:rPr>
              <a:t>Cp test test1 test2 test3 test4</a:t>
            </a:r>
          </a:p>
          <a:p>
            <a:endParaRPr lang="en-US" sz="2000" dirty="0"/>
          </a:p>
          <a:p>
            <a:r>
              <a:rPr lang="en-US" sz="1600" dirty="0">
                <a:solidFill>
                  <a:srgbClr val="E6E6E6"/>
                </a:solidFill>
              </a:rPr>
              <a:t>Extract </a:t>
            </a:r>
            <a:r>
              <a:rPr lang="en-US" sz="1600" dirty="0" err="1">
                <a:solidFill>
                  <a:srgbClr val="E6E6E6"/>
                </a:solidFill>
              </a:rPr>
              <a:t>gz</a:t>
            </a:r>
            <a:r>
              <a:rPr lang="en-US" sz="1600" dirty="0">
                <a:solidFill>
                  <a:srgbClr val="E6E6E6"/>
                </a:solidFill>
              </a:rPr>
              <a:t>    </a:t>
            </a:r>
            <a:r>
              <a:rPr lang="en-US" sz="1600" dirty="0" err="1">
                <a:solidFill>
                  <a:srgbClr val="E6E6E6"/>
                </a:solidFill>
              </a:rPr>
              <a:t>gunzip</a:t>
            </a:r>
            <a:endParaRPr lang="en-US" sz="2000" dirty="0"/>
          </a:p>
          <a:p>
            <a:r>
              <a:rPr lang="en-US" sz="1600" dirty="0">
                <a:solidFill>
                  <a:srgbClr val="E6E6E6"/>
                </a:solidFill>
              </a:rPr>
              <a:t>Extract bz2   </a:t>
            </a:r>
            <a:r>
              <a:rPr lang="en-US" sz="1600" dirty="0" err="1">
                <a:solidFill>
                  <a:srgbClr val="E6E6E6"/>
                </a:solidFill>
              </a:rPr>
              <a:t>bunzip</a:t>
            </a:r>
            <a:endParaRPr lang="en-US" sz="2000" dirty="0"/>
          </a:p>
          <a:p>
            <a:r>
              <a:rPr lang="en-US" sz="1600" dirty="0" err="1">
                <a:solidFill>
                  <a:srgbClr val="E6E6E6"/>
                </a:solidFill>
              </a:rPr>
              <a:t>Extact</a:t>
            </a:r>
            <a:r>
              <a:rPr lang="en-US" sz="1600" dirty="0">
                <a:solidFill>
                  <a:srgbClr val="E6E6E6"/>
                </a:solidFill>
              </a:rPr>
              <a:t> zip  unzip   yum install unzip</a:t>
            </a:r>
          </a:p>
          <a:p>
            <a:r>
              <a:rPr lang="en-US" sz="1600" dirty="0" err="1">
                <a:solidFill>
                  <a:srgbClr val="E6E6E6"/>
                </a:solidFill>
              </a:rPr>
              <a:t>xz</a:t>
            </a:r>
            <a:r>
              <a:rPr lang="en-US" sz="1600" dirty="0">
                <a:solidFill>
                  <a:srgbClr val="E6E6E6"/>
                </a:solidFill>
              </a:rPr>
              <a:t> –d </a:t>
            </a:r>
            <a:r>
              <a:rPr lang="en-US" sz="1600" dirty="0" err="1">
                <a:solidFill>
                  <a:srgbClr val="E6E6E6"/>
                </a:solidFill>
              </a:rPr>
              <a:t>example.xz</a:t>
            </a:r>
            <a:endParaRPr lang="en-US" sz="2000" dirty="0"/>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33419410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298A2-A3EF-4A0C-8450-72785C03AEF8}"/>
              </a:ext>
            </a:extLst>
          </p:cNvPr>
          <p:cNvSpPr>
            <a:spLocks noGrp="1"/>
          </p:cNvSpPr>
          <p:nvPr>
            <p:ph type="title"/>
          </p:nvPr>
        </p:nvSpPr>
        <p:spPr>
          <a:xfrm>
            <a:off x="2230761" y="93307"/>
            <a:ext cx="8004922" cy="1038807"/>
          </a:xfrm>
        </p:spPr>
        <p:txBody>
          <a:bodyPr/>
          <a:lstStyle/>
          <a:p>
            <a:pPr algn="ctr"/>
            <a:r>
              <a:rPr lang="en-US" sz="2800" b="1" dirty="0">
                <a:solidFill>
                  <a:srgbClr val="FFFFFF"/>
                </a:solidFill>
              </a:rPr>
              <a:t>tar</a:t>
            </a:r>
          </a:p>
        </p:txBody>
      </p:sp>
      <p:sp>
        <p:nvSpPr>
          <p:cNvPr id="3" name="Content Placeholder 2">
            <a:extLst>
              <a:ext uri="{FF2B5EF4-FFF2-40B4-BE49-F238E27FC236}">
                <a16:creationId xmlns:a16="http://schemas.microsoft.com/office/drawing/2014/main" id="{25E3B7FC-5901-4BF7-857B-96916B5DAD32}"/>
              </a:ext>
            </a:extLst>
          </p:cNvPr>
          <p:cNvSpPr>
            <a:spLocks noGrp="1"/>
          </p:cNvSpPr>
          <p:nvPr>
            <p:ph idx="1"/>
          </p:nvPr>
        </p:nvSpPr>
        <p:spPr>
          <a:xfrm>
            <a:off x="1969504" y="3329474"/>
            <a:ext cx="9815060" cy="2842726"/>
          </a:xfrm>
        </p:spPr>
        <p:txBody>
          <a:bodyPr>
            <a:noAutofit/>
          </a:bodyPr>
          <a:lstStyle/>
          <a:p>
            <a:r>
              <a:rPr lang="en-US" sz="1600" dirty="0">
                <a:solidFill>
                  <a:srgbClr val="E6E6E6"/>
                </a:solidFill>
              </a:rPr>
              <a:t>tar as same as archive</a:t>
            </a:r>
          </a:p>
          <a:p>
            <a:endParaRPr lang="en-US" dirty="0"/>
          </a:p>
          <a:p>
            <a:r>
              <a:rPr lang="en-US" sz="1600" dirty="0">
                <a:solidFill>
                  <a:srgbClr val="E6E6E6"/>
                </a:solidFill>
              </a:rPr>
              <a:t>tar  -</a:t>
            </a:r>
            <a:r>
              <a:rPr lang="en-US" sz="1600" dirty="0" err="1">
                <a:solidFill>
                  <a:srgbClr val="E6E6E6"/>
                </a:solidFill>
              </a:rPr>
              <a:t>cf</a:t>
            </a:r>
            <a:r>
              <a:rPr lang="en-US" sz="1600" dirty="0">
                <a:solidFill>
                  <a:srgbClr val="E6E6E6"/>
                </a:solidFill>
              </a:rPr>
              <a:t>  iman.tar    /</a:t>
            </a:r>
            <a:r>
              <a:rPr lang="en-US" sz="1600" dirty="0" err="1">
                <a:solidFill>
                  <a:srgbClr val="E6E6E6"/>
                </a:solidFill>
              </a:rPr>
              <a:t>etc</a:t>
            </a:r>
            <a:r>
              <a:rPr lang="en-US" sz="1600" dirty="0">
                <a:solidFill>
                  <a:srgbClr val="E6E6E6"/>
                </a:solidFill>
              </a:rPr>
              <a:t>/postfix/        create</a:t>
            </a:r>
          </a:p>
          <a:p>
            <a:endParaRPr lang="en-US" dirty="0"/>
          </a:p>
          <a:p>
            <a:r>
              <a:rPr lang="en-US" sz="1600" dirty="0">
                <a:solidFill>
                  <a:srgbClr val="E6E6E6"/>
                </a:solidFill>
              </a:rPr>
              <a:t>tar  -</a:t>
            </a:r>
            <a:r>
              <a:rPr lang="en-US" sz="1600" dirty="0" err="1">
                <a:solidFill>
                  <a:srgbClr val="E6E6E6"/>
                </a:solidFill>
              </a:rPr>
              <a:t>tf</a:t>
            </a:r>
            <a:r>
              <a:rPr lang="en-US" sz="1600" dirty="0">
                <a:solidFill>
                  <a:srgbClr val="E6E6E6"/>
                </a:solidFill>
              </a:rPr>
              <a:t>  iman.tar       list</a:t>
            </a:r>
          </a:p>
          <a:p>
            <a:endParaRPr lang="en-US" dirty="0"/>
          </a:p>
          <a:p>
            <a:r>
              <a:rPr lang="en-US" sz="1600" dirty="0">
                <a:solidFill>
                  <a:srgbClr val="E6E6E6"/>
                </a:solidFill>
              </a:rPr>
              <a:t>tar –</a:t>
            </a:r>
            <a:r>
              <a:rPr lang="en-US" sz="1600" dirty="0" err="1">
                <a:solidFill>
                  <a:srgbClr val="E6E6E6"/>
                </a:solidFill>
              </a:rPr>
              <a:t>xf</a:t>
            </a:r>
            <a:r>
              <a:rPr lang="en-US" sz="1600" dirty="0">
                <a:solidFill>
                  <a:srgbClr val="E6E6E6"/>
                </a:solidFill>
              </a:rPr>
              <a:t> iman.tar  –C /home for creating in other directory  and extract</a:t>
            </a:r>
          </a:p>
          <a:p>
            <a:r>
              <a:rPr lang="en-US" sz="1600" dirty="0">
                <a:solidFill>
                  <a:srgbClr val="E6E6E6"/>
                </a:solidFill>
              </a:rPr>
              <a:t>tar –</a:t>
            </a:r>
            <a:r>
              <a:rPr lang="en-US" sz="1600" dirty="0" err="1">
                <a:solidFill>
                  <a:srgbClr val="E6E6E6"/>
                </a:solidFill>
              </a:rPr>
              <a:t>czvf</a:t>
            </a:r>
            <a:r>
              <a:rPr lang="en-US" sz="1600" dirty="0">
                <a:solidFill>
                  <a:srgbClr val="E6E6E6"/>
                </a:solidFill>
              </a:rPr>
              <a:t> file.tar.gz  create tar.gz file for archive and compress together</a:t>
            </a:r>
          </a:p>
          <a:p>
            <a:r>
              <a:rPr lang="en-US" sz="1600" dirty="0">
                <a:solidFill>
                  <a:srgbClr val="E6E6E6"/>
                </a:solidFill>
              </a:rPr>
              <a:t>tar –</a:t>
            </a:r>
            <a:r>
              <a:rPr lang="en-US" sz="1600" dirty="0" err="1">
                <a:solidFill>
                  <a:srgbClr val="E6E6E6"/>
                </a:solidFill>
              </a:rPr>
              <a:t>xzvf</a:t>
            </a:r>
            <a:r>
              <a:rPr lang="en-US" sz="1600" dirty="0">
                <a:solidFill>
                  <a:srgbClr val="E6E6E6"/>
                </a:solidFill>
              </a:rPr>
              <a:t>  file.tar.gz for extract file</a:t>
            </a:r>
          </a:p>
          <a:p>
            <a:pPr marL="0" indent="0">
              <a:buNone/>
            </a:pPr>
            <a:endParaRPr lang="en-US" dirty="0"/>
          </a:p>
          <a:p>
            <a:endParaRPr lang="en-US" dirty="0"/>
          </a:p>
          <a:p>
            <a:pPr marL="0" indent="0">
              <a:buNone/>
            </a:pPr>
            <a:r>
              <a:rPr lang="en-US" sz="1600" dirty="0">
                <a:solidFill>
                  <a:srgbClr val="E6E6E6"/>
                </a:solidFill>
              </a:rPr>
              <a:t>  </a:t>
            </a:r>
          </a:p>
        </p:txBody>
      </p:sp>
    </p:spTree>
    <p:extLst>
      <p:ext uri="{BB962C8B-B14F-4D97-AF65-F5344CB8AC3E}">
        <p14:creationId xmlns:p14="http://schemas.microsoft.com/office/powerpoint/2010/main" val="20716060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54C4C-5C68-63CA-0B0B-0E431F85EB4D}"/>
              </a:ext>
            </a:extLst>
          </p:cNvPr>
          <p:cNvSpPr>
            <a:spLocks noGrp="1"/>
          </p:cNvSpPr>
          <p:nvPr>
            <p:ph type="title"/>
          </p:nvPr>
        </p:nvSpPr>
        <p:spPr>
          <a:xfrm>
            <a:off x="3126499" y="298579"/>
            <a:ext cx="3600873" cy="908179"/>
          </a:xfrm>
        </p:spPr>
        <p:txBody>
          <a:bodyPr/>
          <a:lstStyle/>
          <a:p>
            <a:r>
              <a:rPr lang="en-US" sz="2800" b="1" dirty="0">
                <a:solidFill>
                  <a:srgbClr val="FFFFFF"/>
                </a:solidFill>
              </a:rPr>
              <a:t>                        dd</a:t>
            </a:r>
          </a:p>
        </p:txBody>
      </p:sp>
      <p:sp>
        <p:nvSpPr>
          <p:cNvPr id="3" name="Content Placeholder 2">
            <a:extLst>
              <a:ext uri="{FF2B5EF4-FFF2-40B4-BE49-F238E27FC236}">
                <a16:creationId xmlns:a16="http://schemas.microsoft.com/office/drawing/2014/main" id="{9B2B0DDE-5F41-63B4-EBD7-2725DD6E4935}"/>
              </a:ext>
            </a:extLst>
          </p:cNvPr>
          <p:cNvSpPr>
            <a:spLocks noGrp="1"/>
          </p:cNvSpPr>
          <p:nvPr>
            <p:ph idx="1"/>
          </p:nvPr>
        </p:nvSpPr>
        <p:spPr/>
        <p:txBody>
          <a:bodyPr>
            <a:normAutofit/>
          </a:bodyPr>
          <a:lstStyle/>
          <a:p>
            <a:r>
              <a:rPr lang="en-US" sz="1600" dirty="0">
                <a:solidFill>
                  <a:srgbClr val="E6E6E6"/>
                </a:solidFill>
              </a:rPr>
              <a:t>It is often used in digital forensics for creating system images, copying damaged disks, and wiping partitions</a:t>
            </a:r>
          </a:p>
          <a:p>
            <a:endParaRPr lang="en-US" sz="2000" dirty="0"/>
          </a:p>
          <a:p>
            <a:r>
              <a:rPr lang="en-US" sz="1600" dirty="0">
                <a:solidFill>
                  <a:srgbClr val="E6E6E6"/>
                </a:solidFill>
              </a:rPr>
              <a:t>Wiping delete data although </a:t>
            </a:r>
            <a:r>
              <a:rPr lang="en-US" sz="1600" dirty="0" err="1">
                <a:solidFill>
                  <a:srgbClr val="E6E6E6"/>
                </a:solidFill>
              </a:rPr>
              <a:t>diffrenet</a:t>
            </a:r>
            <a:r>
              <a:rPr lang="en-US" sz="1600" dirty="0">
                <a:solidFill>
                  <a:srgbClr val="E6E6E6"/>
                </a:solidFill>
              </a:rPr>
              <a:t> formatting</a:t>
            </a:r>
          </a:p>
          <a:p>
            <a:endParaRPr lang="en-US" sz="2000" dirty="0"/>
          </a:p>
          <a:p>
            <a:r>
              <a:rPr lang="en-US" sz="1600" dirty="0">
                <a:solidFill>
                  <a:srgbClr val="E6E6E6"/>
                </a:solidFill>
              </a:rPr>
              <a:t>dd if=/dev/sdb1   of=/dev/null for wiping full</a:t>
            </a:r>
          </a:p>
          <a:p>
            <a:pPr marL="0" indent="0">
              <a:buNone/>
            </a:pPr>
            <a:endParaRPr lang="en-US" sz="2000" dirty="0"/>
          </a:p>
        </p:txBody>
      </p:sp>
    </p:spTree>
    <p:extLst>
      <p:ext uri="{BB962C8B-B14F-4D97-AF65-F5344CB8AC3E}">
        <p14:creationId xmlns:p14="http://schemas.microsoft.com/office/powerpoint/2010/main" val="743275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F622A-403F-4DC7-B537-FD7395F67F83}"/>
              </a:ext>
            </a:extLst>
          </p:cNvPr>
          <p:cNvSpPr>
            <a:spLocks noGrp="1"/>
          </p:cNvSpPr>
          <p:nvPr>
            <p:ph type="title"/>
          </p:nvPr>
        </p:nvSpPr>
        <p:spPr>
          <a:xfrm>
            <a:off x="1484310" y="149291"/>
            <a:ext cx="6875918" cy="917509"/>
          </a:xfrm>
        </p:spPr>
        <p:txBody>
          <a:bodyPr/>
          <a:lstStyle/>
          <a:p>
            <a:r>
              <a:rPr lang="en-US" sz="2800" b="1" dirty="0">
                <a:solidFill>
                  <a:srgbClr val="FFFFFF"/>
                </a:solidFill>
              </a:rPr>
              <a:t>                 permissions</a:t>
            </a:r>
            <a:endParaRPr lang="fa-IR" dirty="0"/>
          </a:p>
        </p:txBody>
      </p:sp>
      <p:sp>
        <p:nvSpPr>
          <p:cNvPr id="3" name="Content Placeholder 2">
            <a:extLst>
              <a:ext uri="{FF2B5EF4-FFF2-40B4-BE49-F238E27FC236}">
                <a16:creationId xmlns:a16="http://schemas.microsoft.com/office/drawing/2014/main" id="{383A436D-09F5-4FBC-B5BC-426AB2097D28}"/>
              </a:ext>
            </a:extLst>
          </p:cNvPr>
          <p:cNvSpPr>
            <a:spLocks noGrp="1"/>
          </p:cNvSpPr>
          <p:nvPr>
            <p:ph idx="1"/>
          </p:nvPr>
        </p:nvSpPr>
        <p:spPr>
          <a:xfrm>
            <a:off x="1484311" y="1296955"/>
            <a:ext cx="9917698" cy="4494245"/>
          </a:xfrm>
        </p:spPr>
        <p:txBody>
          <a:bodyPr>
            <a:normAutofit/>
          </a:bodyPr>
          <a:lstStyle/>
          <a:p>
            <a:r>
              <a:rPr lang="en-US" sz="1600" dirty="0">
                <a:solidFill>
                  <a:srgbClr val="E6E6E6"/>
                </a:solidFill>
              </a:rPr>
              <a:t>Create user </a:t>
            </a:r>
            <a:r>
              <a:rPr lang="en-US" sz="1600" dirty="0" err="1">
                <a:solidFill>
                  <a:srgbClr val="E6E6E6"/>
                </a:solidFill>
              </a:rPr>
              <a:t>adduser</a:t>
            </a:r>
            <a:r>
              <a:rPr lang="en-US" sz="1600" dirty="0">
                <a:solidFill>
                  <a:srgbClr val="E6E6E6"/>
                </a:solidFill>
              </a:rPr>
              <a:t> or </a:t>
            </a:r>
            <a:r>
              <a:rPr lang="en-US" sz="1600" dirty="0" err="1">
                <a:solidFill>
                  <a:srgbClr val="E6E6E6"/>
                </a:solidFill>
              </a:rPr>
              <a:t>useradd</a:t>
            </a:r>
            <a:endParaRPr lang="en-US" sz="2000" dirty="0"/>
          </a:p>
          <a:p>
            <a:r>
              <a:rPr lang="en-US" sz="1600" dirty="0" err="1">
                <a:solidFill>
                  <a:srgbClr val="E6E6E6"/>
                </a:solidFill>
              </a:rPr>
              <a:t>su</a:t>
            </a:r>
            <a:r>
              <a:rPr lang="en-US" sz="1600" dirty="0">
                <a:solidFill>
                  <a:srgbClr val="E6E6E6"/>
                </a:solidFill>
              </a:rPr>
              <a:t> username (switch)     </a:t>
            </a:r>
            <a:r>
              <a:rPr lang="en-US" sz="1600" dirty="0" err="1">
                <a:solidFill>
                  <a:srgbClr val="E6E6E6"/>
                </a:solidFill>
              </a:rPr>
              <a:t>su</a:t>
            </a:r>
            <a:r>
              <a:rPr lang="en-US" sz="1600" dirty="0">
                <a:solidFill>
                  <a:srgbClr val="E6E6E6"/>
                </a:solidFill>
              </a:rPr>
              <a:t> – switch root if have root password</a:t>
            </a:r>
          </a:p>
          <a:p>
            <a:r>
              <a:rPr lang="en-US" sz="1600" dirty="0" err="1">
                <a:solidFill>
                  <a:srgbClr val="E6E6E6"/>
                </a:solidFill>
              </a:rPr>
              <a:t>userdel</a:t>
            </a:r>
            <a:r>
              <a:rPr lang="en-US" sz="1600" dirty="0">
                <a:solidFill>
                  <a:srgbClr val="E6E6E6"/>
                </a:solidFill>
              </a:rPr>
              <a:t> if you are root or have permission as same as root</a:t>
            </a:r>
          </a:p>
          <a:p>
            <a:r>
              <a:rPr lang="en-US" sz="1600" dirty="0" err="1">
                <a:solidFill>
                  <a:srgbClr val="E6E6E6"/>
                </a:solidFill>
              </a:rPr>
              <a:t>visudo</a:t>
            </a:r>
            <a:r>
              <a:rPr lang="en-US" sz="1600" dirty="0">
                <a:solidFill>
                  <a:srgbClr val="E6E6E6"/>
                </a:solidFill>
              </a:rPr>
              <a:t> give root permission to other users</a:t>
            </a:r>
          </a:p>
          <a:p>
            <a:r>
              <a:rPr lang="en-US" sz="1600" dirty="0" err="1">
                <a:solidFill>
                  <a:srgbClr val="E6E6E6"/>
                </a:solidFill>
              </a:rPr>
              <a:t>sudo</a:t>
            </a:r>
            <a:r>
              <a:rPr lang="en-US" sz="1600" dirty="0">
                <a:solidFill>
                  <a:srgbClr val="E6E6E6"/>
                </a:solidFill>
              </a:rPr>
              <a:t>  when your user permit to any location </a:t>
            </a:r>
          </a:p>
          <a:p>
            <a:r>
              <a:rPr lang="en-US" sz="1600" dirty="0">
                <a:solidFill>
                  <a:srgbClr val="E6E6E6"/>
                </a:solidFill>
              </a:rPr>
              <a:t>passwd set password</a:t>
            </a:r>
          </a:p>
          <a:p>
            <a:r>
              <a:rPr lang="en-US" sz="1600" dirty="0" err="1">
                <a:solidFill>
                  <a:srgbClr val="E6E6E6"/>
                </a:solidFill>
              </a:rPr>
              <a:t>Sudo</a:t>
            </a:r>
            <a:r>
              <a:rPr lang="en-US" sz="1600" dirty="0">
                <a:solidFill>
                  <a:srgbClr val="E6E6E6"/>
                </a:solidFill>
              </a:rPr>
              <a:t> -</a:t>
            </a:r>
            <a:r>
              <a:rPr lang="en-US" sz="1600" dirty="0" err="1">
                <a:solidFill>
                  <a:srgbClr val="E6E6E6"/>
                </a:solidFill>
              </a:rPr>
              <a:t>i</a:t>
            </a:r>
            <a:r>
              <a:rPr lang="en-US" sz="1600" dirty="0">
                <a:solidFill>
                  <a:srgbClr val="E6E6E6"/>
                </a:solidFill>
              </a:rPr>
              <a:t> when you set user in </a:t>
            </a:r>
            <a:r>
              <a:rPr lang="en-US" sz="1600" dirty="0" err="1">
                <a:solidFill>
                  <a:srgbClr val="E6E6E6"/>
                </a:solidFill>
              </a:rPr>
              <a:t>visudo</a:t>
            </a:r>
            <a:r>
              <a:rPr lang="en-US" sz="1600" dirty="0">
                <a:solidFill>
                  <a:srgbClr val="E6E6E6"/>
                </a:solidFill>
              </a:rPr>
              <a:t> you can permit to root user</a:t>
            </a:r>
            <a:endParaRPr lang="fa-IR" sz="2000" dirty="0"/>
          </a:p>
        </p:txBody>
      </p:sp>
    </p:spTree>
    <p:extLst>
      <p:ext uri="{BB962C8B-B14F-4D97-AF65-F5344CB8AC3E}">
        <p14:creationId xmlns:p14="http://schemas.microsoft.com/office/powerpoint/2010/main" val="37013806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1076F-E472-AC85-D2F1-DFAB73BCA5DE}"/>
              </a:ext>
            </a:extLst>
          </p:cNvPr>
          <p:cNvSpPr>
            <a:spLocks noGrp="1"/>
          </p:cNvSpPr>
          <p:nvPr>
            <p:ph type="title"/>
          </p:nvPr>
        </p:nvSpPr>
        <p:spPr>
          <a:xfrm>
            <a:off x="299323" y="88641"/>
            <a:ext cx="10018713" cy="1752599"/>
          </a:xfrm>
        </p:spPr>
        <p:txBody>
          <a:bodyPr>
            <a:normAutofit/>
          </a:bodyPr>
          <a:lstStyle/>
          <a:p>
            <a:r>
              <a:rPr lang="en-US" sz="2800" b="1" dirty="0">
                <a:solidFill>
                  <a:srgbClr val="FFFFFF"/>
                </a:solidFill>
              </a:rPr>
              <a:t>            Managing File Ownership</a:t>
            </a:r>
          </a:p>
        </p:txBody>
      </p:sp>
      <p:sp>
        <p:nvSpPr>
          <p:cNvPr id="3" name="Content Placeholder 2">
            <a:extLst>
              <a:ext uri="{FF2B5EF4-FFF2-40B4-BE49-F238E27FC236}">
                <a16:creationId xmlns:a16="http://schemas.microsoft.com/office/drawing/2014/main" id="{FE71F7F7-DB85-61FF-6B67-AA889450BD0C}"/>
              </a:ext>
            </a:extLst>
          </p:cNvPr>
          <p:cNvSpPr>
            <a:spLocks noGrp="1"/>
          </p:cNvSpPr>
          <p:nvPr>
            <p:ph idx="1"/>
          </p:nvPr>
        </p:nvSpPr>
        <p:spPr/>
        <p:txBody>
          <a:bodyPr>
            <a:normAutofit/>
          </a:bodyPr>
          <a:lstStyle/>
          <a:p>
            <a:r>
              <a:rPr lang="en-US" sz="1600" dirty="0">
                <a:solidFill>
                  <a:srgbClr val="E6E6E6"/>
                </a:solidFill>
              </a:rPr>
              <a:t>The core security feature of Linux is file and directory permissions. Linux accomplishes that by assigning each file and directory an owner, and allowing that owner to set the basic security settings to control access to the file or directory.</a:t>
            </a:r>
          </a:p>
          <a:p>
            <a:endParaRPr lang="en-US" sz="2000" dirty="0"/>
          </a:p>
          <a:p>
            <a:r>
              <a:rPr lang="en-US" sz="1600" dirty="0">
                <a:solidFill>
                  <a:srgbClr val="E6E6E6"/>
                </a:solidFill>
              </a:rPr>
              <a:t>Assessing File Ownership Linux uses a three-tiered approach to protecting files and directories:</a:t>
            </a:r>
          </a:p>
          <a:p>
            <a:pPr marL="0" indent="0">
              <a:buNone/>
            </a:pPr>
            <a:endParaRPr lang="en-US" sz="2000" dirty="0"/>
          </a:p>
        </p:txBody>
      </p:sp>
    </p:spTree>
    <p:extLst>
      <p:ext uri="{BB962C8B-B14F-4D97-AF65-F5344CB8AC3E}">
        <p14:creationId xmlns:p14="http://schemas.microsoft.com/office/powerpoint/2010/main" val="816344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E63D6-6293-048A-61B9-FF7C67EE304C}"/>
              </a:ext>
            </a:extLst>
          </p:cNvPr>
          <p:cNvSpPr>
            <a:spLocks noGrp="1"/>
          </p:cNvSpPr>
          <p:nvPr>
            <p:ph type="title"/>
          </p:nvPr>
        </p:nvSpPr>
        <p:spPr>
          <a:xfrm>
            <a:off x="1848205" y="381000"/>
            <a:ext cx="6987885" cy="1371599"/>
          </a:xfrm>
        </p:spPr>
        <p:txBody>
          <a:bodyPr/>
          <a:lstStyle/>
          <a:p>
            <a:r>
              <a:rPr lang="en-US" sz="2800" b="1" dirty="0">
                <a:solidFill>
                  <a:srgbClr val="FFFFFF"/>
                </a:solidFill>
              </a:rPr>
              <a:t>                    permissions</a:t>
            </a:r>
          </a:p>
        </p:txBody>
      </p:sp>
      <p:sp>
        <p:nvSpPr>
          <p:cNvPr id="3" name="Content Placeholder 2">
            <a:extLst>
              <a:ext uri="{FF2B5EF4-FFF2-40B4-BE49-F238E27FC236}">
                <a16:creationId xmlns:a16="http://schemas.microsoft.com/office/drawing/2014/main" id="{6EF0C4C9-BA4E-40E3-FBD1-5B3C165869FF}"/>
              </a:ext>
            </a:extLst>
          </p:cNvPr>
          <p:cNvSpPr>
            <a:spLocks noGrp="1"/>
          </p:cNvSpPr>
          <p:nvPr>
            <p:ph idx="1"/>
          </p:nvPr>
        </p:nvSpPr>
        <p:spPr/>
        <p:txBody>
          <a:bodyPr>
            <a:normAutofit/>
          </a:bodyPr>
          <a:lstStyle/>
          <a:p>
            <a:r>
              <a:rPr lang="en-US" sz="1600" dirty="0">
                <a:solidFill>
                  <a:srgbClr val="E6E6E6"/>
                </a:solidFill>
              </a:rPr>
              <a:t>Owner: Within the Linux system, each file and directory is assigned to a single owner. </a:t>
            </a:r>
          </a:p>
          <a:p>
            <a:r>
              <a:rPr lang="en-US" sz="1600" dirty="0">
                <a:solidFill>
                  <a:srgbClr val="E6E6E6"/>
                </a:solidFill>
              </a:rPr>
              <a:t> Group: The Linux system also assigns each file and directory to a single group of users. The administrator can assign that group specific privileges to the file or directory that differ from the owner privileges. Others: This category of permissions is assigned accounts that are neither the file owner nor in the assigned user group.</a:t>
            </a:r>
          </a:p>
          <a:p>
            <a:endParaRPr lang="en-US" sz="2000" dirty="0"/>
          </a:p>
          <a:p>
            <a:r>
              <a:rPr lang="en-US" sz="1600" dirty="0">
                <a:solidFill>
                  <a:srgbClr val="E6E6E6"/>
                </a:solidFill>
              </a:rPr>
              <a:t>For changing ownership use </a:t>
            </a:r>
            <a:r>
              <a:rPr lang="en-US" sz="1600" dirty="0" err="1">
                <a:solidFill>
                  <a:srgbClr val="E6E6E6"/>
                </a:solidFill>
              </a:rPr>
              <a:t>chown</a:t>
            </a:r>
            <a:r>
              <a:rPr lang="en-US" sz="1600" dirty="0">
                <a:solidFill>
                  <a:srgbClr val="E6E6E6"/>
                </a:solidFill>
              </a:rPr>
              <a:t>   for recursively  permission use -R</a:t>
            </a:r>
          </a:p>
        </p:txBody>
      </p:sp>
    </p:spTree>
    <p:extLst>
      <p:ext uri="{BB962C8B-B14F-4D97-AF65-F5344CB8AC3E}">
        <p14:creationId xmlns:p14="http://schemas.microsoft.com/office/powerpoint/2010/main" val="31247762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B514B-7163-D687-70A1-B8169BEF08A8}"/>
              </a:ext>
            </a:extLst>
          </p:cNvPr>
          <p:cNvSpPr>
            <a:spLocks noGrp="1"/>
          </p:cNvSpPr>
          <p:nvPr>
            <p:ph type="title"/>
          </p:nvPr>
        </p:nvSpPr>
        <p:spPr/>
        <p:txBody>
          <a:bodyPr/>
          <a:lstStyle/>
          <a:p>
            <a:r>
              <a:rPr lang="en-US" sz="2800" b="1" dirty="0">
                <a:solidFill>
                  <a:srgbClr val="FFFFFF"/>
                </a:solidFill>
              </a:rPr>
              <a:t>                   permissions</a:t>
            </a:r>
          </a:p>
        </p:txBody>
      </p:sp>
      <p:sp>
        <p:nvSpPr>
          <p:cNvPr id="3" name="Content Placeholder 2">
            <a:extLst>
              <a:ext uri="{FF2B5EF4-FFF2-40B4-BE49-F238E27FC236}">
                <a16:creationId xmlns:a16="http://schemas.microsoft.com/office/drawing/2014/main" id="{28C9A2AC-EB0D-CAE2-CC6A-B7193A221F4E}"/>
              </a:ext>
            </a:extLst>
          </p:cNvPr>
          <p:cNvSpPr>
            <a:spLocks noGrp="1"/>
          </p:cNvSpPr>
          <p:nvPr>
            <p:ph idx="1"/>
          </p:nvPr>
        </p:nvSpPr>
        <p:spPr/>
        <p:txBody>
          <a:bodyPr>
            <a:normAutofit lnSpcReduction="10000"/>
          </a:bodyPr>
          <a:lstStyle/>
          <a:p>
            <a:r>
              <a:rPr lang="en-US" sz="1600" dirty="0">
                <a:solidFill>
                  <a:srgbClr val="E6E6E6"/>
                </a:solidFill>
              </a:rPr>
              <a:t>Changing group use </a:t>
            </a:r>
            <a:r>
              <a:rPr lang="en-US" sz="1600" dirty="0" err="1">
                <a:solidFill>
                  <a:srgbClr val="E6E6E6"/>
                </a:solidFill>
              </a:rPr>
              <a:t>chgrp</a:t>
            </a:r>
            <a:r>
              <a:rPr lang="en-US" sz="1600" dirty="0">
                <a:solidFill>
                  <a:srgbClr val="E6E6E6"/>
                </a:solidFill>
              </a:rPr>
              <a:t> pay attention for change owner and group you must have root or super user permission   </a:t>
            </a:r>
            <a:r>
              <a:rPr lang="en-US" sz="1600" dirty="0" err="1">
                <a:solidFill>
                  <a:srgbClr val="E6E6E6"/>
                </a:solidFill>
              </a:rPr>
              <a:t>newgrp</a:t>
            </a:r>
            <a:r>
              <a:rPr lang="en-US" sz="1600" dirty="0">
                <a:solidFill>
                  <a:srgbClr val="E6E6E6"/>
                </a:solidFill>
              </a:rPr>
              <a:t> for changing </a:t>
            </a:r>
          </a:p>
          <a:p>
            <a:pPr marL="0" indent="0">
              <a:buNone/>
            </a:pPr>
            <a:r>
              <a:rPr lang="en-US" sz="1600" dirty="0">
                <a:solidFill>
                  <a:srgbClr val="E6E6E6"/>
                </a:solidFill>
              </a:rPr>
              <a:t>Default group</a:t>
            </a:r>
          </a:p>
          <a:p>
            <a:endParaRPr lang="en-US" sz="2000" dirty="0"/>
          </a:p>
          <a:p>
            <a:r>
              <a:rPr lang="en-US" sz="1600" dirty="0">
                <a:solidFill>
                  <a:srgbClr val="E6E6E6"/>
                </a:solidFill>
              </a:rPr>
              <a:t>If you have super user privileges, the </a:t>
            </a:r>
            <a:r>
              <a:rPr lang="en-US" sz="1600" dirty="0" err="1">
                <a:solidFill>
                  <a:srgbClr val="E6E6E6"/>
                </a:solidFill>
              </a:rPr>
              <a:t>chown</a:t>
            </a:r>
            <a:r>
              <a:rPr lang="en-US" sz="1600" dirty="0">
                <a:solidFill>
                  <a:srgbClr val="E6E6E6"/>
                </a:solidFill>
              </a:rPr>
              <a:t> command allows you to change both the owner and group assigned to a file or directory at the same time using the format.</a:t>
            </a:r>
          </a:p>
          <a:p>
            <a:pPr marL="0" indent="0">
              <a:buNone/>
            </a:pPr>
            <a:endParaRPr lang="en-US" sz="2000" dirty="0"/>
          </a:p>
          <a:p>
            <a:r>
              <a:rPr lang="en-US" sz="1600" dirty="0" err="1">
                <a:solidFill>
                  <a:srgbClr val="E6E6E6"/>
                </a:solidFill>
              </a:rPr>
              <a:t>chown</a:t>
            </a:r>
            <a:r>
              <a:rPr lang="en-US" sz="1600" dirty="0">
                <a:solidFill>
                  <a:srgbClr val="E6E6E6"/>
                </a:solidFill>
              </a:rPr>
              <a:t> NEWOWNER:NEWGROUP FILENAMES</a:t>
            </a:r>
          </a:p>
        </p:txBody>
      </p:sp>
    </p:spTree>
    <p:extLst>
      <p:ext uri="{BB962C8B-B14F-4D97-AF65-F5344CB8AC3E}">
        <p14:creationId xmlns:p14="http://schemas.microsoft.com/office/powerpoint/2010/main" val="15734973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304A2-F9C5-A69A-5898-228B9FA3A14A}"/>
              </a:ext>
            </a:extLst>
          </p:cNvPr>
          <p:cNvSpPr>
            <a:spLocks noGrp="1"/>
          </p:cNvSpPr>
          <p:nvPr>
            <p:ph type="title"/>
          </p:nvPr>
        </p:nvSpPr>
        <p:spPr/>
        <p:txBody>
          <a:bodyPr/>
          <a:lstStyle/>
          <a:p>
            <a:r>
              <a:rPr lang="en-US" sz="2800" b="1" dirty="0">
                <a:solidFill>
                  <a:srgbClr val="FFFFFF"/>
                </a:solidFill>
              </a:rPr>
              <a:t>                    permissions</a:t>
            </a:r>
          </a:p>
        </p:txBody>
      </p:sp>
      <p:sp>
        <p:nvSpPr>
          <p:cNvPr id="3" name="Content Placeholder 2">
            <a:extLst>
              <a:ext uri="{FF2B5EF4-FFF2-40B4-BE49-F238E27FC236}">
                <a16:creationId xmlns:a16="http://schemas.microsoft.com/office/drawing/2014/main" id="{1CC7FEF2-C272-11D6-EF5B-F2E24F87B2F2}"/>
              </a:ext>
            </a:extLst>
          </p:cNvPr>
          <p:cNvSpPr>
            <a:spLocks noGrp="1"/>
          </p:cNvSpPr>
          <p:nvPr>
            <p:ph idx="1"/>
          </p:nvPr>
        </p:nvSpPr>
        <p:spPr/>
        <p:txBody>
          <a:bodyPr>
            <a:normAutofit/>
          </a:bodyPr>
          <a:lstStyle/>
          <a:p>
            <a:r>
              <a:rPr lang="en-US" sz="1600" dirty="0">
                <a:solidFill>
                  <a:srgbClr val="E6E6E6"/>
                </a:solidFill>
              </a:rPr>
              <a:t>r= read    w =write   x=execute        </a:t>
            </a:r>
          </a:p>
          <a:p>
            <a:endParaRPr lang="en-US" sz="2000" dirty="0"/>
          </a:p>
          <a:p>
            <a:r>
              <a:rPr lang="en-US" sz="1600" dirty="0">
                <a:solidFill>
                  <a:srgbClr val="E6E6E6"/>
                </a:solidFill>
              </a:rPr>
              <a:t>r=</a:t>
            </a:r>
            <a:r>
              <a:rPr lang="fa-IR" sz="1600" dirty="0">
                <a:solidFill>
                  <a:srgbClr val="E6E6E6"/>
                </a:solidFill>
              </a:rPr>
              <a:t>4</a:t>
            </a:r>
            <a:r>
              <a:rPr lang="en-US" sz="1600" dirty="0">
                <a:solidFill>
                  <a:srgbClr val="E6E6E6"/>
                </a:solidFill>
              </a:rPr>
              <a:t>  + w=</a:t>
            </a:r>
            <a:r>
              <a:rPr lang="fa-IR" sz="1600" dirty="0">
                <a:solidFill>
                  <a:srgbClr val="E6E6E6"/>
                </a:solidFill>
              </a:rPr>
              <a:t>2 </a:t>
            </a:r>
            <a:r>
              <a:rPr lang="en-US" sz="1600" dirty="0">
                <a:solidFill>
                  <a:srgbClr val="E6E6E6"/>
                </a:solidFill>
              </a:rPr>
              <a:t>+ x=1----</a:t>
            </a:r>
            <a:r>
              <a:rPr lang="en-US" sz="1600" dirty="0">
                <a:solidFill>
                  <a:srgbClr val="E6E6E6"/>
                </a:solidFill>
                <a:sym typeface="Wingdings" panose="05000000000000000000" pitchFamily="2" charset="2"/>
              </a:rPr>
              <a:t>7</a:t>
            </a: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p>
        </p:txBody>
      </p:sp>
      <p:pic>
        <p:nvPicPr>
          <p:cNvPr id="5" name="Picture 4">
            <a:extLst>
              <a:ext uri="{FF2B5EF4-FFF2-40B4-BE49-F238E27FC236}">
                <a16:creationId xmlns:a16="http://schemas.microsoft.com/office/drawing/2014/main" id="{A774C72C-9D1F-7A86-4EFD-83C65EBD6F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2746" y="3585980"/>
            <a:ext cx="9628094" cy="3035456"/>
          </a:xfrm>
          <a:prstGeom prst="rect">
            <a:avLst/>
          </a:prstGeom>
        </p:spPr>
      </p:pic>
    </p:spTree>
    <p:extLst>
      <p:ext uri="{BB962C8B-B14F-4D97-AF65-F5344CB8AC3E}">
        <p14:creationId xmlns:p14="http://schemas.microsoft.com/office/powerpoint/2010/main" val="1970329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9A7DB-9629-9F6C-48CB-2DB47FBB1962}"/>
              </a:ext>
            </a:extLst>
          </p:cNvPr>
          <p:cNvSpPr>
            <a:spLocks noGrp="1"/>
          </p:cNvSpPr>
          <p:nvPr>
            <p:ph type="title"/>
          </p:nvPr>
        </p:nvSpPr>
        <p:spPr>
          <a:xfrm>
            <a:off x="1810883" y="250311"/>
            <a:ext cx="7342448" cy="1143059"/>
          </a:xfrm>
        </p:spPr>
        <p:txBody>
          <a:bodyPr>
            <a:normAutofit/>
          </a:bodyPr>
          <a:lstStyle/>
          <a:p>
            <a:r>
              <a:rPr lang="en-US" sz="2800" b="1" dirty="0">
                <a:solidFill>
                  <a:srgbClr val="FFFFFF"/>
                </a:solidFill>
              </a:rPr>
              <a:t>           permissions and type of file</a:t>
            </a:r>
          </a:p>
        </p:txBody>
      </p:sp>
      <p:pic>
        <p:nvPicPr>
          <p:cNvPr id="5" name="Content Placeholder 4">
            <a:extLst>
              <a:ext uri="{FF2B5EF4-FFF2-40B4-BE49-F238E27FC236}">
                <a16:creationId xmlns:a16="http://schemas.microsoft.com/office/drawing/2014/main" id="{2802B3A1-7E09-8AA6-EB0B-367AE5CA1B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9186" y="2285941"/>
            <a:ext cx="5412442" cy="1143059"/>
          </a:xfrm>
        </p:spPr>
      </p:pic>
      <p:sp>
        <p:nvSpPr>
          <p:cNvPr id="7" name="TextBox 6">
            <a:extLst>
              <a:ext uri="{FF2B5EF4-FFF2-40B4-BE49-F238E27FC236}">
                <a16:creationId xmlns:a16="http://schemas.microsoft.com/office/drawing/2014/main" id="{65DEBB6E-42EF-2BDC-A1B8-A273946D0D18}"/>
              </a:ext>
            </a:extLst>
          </p:cNvPr>
          <p:cNvSpPr txBox="1"/>
          <p:nvPr/>
        </p:nvSpPr>
        <p:spPr>
          <a:xfrm>
            <a:off x="1342140" y="3569284"/>
            <a:ext cx="11062909" cy="2862322"/>
          </a:xfrm>
          <a:prstGeom prst="rect">
            <a:avLst/>
          </a:prstGeom>
          <a:noFill/>
        </p:spPr>
        <p:txBody>
          <a:bodyPr wrap="square">
            <a:spAutoFit/>
          </a:bodyPr>
          <a:lstStyle/>
          <a:p>
            <a:pPr marL="285750" indent="-285750">
              <a:buFontTx/>
              <a:buChar char="-"/>
            </a:pPr>
            <a:r>
              <a:rPr lang="en-US" sz="1600" dirty="0">
                <a:solidFill>
                  <a:srgbClr val="E6E6E6"/>
                </a:solidFill>
              </a:rPr>
              <a:t> -  The file is a binary file, a readable file (such as a text file), an image file, or a compressed file. d The file is a directory.</a:t>
            </a:r>
          </a:p>
          <a:p>
            <a:pPr marL="285750" indent="-285750">
              <a:buFontTx/>
              <a:buChar char="-"/>
            </a:pPr>
            <a:r>
              <a:rPr lang="en-US" sz="1600" dirty="0">
                <a:solidFill>
                  <a:srgbClr val="E6E6E6"/>
                </a:solidFill>
              </a:rPr>
              <a:t> l The file is a symbolic (soft) link to another file or directory.</a:t>
            </a:r>
          </a:p>
          <a:p>
            <a:pPr marL="285750" indent="-285750">
              <a:buFontTx/>
              <a:buChar char="-"/>
            </a:pPr>
            <a:r>
              <a:rPr lang="en-US" sz="1600" dirty="0">
                <a:solidFill>
                  <a:srgbClr val="E6E6E6"/>
                </a:solidFill>
              </a:rPr>
              <a:t> p The file is a named pipe or regular pipe used for communication between two or more processes. </a:t>
            </a:r>
          </a:p>
          <a:p>
            <a:pPr marL="285750" indent="-285750">
              <a:buFontTx/>
              <a:buChar char="-"/>
            </a:pPr>
            <a:r>
              <a:rPr lang="en-US" sz="1600" dirty="0">
                <a:solidFill>
                  <a:srgbClr val="E6E6E6"/>
                </a:solidFill>
              </a:rPr>
              <a:t>s The file is a socket file, which operates similar to a pipe but allows more styles of communication, such as bidirectional or over a network. </a:t>
            </a:r>
          </a:p>
          <a:p>
            <a:pPr marL="285750" indent="-285750">
              <a:buFontTx/>
              <a:buChar char="-"/>
            </a:pPr>
            <a:r>
              <a:rPr lang="en-US" sz="1600" dirty="0">
                <a:solidFill>
                  <a:srgbClr val="E6E6E6"/>
                </a:solidFill>
              </a:rPr>
              <a:t>b The file is a block device, such as a disk drive. </a:t>
            </a:r>
          </a:p>
          <a:p>
            <a:pPr marL="285750" indent="-285750">
              <a:buFontTx/>
              <a:buChar char="-"/>
            </a:pPr>
            <a:r>
              <a:rPr lang="en-US" sz="1600" dirty="0">
                <a:solidFill>
                  <a:srgbClr val="E6E6E6"/>
                </a:solidFill>
              </a:rPr>
              <a:t>c The file is a character device, such as a point-of-sale device.</a:t>
            </a:r>
          </a:p>
        </p:txBody>
      </p:sp>
    </p:spTree>
    <p:extLst>
      <p:ext uri="{BB962C8B-B14F-4D97-AF65-F5344CB8AC3E}">
        <p14:creationId xmlns:p14="http://schemas.microsoft.com/office/powerpoint/2010/main" val="1533811992"/>
      </p:ext>
    </p:extLst>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69F5-D661-E037-1A3A-51EB8D7A500D}"/>
              </a:ext>
            </a:extLst>
          </p:cNvPr>
          <p:cNvSpPr>
            <a:spLocks noGrp="1"/>
          </p:cNvSpPr>
          <p:nvPr>
            <p:ph type="title"/>
          </p:nvPr>
        </p:nvSpPr>
        <p:spPr>
          <a:xfrm>
            <a:off x="208471" y="0"/>
            <a:ext cx="8596668" cy="1320800"/>
          </a:xfrm>
        </p:spPr>
        <p:txBody>
          <a:bodyPr/>
          <a:lstStyle/>
          <a:p>
            <a:r>
              <a:rPr lang="en-US" sz="2800" b="1" dirty="0">
                <a:solidFill>
                  <a:srgbClr val="FFFFFF"/>
                </a:solidFill>
              </a:rPr>
              <a:t>                      permissions </a:t>
            </a:r>
          </a:p>
        </p:txBody>
      </p:sp>
      <p:sp>
        <p:nvSpPr>
          <p:cNvPr id="3" name="Content Placeholder 2">
            <a:extLst>
              <a:ext uri="{FF2B5EF4-FFF2-40B4-BE49-F238E27FC236}">
                <a16:creationId xmlns:a16="http://schemas.microsoft.com/office/drawing/2014/main" id="{E92F5B2D-B36B-CB5F-54F4-E60D7586D051}"/>
              </a:ext>
            </a:extLst>
          </p:cNvPr>
          <p:cNvSpPr>
            <a:spLocks noGrp="1"/>
          </p:cNvSpPr>
          <p:nvPr>
            <p:ph idx="1"/>
          </p:nvPr>
        </p:nvSpPr>
        <p:spPr>
          <a:xfrm>
            <a:off x="2093253" y="1794685"/>
            <a:ext cx="11613415" cy="5349535"/>
          </a:xfrm>
        </p:spPr>
        <p:txBody>
          <a:bodyPr>
            <a:noAutofit/>
          </a:bodyPr>
          <a:lstStyle/>
          <a:p>
            <a:r>
              <a:rPr lang="en-US" sz="1600" dirty="0">
                <a:solidFill>
                  <a:srgbClr val="E6E6E6"/>
                </a:solidFill>
              </a:rPr>
              <a:t>u owner   g group   o others   a all tiers</a:t>
            </a:r>
          </a:p>
          <a:p>
            <a:endParaRPr lang="en-US" sz="1400" dirty="0"/>
          </a:p>
          <a:p>
            <a:r>
              <a:rPr lang="en-US" sz="1600" dirty="0">
                <a:solidFill>
                  <a:srgbClr val="E6E6E6"/>
                </a:solidFill>
              </a:rPr>
              <a:t>+   for add      - for remove     execute in directory means enter to </a:t>
            </a:r>
            <a:r>
              <a:rPr lang="en-US" sz="1600" dirty="0" err="1">
                <a:solidFill>
                  <a:srgbClr val="E6E6E6"/>
                </a:solidFill>
              </a:rPr>
              <a:t>dir</a:t>
            </a:r>
            <a:endParaRPr lang="en-US" sz="1400" dirty="0"/>
          </a:p>
          <a:p>
            <a:endParaRPr lang="en-US" sz="1400" dirty="0"/>
          </a:p>
          <a:p>
            <a:r>
              <a:rPr lang="en-US" sz="1600" dirty="0" err="1">
                <a:solidFill>
                  <a:srgbClr val="E6E6E6"/>
                </a:solidFill>
              </a:rPr>
              <a:t>chmod</a:t>
            </a:r>
            <a:r>
              <a:rPr lang="en-US" sz="1600" dirty="0">
                <a:solidFill>
                  <a:srgbClr val="E6E6E6"/>
                </a:solidFill>
              </a:rPr>
              <a:t> g-w    </a:t>
            </a:r>
            <a:r>
              <a:rPr lang="en-US" sz="1600" dirty="0" err="1">
                <a:solidFill>
                  <a:srgbClr val="E6E6E6"/>
                </a:solidFill>
              </a:rPr>
              <a:t>chmod</a:t>
            </a:r>
            <a:r>
              <a:rPr lang="en-US" sz="1600" dirty="0">
                <a:solidFill>
                  <a:srgbClr val="E6E6E6"/>
                </a:solidFill>
              </a:rPr>
              <a:t> for change file’s mode g-w means remove write permissions from group</a:t>
            </a:r>
          </a:p>
          <a:p>
            <a:r>
              <a:rPr lang="en-US" sz="1600" dirty="0" err="1">
                <a:solidFill>
                  <a:srgbClr val="E6E6E6"/>
                </a:solidFill>
              </a:rPr>
              <a:t>Chmod</a:t>
            </a:r>
            <a:r>
              <a:rPr lang="en-US" sz="1600" dirty="0">
                <a:solidFill>
                  <a:srgbClr val="E6E6E6"/>
                </a:solidFill>
              </a:rPr>
              <a:t> –</a:t>
            </a:r>
            <a:r>
              <a:rPr lang="en-US" sz="1600" dirty="0" err="1">
                <a:solidFill>
                  <a:srgbClr val="E6E6E6"/>
                </a:solidFill>
              </a:rPr>
              <a:t>aG</a:t>
            </a:r>
            <a:r>
              <a:rPr lang="en-US" sz="1600" dirty="0">
                <a:solidFill>
                  <a:srgbClr val="E6E6E6"/>
                </a:solidFill>
              </a:rPr>
              <a:t> </a:t>
            </a:r>
            <a:r>
              <a:rPr lang="en-US" sz="1600" dirty="0" err="1">
                <a:solidFill>
                  <a:srgbClr val="E6E6E6"/>
                </a:solidFill>
              </a:rPr>
              <a:t>sudo</a:t>
            </a:r>
            <a:r>
              <a:rPr lang="en-US" sz="1600" dirty="0">
                <a:solidFill>
                  <a:srgbClr val="E6E6E6"/>
                </a:solidFill>
              </a:rPr>
              <a:t> user </a:t>
            </a:r>
          </a:p>
          <a:p>
            <a:endParaRPr lang="en-US" sz="1400" dirty="0"/>
          </a:p>
          <a:p>
            <a:r>
              <a:rPr lang="en-US" sz="1600" dirty="0">
                <a:solidFill>
                  <a:srgbClr val="E6E6E6"/>
                </a:solidFill>
              </a:rPr>
              <a:t>0 --- no permissions </a:t>
            </a:r>
          </a:p>
          <a:p>
            <a:r>
              <a:rPr lang="en-US" sz="1600" dirty="0">
                <a:solidFill>
                  <a:srgbClr val="E6E6E6"/>
                </a:solidFill>
              </a:rPr>
              <a:t> --x execute only 1</a:t>
            </a:r>
          </a:p>
          <a:p>
            <a:r>
              <a:rPr lang="en-US" sz="1600" dirty="0">
                <a:solidFill>
                  <a:srgbClr val="E6E6E6"/>
                </a:solidFill>
              </a:rPr>
              <a:t>-w- write only 2</a:t>
            </a:r>
          </a:p>
          <a:p>
            <a:r>
              <a:rPr lang="en-US" sz="1600" dirty="0">
                <a:solidFill>
                  <a:srgbClr val="E6E6E6"/>
                </a:solidFill>
              </a:rPr>
              <a:t> -</a:t>
            </a:r>
            <a:r>
              <a:rPr lang="en-US" sz="1600" dirty="0" err="1">
                <a:solidFill>
                  <a:srgbClr val="E6E6E6"/>
                </a:solidFill>
              </a:rPr>
              <a:t>wx</a:t>
            </a:r>
            <a:r>
              <a:rPr lang="en-US" sz="1600" dirty="0">
                <a:solidFill>
                  <a:srgbClr val="E6E6E6"/>
                </a:solidFill>
              </a:rPr>
              <a:t> write and execute  -----------------</a:t>
            </a:r>
            <a:r>
              <a:rPr lang="en-US" sz="1600" dirty="0">
                <a:solidFill>
                  <a:srgbClr val="E6E6E6"/>
                </a:solidFill>
                <a:sym typeface="Wingdings" panose="05000000000000000000" pitchFamily="2" charset="2"/>
              </a:rPr>
              <a:t>  </a:t>
            </a:r>
            <a:r>
              <a:rPr lang="en-US" sz="1600" dirty="0" err="1">
                <a:solidFill>
                  <a:srgbClr val="E6E6E6"/>
                </a:solidFill>
                <a:sym typeface="Wingdings" panose="05000000000000000000" pitchFamily="2" charset="2"/>
              </a:rPr>
              <a:t>chmod</a:t>
            </a:r>
            <a:r>
              <a:rPr lang="en-US" sz="1600" dirty="0">
                <a:solidFill>
                  <a:srgbClr val="E6E6E6"/>
                </a:solidFill>
                <a:sym typeface="Wingdings" panose="05000000000000000000" pitchFamily="2" charset="2"/>
              </a:rPr>
              <a:t> 777 file  it means user and group and other have full permissions that it is very dangerous  based on security           775  and 660 are used very much</a:t>
            </a:r>
            <a:endParaRPr lang="en-US" sz="1400" dirty="0"/>
          </a:p>
          <a:p>
            <a:r>
              <a:rPr lang="en-US" sz="1600" dirty="0">
                <a:solidFill>
                  <a:srgbClr val="E6E6E6"/>
                </a:solidFill>
              </a:rPr>
              <a:t> 4 r-- read only </a:t>
            </a:r>
          </a:p>
          <a:p>
            <a:r>
              <a:rPr lang="en-US" sz="1600" dirty="0">
                <a:solidFill>
                  <a:srgbClr val="E6E6E6"/>
                </a:solidFill>
              </a:rPr>
              <a:t>5 r-x read and execute </a:t>
            </a:r>
          </a:p>
          <a:p>
            <a:r>
              <a:rPr lang="en-US" sz="1600" dirty="0">
                <a:solidFill>
                  <a:srgbClr val="E6E6E6"/>
                </a:solidFill>
              </a:rPr>
              <a:t>6 </a:t>
            </a:r>
            <a:r>
              <a:rPr lang="en-US" sz="1600" dirty="0" err="1">
                <a:solidFill>
                  <a:srgbClr val="E6E6E6"/>
                </a:solidFill>
              </a:rPr>
              <a:t>rw</a:t>
            </a:r>
            <a:r>
              <a:rPr lang="en-US" sz="1600" dirty="0">
                <a:solidFill>
                  <a:srgbClr val="E6E6E6"/>
                </a:solidFill>
              </a:rPr>
              <a:t>- read and write </a:t>
            </a:r>
          </a:p>
          <a:p>
            <a:r>
              <a:rPr lang="en-US" sz="1600" dirty="0">
                <a:solidFill>
                  <a:srgbClr val="E6E6E6"/>
                </a:solidFill>
              </a:rPr>
              <a:t>7 </a:t>
            </a:r>
            <a:r>
              <a:rPr lang="en-US" sz="1600" dirty="0" err="1">
                <a:solidFill>
                  <a:srgbClr val="E6E6E6"/>
                </a:solidFill>
              </a:rPr>
              <a:t>rwx</a:t>
            </a:r>
            <a:r>
              <a:rPr lang="en-US" sz="1600" dirty="0">
                <a:solidFill>
                  <a:srgbClr val="E6E6E6"/>
                </a:solidFill>
              </a:rPr>
              <a:t> read, write, and execute </a:t>
            </a:r>
          </a:p>
          <a:p>
            <a:endParaRPr lang="en-US" sz="1400" dirty="0"/>
          </a:p>
          <a:p>
            <a:endParaRPr lang="en-US" sz="1400" dirty="0"/>
          </a:p>
        </p:txBody>
      </p:sp>
    </p:spTree>
    <p:extLst>
      <p:ext uri="{BB962C8B-B14F-4D97-AF65-F5344CB8AC3E}">
        <p14:creationId xmlns:p14="http://schemas.microsoft.com/office/powerpoint/2010/main" val="23420583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FD269-25E2-8309-0459-2685FC0335C3}"/>
              </a:ext>
            </a:extLst>
          </p:cNvPr>
          <p:cNvSpPr>
            <a:spLocks noGrp="1"/>
          </p:cNvSpPr>
          <p:nvPr>
            <p:ph type="title"/>
          </p:nvPr>
        </p:nvSpPr>
        <p:spPr/>
        <p:txBody>
          <a:bodyPr>
            <a:normAutofit/>
          </a:bodyPr>
          <a:lstStyle/>
          <a:p>
            <a:r>
              <a:rPr lang="en-US" sz="2800" b="1" dirty="0">
                <a:solidFill>
                  <a:srgbClr val="FFFFFF"/>
                </a:solidFill>
              </a:rPr>
              <a:t>          Setting the Default Mode</a:t>
            </a:r>
          </a:p>
        </p:txBody>
      </p:sp>
      <p:sp>
        <p:nvSpPr>
          <p:cNvPr id="3" name="Content Placeholder 2">
            <a:extLst>
              <a:ext uri="{FF2B5EF4-FFF2-40B4-BE49-F238E27FC236}">
                <a16:creationId xmlns:a16="http://schemas.microsoft.com/office/drawing/2014/main" id="{8B8AFC85-8629-97C3-B32E-5505FB4D8D7B}"/>
              </a:ext>
            </a:extLst>
          </p:cNvPr>
          <p:cNvSpPr>
            <a:spLocks noGrp="1"/>
          </p:cNvSpPr>
          <p:nvPr>
            <p:ph idx="1"/>
          </p:nvPr>
        </p:nvSpPr>
        <p:spPr/>
        <p:txBody>
          <a:bodyPr>
            <a:normAutofit/>
          </a:bodyPr>
          <a:lstStyle/>
          <a:p>
            <a:r>
              <a:rPr lang="en-US" sz="1600" dirty="0">
                <a:solidFill>
                  <a:srgbClr val="E6E6E6"/>
                </a:solidFill>
              </a:rPr>
              <a:t>When a user creates a new file or directory, the Linux system assigns it a default owner, group, and permissions. The default owner, as expected, is the user who created the file. The default group is the owner’s primary group.</a:t>
            </a:r>
          </a:p>
          <a:p>
            <a:r>
              <a:rPr lang="en-US" sz="1600" dirty="0" err="1">
                <a:solidFill>
                  <a:srgbClr val="E6E6E6"/>
                </a:solidFill>
              </a:rPr>
              <a:t>Umask</a:t>
            </a:r>
            <a:r>
              <a:rPr lang="en-US" sz="1600" dirty="0">
                <a:solidFill>
                  <a:srgbClr val="E6E6E6"/>
                </a:solidFill>
              </a:rPr>
              <a:t> means </a:t>
            </a:r>
            <a:r>
              <a:rPr lang="en-US" sz="1600" dirty="0" err="1">
                <a:solidFill>
                  <a:srgbClr val="E6E6E6"/>
                </a:solidFill>
              </a:rPr>
              <a:t>umask</a:t>
            </a:r>
            <a:r>
              <a:rPr lang="en-US" sz="1600" dirty="0">
                <a:solidFill>
                  <a:srgbClr val="E6E6E6"/>
                </a:solidFill>
              </a:rPr>
              <a:t> change the default permissions for all newly files or folders   </a:t>
            </a:r>
            <a:r>
              <a:rPr lang="en-US" sz="1600" dirty="0" err="1">
                <a:solidFill>
                  <a:srgbClr val="E6E6E6"/>
                </a:solidFill>
              </a:rPr>
              <a:t>umask</a:t>
            </a:r>
            <a:r>
              <a:rPr lang="en-US" sz="1600" dirty="0">
                <a:solidFill>
                  <a:srgbClr val="E6E6E6"/>
                </a:solidFill>
              </a:rPr>
              <a:t> default 0002 </a:t>
            </a:r>
          </a:p>
          <a:p>
            <a:r>
              <a:rPr lang="en-US" sz="1600" dirty="0" err="1">
                <a:solidFill>
                  <a:srgbClr val="E6E6E6"/>
                </a:solidFill>
              </a:rPr>
              <a:t>Formual</a:t>
            </a:r>
            <a:r>
              <a:rPr lang="en-US" sz="1600" dirty="0">
                <a:solidFill>
                  <a:srgbClr val="E6E6E6"/>
                </a:solidFill>
              </a:rPr>
              <a:t> 666 -002-</a:t>
            </a:r>
            <a:r>
              <a:rPr lang="en-US" sz="1600" dirty="0">
                <a:solidFill>
                  <a:srgbClr val="E6E6E6"/>
                </a:solidFill>
                <a:sym typeface="Wingdings" panose="05000000000000000000" pitchFamily="2" charset="2"/>
              </a:rPr>
              <a:t>664</a:t>
            </a:r>
            <a:endParaRPr lang="en-US" sz="2000" dirty="0"/>
          </a:p>
          <a:p>
            <a:endParaRPr lang="en-US" sz="2000" dirty="0"/>
          </a:p>
          <a:p>
            <a:r>
              <a:rPr lang="en-US" sz="1600" dirty="0" err="1">
                <a:solidFill>
                  <a:srgbClr val="E6E6E6"/>
                </a:solidFill>
              </a:rPr>
              <a:t>Chmod</a:t>
            </a:r>
            <a:r>
              <a:rPr lang="en-US" sz="1600" dirty="0">
                <a:solidFill>
                  <a:srgbClr val="E6E6E6"/>
                </a:solidFill>
              </a:rPr>
              <a:t> set permissions for files and folders that already exist</a:t>
            </a:r>
          </a:p>
        </p:txBody>
      </p:sp>
    </p:spTree>
    <p:extLst>
      <p:ext uri="{BB962C8B-B14F-4D97-AF65-F5344CB8AC3E}">
        <p14:creationId xmlns:p14="http://schemas.microsoft.com/office/powerpoint/2010/main" val="29698139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7720-43A1-A650-EF05-5376611ABD3B}"/>
              </a:ext>
            </a:extLst>
          </p:cNvPr>
          <p:cNvSpPr>
            <a:spLocks noGrp="1"/>
          </p:cNvSpPr>
          <p:nvPr>
            <p:ph type="title"/>
          </p:nvPr>
        </p:nvSpPr>
        <p:spPr>
          <a:xfrm>
            <a:off x="-167208" y="0"/>
            <a:ext cx="10018713" cy="1752599"/>
          </a:xfrm>
        </p:spPr>
        <p:txBody>
          <a:bodyPr/>
          <a:lstStyle/>
          <a:p>
            <a:r>
              <a:rPr lang="en-US" sz="2800" b="1" dirty="0">
                <a:solidFill>
                  <a:srgbClr val="FFFFFF"/>
                </a:solidFill>
              </a:rPr>
              <a:t>                     </a:t>
            </a:r>
            <a:r>
              <a:rPr lang="en-US" sz="2800" b="1" dirty="0" err="1">
                <a:solidFill>
                  <a:srgbClr val="FFFFFF"/>
                </a:solidFill>
              </a:rPr>
              <a:t>umask</a:t>
            </a:r>
            <a:endParaRPr lang="en-US" dirty="0"/>
          </a:p>
        </p:txBody>
      </p:sp>
      <p:pic>
        <p:nvPicPr>
          <p:cNvPr id="5" name="Content Placeholder 4">
            <a:extLst>
              <a:ext uri="{FF2B5EF4-FFF2-40B4-BE49-F238E27FC236}">
                <a16:creationId xmlns:a16="http://schemas.microsoft.com/office/drawing/2014/main" id="{2B41A649-21D6-5AF6-7E68-0E65D0359D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6803" y="2438399"/>
            <a:ext cx="7480198" cy="3023433"/>
          </a:xfrm>
        </p:spPr>
      </p:pic>
    </p:spTree>
    <p:extLst>
      <p:ext uri="{BB962C8B-B14F-4D97-AF65-F5344CB8AC3E}">
        <p14:creationId xmlns:p14="http://schemas.microsoft.com/office/powerpoint/2010/main" val="28802299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E0D3-3E40-34F3-BA38-63A24396D23B}"/>
              </a:ext>
            </a:extLst>
          </p:cNvPr>
          <p:cNvSpPr>
            <a:spLocks noGrp="1"/>
          </p:cNvSpPr>
          <p:nvPr>
            <p:ph type="title"/>
          </p:nvPr>
        </p:nvSpPr>
        <p:spPr>
          <a:xfrm>
            <a:off x="1209179" y="189707"/>
            <a:ext cx="8326707" cy="818137"/>
          </a:xfrm>
        </p:spPr>
        <p:txBody>
          <a:bodyPr>
            <a:normAutofit/>
          </a:bodyPr>
          <a:lstStyle/>
          <a:p>
            <a:r>
              <a:rPr lang="en-US" sz="2800" b="1" dirty="0">
                <a:solidFill>
                  <a:srgbClr val="FFFFFF"/>
                </a:solidFill>
              </a:rPr>
              <a:t>           Changing Special </a:t>
            </a:r>
            <a:r>
              <a:rPr lang="en-US" sz="2800" b="1" dirty="0" err="1">
                <a:solidFill>
                  <a:srgbClr val="FFFFFF"/>
                </a:solidFill>
              </a:rPr>
              <a:t>AccesModes</a:t>
            </a:r>
            <a:endParaRPr lang="en-US" dirty="0"/>
          </a:p>
        </p:txBody>
      </p:sp>
      <p:sp>
        <p:nvSpPr>
          <p:cNvPr id="3" name="Content Placeholder 2">
            <a:extLst>
              <a:ext uri="{FF2B5EF4-FFF2-40B4-BE49-F238E27FC236}">
                <a16:creationId xmlns:a16="http://schemas.microsoft.com/office/drawing/2014/main" id="{B9412164-B309-B947-F95A-FB58528543DC}"/>
              </a:ext>
            </a:extLst>
          </p:cNvPr>
          <p:cNvSpPr>
            <a:spLocks noGrp="1"/>
          </p:cNvSpPr>
          <p:nvPr>
            <p:ph idx="1"/>
          </p:nvPr>
        </p:nvSpPr>
        <p:spPr>
          <a:xfrm>
            <a:off x="2039604" y="4506685"/>
            <a:ext cx="5779449" cy="409068"/>
          </a:xfrm>
        </p:spPr>
        <p:txBody>
          <a:bodyPr>
            <a:noAutofit/>
          </a:bodyPr>
          <a:lstStyle/>
          <a:p>
            <a:r>
              <a:rPr lang="en-US" sz="1600" dirty="0" err="1">
                <a:solidFill>
                  <a:srgbClr val="E6E6E6"/>
                </a:solidFill>
              </a:rPr>
              <a:t>Uid</a:t>
            </a:r>
            <a:r>
              <a:rPr lang="en-US" sz="1600" dirty="0">
                <a:solidFill>
                  <a:srgbClr val="E6E6E6"/>
                </a:solidFill>
              </a:rPr>
              <a:t> or user identifier </a:t>
            </a:r>
          </a:p>
          <a:p>
            <a:endParaRPr lang="en-US" sz="2000" dirty="0"/>
          </a:p>
          <a:p>
            <a:r>
              <a:rPr lang="en-US" sz="1600" dirty="0" err="1">
                <a:solidFill>
                  <a:srgbClr val="E6E6E6"/>
                </a:solidFill>
              </a:rPr>
              <a:t>Uid</a:t>
            </a:r>
            <a:r>
              <a:rPr lang="en-US" sz="1600" dirty="0">
                <a:solidFill>
                  <a:srgbClr val="E6E6E6"/>
                </a:solidFill>
              </a:rPr>
              <a:t> root=0 </a:t>
            </a:r>
            <a:r>
              <a:rPr lang="en-US" sz="1600" dirty="0" err="1">
                <a:solidFill>
                  <a:srgbClr val="E6E6E6"/>
                </a:solidFill>
              </a:rPr>
              <a:t>uid</a:t>
            </a:r>
            <a:r>
              <a:rPr lang="en-US" sz="1600" dirty="0">
                <a:solidFill>
                  <a:srgbClr val="E6E6E6"/>
                </a:solidFill>
              </a:rPr>
              <a:t> user of system:1 until 499 </a:t>
            </a:r>
          </a:p>
          <a:p>
            <a:endParaRPr lang="en-US" sz="2800" dirty="0"/>
          </a:p>
          <a:p>
            <a:r>
              <a:rPr lang="en-US" sz="1600" dirty="0" err="1">
                <a:solidFill>
                  <a:srgbClr val="E6E6E6"/>
                </a:solidFill>
              </a:rPr>
              <a:t>Uid</a:t>
            </a:r>
            <a:r>
              <a:rPr lang="en-US" sz="1600" dirty="0">
                <a:solidFill>
                  <a:srgbClr val="E6E6E6"/>
                </a:solidFill>
              </a:rPr>
              <a:t> 65534 don’t reserve just for anonymous user</a:t>
            </a:r>
          </a:p>
          <a:p>
            <a:endParaRPr lang="en-US" sz="2800" dirty="0"/>
          </a:p>
          <a:p>
            <a:r>
              <a:rPr lang="en-US" sz="1600" dirty="0">
                <a:solidFill>
                  <a:srgbClr val="E6E6E6"/>
                </a:solidFill>
              </a:rPr>
              <a:t>id show the </a:t>
            </a:r>
            <a:r>
              <a:rPr lang="en-US" sz="1600" dirty="0" err="1">
                <a:solidFill>
                  <a:srgbClr val="E6E6E6"/>
                </a:solidFill>
              </a:rPr>
              <a:t>uid</a:t>
            </a:r>
            <a:r>
              <a:rPr lang="en-US" sz="1600" dirty="0">
                <a:solidFill>
                  <a:srgbClr val="E6E6E6"/>
                </a:solidFill>
              </a:rPr>
              <a:t> </a:t>
            </a:r>
            <a:r>
              <a:rPr lang="en-US" sz="1600" dirty="0" err="1">
                <a:solidFill>
                  <a:srgbClr val="E6E6E6"/>
                </a:solidFill>
              </a:rPr>
              <a:t>guid</a:t>
            </a:r>
            <a:r>
              <a:rPr lang="en-US" sz="1600" dirty="0">
                <a:solidFill>
                  <a:srgbClr val="E6E6E6"/>
                </a:solidFill>
              </a:rPr>
              <a:t>             groups show list of groups</a:t>
            </a:r>
          </a:p>
          <a:p>
            <a:r>
              <a:rPr lang="en-US" sz="1600" dirty="0">
                <a:solidFill>
                  <a:srgbClr val="E6E6E6"/>
                </a:solidFill>
              </a:rPr>
              <a:t>gid vs group    </a:t>
            </a:r>
            <a:r>
              <a:rPr lang="en-US" sz="1600" dirty="0" err="1">
                <a:solidFill>
                  <a:srgbClr val="E6E6E6"/>
                </a:solidFill>
              </a:rPr>
              <a:t>group</a:t>
            </a:r>
            <a:r>
              <a:rPr lang="en-US" sz="1600" dirty="0">
                <a:solidFill>
                  <a:srgbClr val="E6E6E6"/>
                </a:solidFill>
              </a:rPr>
              <a:t> id is a unique identifier assig to group and internally by </a:t>
            </a:r>
            <a:r>
              <a:rPr lang="en-US" sz="1600" dirty="0" err="1">
                <a:solidFill>
                  <a:srgbClr val="E6E6E6"/>
                </a:solidFill>
              </a:rPr>
              <a:t>os</a:t>
            </a:r>
            <a:r>
              <a:rPr lang="en-US" sz="1600" dirty="0">
                <a:solidFill>
                  <a:srgbClr val="E6E6E6"/>
                </a:solidFill>
              </a:rPr>
              <a:t>  . </a:t>
            </a:r>
          </a:p>
          <a:p>
            <a:r>
              <a:rPr lang="en-US" sz="1600" dirty="0">
                <a:solidFill>
                  <a:srgbClr val="E6E6E6"/>
                </a:solidFill>
              </a:rPr>
              <a:t>Cat /</a:t>
            </a:r>
            <a:r>
              <a:rPr lang="en-US" sz="1600" dirty="0" err="1">
                <a:solidFill>
                  <a:srgbClr val="E6E6E6"/>
                </a:solidFill>
              </a:rPr>
              <a:t>etc</a:t>
            </a:r>
            <a:r>
              <a:rPr lang="en-US" sz="1600" dirty="0">
                <a:solidFill>
                  <a:srgbClr val="E6E6E6"/>
                </a:solidFill>
              </a:rPr>
              <a:t>/passwd show user id group password is hidden and show home directory</a:t>
            </a:r>
          </a:p>
          <a:p>
            <a:r>
              <a:rPr lang="en-US" sz="1600" dirty="0" err="1">
                <a:solidFill>
                  <a:srgbClr val="E6E6E6"/>
                </a:solidFill>
              </a:rPr>
              <a:t>Suid</a:t>
            </a:r>
            <a:r>
              <a:rPr lang="en-US" sz="1600" dirty="0">
                <a:solidFill>
                  <a:srgbClr val="E6E6E6"/>
                </a:solidFill>
              </a:rPr>
              <a:t> /</a:t>
            </a:r>
            <a:r>
              <a:rPr lang="en-US" sz="1600" dirty="0" err="1">
                <a:solidFill>
                  <a:srgbClr val="E6E6E6"/>
                </a:solidFill>
              </a:rPr>
              <a:t>etc</a:t>
            </a:r>
            <a:r>
              <a:rPr lang="en-US" sz="1600" dirty="0">
                <a:solidFill>
                  <a:srgbClr val="E6E6E6"/>
                </a:solidFill>
              </a:rPr>
              <a:t>/shadow when each file </a:t>
            </a:r>
            <a:r>
              <a:rPr lang="en-US" sz="1600" dirty="0" err="1">
                <a:solidFill>
                  <a:srgbClr val="E6E6E6"/>
                </a:solidFill>
              </a:rPr>
              <a:t>suid</a:t>
            </a:r>
            <a:r>
              <a:rPr lang="en-US" sz="1600" dirty="0">
                <a:solidFill>
                  <a:srgbClr val="E6E6E6"/>
                </a:solidFill>
              </a:rPr>
              <a:t> enable means </a:t>
            </a:r>
            <a:r>
              <a:rPr lang="en-US" sz="1600" dirty="0" err="1">
                <a:solidFill>
                  <a:srgbClr val="E6E6E6"/>
                </a:solidFill>
              </a:rPr>
              <a:t>rws</a:t>
            </a:r>
            <a:r>
              <a:rPr lang="en-US" sz="1600" dirty="0">
                <a:solidFill>
                  <a:srgbClr val="E6E6E6"/>
                </a:solidFill>
              </a:rPr>
              <a:t> execute with user that set not user execute      /</a:t>
            </a:r>
            <a:r>
              <a:rPr lang="en-US" sz="1600" dirty="0" err="1">
                <a:solidFill>
                  <a:srgbClr val="E6E6E6"/>
                </a:solidFill>
              </a:rPr>
              <a:t>etc</a:t>
            </a:r>
            <a:r>
              <a:rPr lang="en-US" sz="1600" dirty="0">
                <a:solidFill>
                  <a:srgbClr val="E6E6E6"/>
                </a:solidFill>
              </a:rPr>
              <a:t>/group show list of groups </a:t>
            </a:r>
          </a:p>
          <a:p>
            <a:r>
              <a:rPr lang="en-US" sz="1600" dirty="0">
                <a:solidFill>
                  <a:srgbClr val="E6E6E6"/>
                </a:solidFill>
              </a:rPr>
              <a:t>t </a:t>
            </a:r>
            <a:r>
              <a:rPr lang="en-US" sz="1600" dirty="0" err="1">
                <a:solidFill>
                  <a:srgbClr val="E6E6E6"/>
                </a:solidFill>
              </a:rPr>
              <a:t>stickybit</a:t>
            </a:r>
            <a:r>
              <a:rPr lang="en-US" sz="1600" dirty="0">
                <a:solidFill>
                  <a:srgbClr val="E6E6E6"/>
                </a:solidFill>
              </a:rPr>
              <a:t>  when you don’t allow delete file although have permissions just owner can</a:t>
            </a:r>
          </a:p>
        </p:txBody>
      </p:sp>
    </p:spTree>
    <p:extLst>
      <p:ext uri="{BB962C8B-B14F-4D97-AF65-F5344CB8AC3E}">
        <p14:creationId xmlns:p14="http://schemas.microsoft.com/office/powerpoint/2010/main" val="15502971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E2DAE-CA82-1B3E-7CE9-ED8D6B9D8172}"/>
              </a:ext>
            </a:extLst>
          </p:cNvPr>
          <p:cNvSpPr>
            <a:spLocks noGrp="1"/>
          </p:cNvSpPr>
          <p:nvPr>
            <p:ph type="title"/>
          </p:nvPr>
        </p:nvSpPr>
        <p:spPr>
          <a:xfrm>
            <a:off x="1017780" y="410791"/>
            <a:ext cx="8596669" cy="730897"/>
          </a:xfrm>
        </p:spPr>
        <p:txBody>
          <a:bodyPr>
            <a:normAutofit/>
          </a:bodyPr>
          <a:lstStyle/>
          <a:p>
            <a:r>
              <a:rPr lang="en-US" sz="2800" b="1" dirty="0">
                <a:solidFill>
                  <a:srgbClr val="FFFFFF"/>
                </a:solidFill>
              </a:rPr>
              <a:t>          Configuring User Accounts</a:t>
            </a:r>
          </a:p>
        </p:txBody>
      </p:sp>
      <p:sp>
        <p:nvSpPr>
          <p:cNvPr id="3" name="Content Placeholder 2">
            <a:extLst>
              <a:ext uri="{FF2B5EF4-FFF2-40B4-BE49-F238E27FC236}">
                <a16:creationId xmlns:a16="http://schemas.microsoft.com/office/drawing/2014/main" id="{EE64CAC6-42C5-98E8-776E-99D4EBFE7524}"/>
              </a:ext>
            </a:extLst>
          </p:cNvPr>
          <p:cNvSpPr>
            <a:spLocks noGrp="1"/>
          </p:cNvSpPr>
          <p:nvPr>
            <p:ph idx="1"/>
          </p:nvPr>
        </p:nvSpPr>
        <p:spPr>
          <a:xfrm>
            <a:off x="1722362" y="2200987"/>
            <a:ext cx="8596668" cy="3880773"/>
          </a:xfrm>
        </p:spPr>
        <p:txBody>
          <a:bodyPr>
            <a:normAutofit/>
          </a:bodyPr>
          <a:lstStyle/>
          <a:p>
            <a:pPr algn="just"/>
            <a:r>
              <a:rPr lang="en-US" sz="1600" dirty="0">
                <a:solidFill>
                  <a:srgbClr val="E6E6E6"/>
                </a:solidFill>
              </a:rPr>
              <a:t>/</a:t>
            </a:r>
            <a:r>
              <a:rPr lang="en-US" sz="1600" dirty="0" err="1">
                <a:solidFill>
                  <a:srgbClr val="E6E6E6"/>
                </a:solidFill>
              </a:rPr>
              <a:t>etc</a:t>
            </a:r>
            <a:r>
              <a:rPr lang="en-US" sz="1600" dirty="0">
                <a:solidFill>
                  <a:srgbClr val="E6E6E6"/>
                </a:solidFill>
              </a:rPr>
              <a:t>/</a:t>
            </a:r>
            <a:r>
              <a:rPr lang="en-US" sz="1600" dirty="0" err="1">
                <a:solidFill>
                  <a:srgbClr val="E6E6E6"/>
                </a:solidFill>
              </a:rPr>
              <a:t>login.defs</a:t>
            </a:r>
            <a:r>
              <a:rPr lang="en-US" sz="1600" dirty="0">
                <a:solidFill>
                  <a:srgbClr val="E6E6E6"/>
                </a:solidFill>
              </a:rPr>
              <a:t> File: The /</a:t>
            </a:r>
            <a:r>
              <a:rPr lang="en-US" sz="1600" dirty="0" err="1">
                <a:solidFill>
                  <a:srgbClr val="E6E6E6"/>
                </a:solidFill>
              </a:rPr>
              <a:t>etc</a:t>
            </a:r>
            <a:r>
              <a:rPr lang="en-US" sz="1600" dirty="0">
                <a:solidFill>
                  <a:srgbClr val="E6E6E6"/>
                </a:solidFill>
              </a:rPr>
              <a:t>/</a:t>
            </a:r>
            <a:r>
              <a:rPr lang="en-US" sz="1600" dirty="0" err="1">
                <a:solidFill>
                  <a:srgbClr val="E6E6E6"/>
                </a:solidFill>
              </a:rPr>
              <a:t>login.defs</a:t>
            </a:r>
            <a:r>
              <a:rPr lang="en-US" sz="1600" dirty="0">
                <a:solidFill>
                  <a:srgbClr val="E6E6E6"/>
                </a:solidFill>
              </a:rPr>
              <a:t> configuration file is typically installed by default on most Linux distributions. It contains directives for use in various shadow password suite commands. Shadow password suite is an umbrella term for commands dealing with account credentials, such as the </a:t>
            </a:r>
            <a:r>
              <a:rPr lang="en-US" sz="1600" dirty="0" err="1">
                <a:solidFill>
                  <a:srgbClr val="E6E6E6"/>
                </a:solidFill>
              </a:rPr>
              <a:t>useradd,userdel,passwd</a:t>
            </a:r>
            <a:endParaRPr lang="en-US" sz="2000" dirty="0"/>
          </a:p>
          <a:p>
            <a:pPr algn="just"/>
            <a:r>
              <a:rPr lang="en-US" sz="1600" dirty="0">
                <a:solidFill>
                  <a:srgbClr val="E6E6E6"/>
                </a:solidFill>
              </a:rPr>
              <a:t>Control </a:t>
            </a:r>
            <a:r>
              <a:rPr lang="en-US" sz="1600" dirty="0" err="1">
                <a:solidFill>
                  <a:srgbClr val="E6E6E6"/>
                </a:solidFill>
              </a:rPr>
              <a:t>ssh</a:t>
            </a:r>
            <a:r>
              <a:rPr lang="en-US" sz="1600" dirty="0">
                <a:solidFill>
                  <a:srgbClr val="E6E6E6"/>
                </a:solidFill>
              </a:rPr>
              <a:t> password length, how long until the user is required to change the account’s password, whether or not a home directory is created by default, and so on. The file is typically filled with comments and commented-out directives</a:t>
            </a:r>
          </a:p>
          <a:p>
            <a:pPr algn="just"/>
            <a:r>
              <a:rPr lang="en-US" sz="1600" dirty="0">
                <a:solidFill>
                  <a:srgbClr val="E6E6E6"/>
                </a:solidFill>
              </a:rPr>
              <a:t>/</a:t>
            </a:r>
            <a:r>
              <a:rPr lang="en-US" sz="1600" dirty="0" err="1">
                <a:solidFill>
                  <a:srgbClr val="E6E6E6"/>
                </a:solidFill>
              </a:rPr>
              <a:t>etc</a:t>
            </a:r>
            <a:r>
              <a:rPr lang="en-US" sz="1600" dirty="0">
                <a:solidFill>
                  <a:srgbClr val="E6E6E6"/>
                </a:solidFill>
              </a:rPr>
              <a:t>/default/</a:t>
            </a:r>
            <a:r>
              <a:rPr lang="en-US" sz="1600" dirty="0" err="1">
                <a:solidFill>
                  <a:srgbClr val="E6E6E6"/>
                </a:solidFill>
              </a:rPr>
              <a:t>useradd</a:t>
            </a:r>
            <a:r>
              <a:rPr lang="en-US" sz="1600" dirty="0">
                <a:solidFill>
                  <a:srgbClr val="E6E6E6"/>
                </a:solidFill>
              </a:rPr>
              <a:t>  </a:t>
            </a:r>
          </a:p>
        </p:txBody>
      </p:sp>
    </p:spTree>
    <p:extLst>
      <p:ext uri="{BB962C8B-B14F-4D97-AF65-F5344CB8AC3E}">
        <p14:creationId xmlns:p14="http://schemas.microsoft.com/office/powerpoint/2010/main" val="40997928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47626-094F-584A-900F-BC481D51940A}"/>
              </a:ext>
            </a:extLst>
          </p:cNvPr>
          <p:cNvSpPr>
            <a:spLocks noGrp="1"/>
          </p:cNvSpPr>
          <p:nvPr>
            <p:ph type="title"/>
          </p:nvPr>
        </p:nvSpPr>
        <p:spPr>
          <a:xfrm>
            <a:off x="677334" y="365125"/>
            <a:ext cx="10432676" cy="1325563"/>
          </a:xfrm>
        </p:spPr>
        <p:txBody>
          <a:bodyPr/>
          <a:lstStyle/>
          <a:p>
            <a:r>
              <a:rPr lang="en-US" sz="2800" b="1" dirty="0">
                <a:solidFill>
                  <a:srgbClr val="FFFFFF"/>
                </a:solidFill>
              </a:rPr>
              <a:t> 		Configuring User Accounts  </a:t>
            </a:r>
          </a:p>
        </p:txBody>
      </p:sp>
      <p:sp>
        <p:nvSpPr>
          <p:cNvPr id="3" name="Content Placeholder 2">
            <a:extLst>
              <a:ext uri="{FF2B5EF4-FFF2-40B4-BE49-F238E27FC236}">
                <a16:creationId xmlns:a16="http://schemas.microsoft.com/office/drawing/2014/main" id="{8DABC8D7-CFE5-9C5A-9FC1-DE08A4BA676C}"/>
              </a:ext>
            </a:extLst>
          </p:cNvPr>
          <p:cNvSpPr>
            <a:spLocks noGrp="1"/>
          </p:cNvSpPr>
          <p:nvPr>
            <p:ph idx="1"/>
          </p:nvPr>
        </p:nvSpPr>
        <p:spPr>
          <a:xfrm>
            <a:off x="677334" y="1690688"/>
            <a:ext cx="8596668" cy="3880773"/>
          </a:xfrm>
        </p:spPr>
        <p:txBody>
          <a:bodyPr>
            <a:normAutofit/>
          </a:bodyPr>
          <a:lstStyle/>
          <a:p>
            <a:r>
              <a:rPr lang="en-US" sz="1600" dirty="0">
                <a:solidFill>
                  <a:srgbClr val="E6E6E6"/>
                </a:solidFill>
              </a:rPr>
              <a:t>/</a:t>
            </a:r>
            <a:r>
              <a:rPr lang="en-US" sz="1600" dirty="0" err="1">
                <a:solidFill>
                  <a:srgbClr val="E6E6E6"/>
                </a:solidFill>
              </a:rPr>
              <a:t>etc</a:t>
            </a:r>
            <a:r>
              <a:rPr lang="en-US" sz="1600" dirty="0">
                <a:solidFill>
                  <a:srgbClr val="E6E6E6"/>
                </a:solidFill>
              </a:rPr>
              <a:t>/</a:t>
            </a:r>
            <a:r>
              <a:rPr lang="en-US" sz="1600" dirty="0" err="1">
                <a:solidFill>
                  <a:srgbClr val="E6E6E6"/>
                </a:solidFill>
              </a:rPr>
              <a:t>skel</a:t>
            </a:r>
            <a:r>
              <a:rPr lang="en-US" sz="1600" dirty="0">
                <a:solidFill>
                  <a:srgbClr val="E6E6E6"/>
                </a:solidFill>
              </a:rPr>
              <a:t> files are copied to user account home directories only when the account is created. Such as </a:t>
            </a:r>
            <a:r>
              <a:rPr lang="en-US" sz="1600" dirty="0" err="1">
                <a:solidFill>
                  <a:srgbClr val="E6E6E6"/>
                </a:solidFill>
              </a:rPr>
              <a:t>bashrc</a:t>
            </a:r>
            <a:r>
              <a:rPr lang="en-US" sz="1600" dirty="0">
                <a:solidFill>
                  <a:srgbClr val="E6E6E6"/>
                </a:solidFill>
              </a:rPr>
              <a:t> and </a:t>
            </a:r>
            <a:r>
              <a:rPr lang="en-US" sz="1600" dirty="0" err="1">
                <a:solidFill>
                  <a:srgbClr val="E6E6E6"/>
                </a:solidFill>
              </a:rPr>
              <a:t>bash_profile</a:t>
            </a:r>
            <a:endParaRPr lang="en-US" sz="2000" dirty="0"/>
          </a:p>
          <a:p>
            <a:r>
              <a:rPr lang="en-US" sz="1600" dirty="0">
                <a:solidFill>
                  <a:srgbClr val="E6E6E6"/>
                </a:solidFill>
              </a:rPr>
              <a:t>Account information is stored in the /</a:t>
            </a:r>
            <a:r>
              <a:rPr lang="en-US" sz="1600" dirty="0" err="1">
                <a:solidFill>
                  <a:srgbClr val="E6E6E6"/>
                </a:solidFill>
              </a:rPr>
              <a:t>etc</a:t>
            </a:r>
            <a:r>
              <a:rPr lang="en-US" sz="1600" dirty="0">
                <a:solidFill>
                  <a:srgbClr val="E6E6E6"/>
                </a:solidFill>
              </a:rPr>
              <a:t>/passwd file. Each account’s data occupies a single line in the file. When an account is created, a new record for that account is added to the /</a:t>
            </a:r>
            <a:r>
              <a:rPr lang="en-US" sz="1600" dirty="0" err="1">
                <a:solidFill>
                  <a:srgbClr val="E6E6E6"/>
                </a:solidFill>
              </a:rPr>
              <a:t>etc</a:t>
            </a:r>
            <a:r>
              <a:rPr lang="en-US" sz="1600" dirty="0">
                <a:solidFill>
                  <a:srgbClr val="E6E6E6"/>
                </a:solidFill>
              </a:rPr>
              <a:t>/passwd file.</a:t>
            </a:r>
          </a:p>
          <a:p>
            <a:r>
              <a:rPr lang="en-US" sz="1600" dirty="0">
                <a:solidFill>
                  <a:srgbClr val="E6E6E6"/>
                </a:solidFill>
              </a:rPr>
              <a:t>1 User account’s username. </a:t>
            </a:r>
          </a:p>
          <a:p>
            <a:r>
              <a:rPr lang="en-US" sz="1600" dirty="0">
                <a:solidFill>
                  <a:srgbClr val="E6E6E6"/>
                </a:solidFill>
              </a:rPr>
              <a:t>2 Password field. Typically this file is no longer used to store passwords.  passwords are stored in the /</a:t>
            </a:r>
            <a:r>
              <a:rPr lang="en-US" sz="1600" dirty="0" err="1">
                <a:solidFill>
                  <a:srgbClr val="E6E6E6"/>
                </a:solidFill>
              </a:rPr>
              <a:t>etc</a:t>
            </a:r>
            <a:r>
              <a:rPr lang="en-US" sz="1600" dirty="0">
                <a:solidFill>
                  <a:srgbClr val="E6E6E6"/>
                </a:solidFill>
              </a:rPr>
              <a:t>/shadow file</a:t>
            </a:r>
          </a:p>
        </p:txBody>
      </p:sp>
    </p:spTree>
    <p:extLst>
      <p:ext uri="{BB962C8B-B14F-4D97-AF65-F5344CB8AC3E}">
        <p14:creationId xmlns:p14="http://schemas.microsoft.com/office/powerpoint/2010/main" val="326908195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B134-785D-E9A4-B431-0166E28765CE}"/>
              </a:ext>
            </a:extLst>
          </p:cNvPr>
          <p:cNvSpPr>
            <a:spLocks noGrp="1"/>
          </p:cNvSpPr>
          <p:nvPr>
            <p:ph type="title"/>
          </p:nvPr>
        </p:nvSpPr>
        <p:spPr/>
        <p:txBody>
          <a:bodyPr/>
          <a:lstStyle/>
          <a:p>
            <a:r>
              <a:rPr lang="en-US" sz="2800" b="1" dirty="0">
                <a:solidFill>
                  <a:srgbClr val="FFFFFF"/>
                </a:solidFill>
              </a:rPr>
              <a:t> 		Configuring User Accounts</a:t>
            </a:r>
          </a:p>
        </p:txBody>
      </p:sp>
      <p:sp>
        <p:nvSpPr>
          <p:cNvPr id="3" name="Content Placeholder 2">
            <a:extLst>
              <a:ext uri="{FF2B5EF4-FFF2-40B4-BE49-F238E27FC236}">
                <a16:creationId xmlns:a16="http://schemas.microsoft.com/office/drawing/2014/main" id="{68E85F49-9563-0A72-8A80-259D72521C12}"/>
              </a:ext>
            </a:extLst>
          </p:cNvPr>
          <p:cNvSpPr>
            <a:spLocks noGrp="1"/>
          </p:cNvSpPr>
          <p:nvPr>
            <p:ph idx="1"/>
          </p:nvPr>
        </p:nvSpPr>
        <p:spPr>
          <a:xfrm>
            <a:off x="677334" y="1930400"/>
            <a:ext cx="8596668" cy="3880773"/>
          </a:xfrm>
        </p:spPr>
        <p:txBody>
          <a:bodyPr>
            <a:normAutofit/>
          </a:bodyPr>
          <a:lstStyle/>
          <a:p>
            <a:r>
              <a:rPr lang="en-US" sz="1600" dirty="0">
                <a:solidFill>
                  <a:srgbClr val="E6E6E6"/>
                </a:solidFill>
              </a:rPr>
              <a:t>3 User account’s user identification number (UID).</a:t>
            </a:r>
          </a:p>
          <a:p>
            <a:r>
              <a:rPr lang="en-US" sz="1600" dirty="0">
                <a:solidFill>
                  <a:srgbClr val="E6E6E6"/>
                </a:solidFill>
              </a:rPr>
              <a:t> 4 User account’s group identification number (GID).</a:t>
            </a:r>
          </a:p>
          <a:p>
            <a:r>
              <a:rPr lang="en-US" sz="1600" dirty="0">
                <a:solidFill>
                  <a:srgbClr val="E6E6E6"/>
                </a:solidFill>
              </a:rPr>
              <a:t> 5 Comment field. This field is optional. Traditionally it contains the user’s full name. </a:t>
            </a:r>
          </a:p>
          <a:p>
            <a:r>
              <a:rPr lang="en-US" sz="1600" dirty="0">
                <a:solidFill>
                  <a:srgbClr val="E6E6E6"/>
                </a:solidFill>
              </a:rPr>
              <a:t>6 User account’s home directory. </a:t>
            </a:r>
          </a:p>
          <a:p>
            <a:r>
              <a:rPr lang="en-US" sz="1600" dirty="0">
                <a:solidFill>
                  <a:srgbClr val="E6E6E6"/>
                </a:solidFill>
              </a:rPr>
              <a:t>7 User account’s default shell. If set to /</a:t>
            </a:r>
            <a:r>
              <a:rPr lang="en-US" sz="1600" dirty="0" err="1">
                <a:solidFill>
                  <a:srgbClr val="E6E6E6"/>
                </a:solidFill>
              </a:rPr>
              <a:t>sbin</a:t>
            </a:r>
            <a:r>
              <a:rPr lang="en-US" sz="1600" dirty="0">
                <a:solidFill>
                  <a:srgbClr val="E6E6E6"/>
                </a:solidFill>
              </a:rPr>
              <a:t>/</a:t>
            </a:r>
            <a:r>
              <a:rPr lang="en-US" sz="1600" dirty="0" err="1">
                <a:solidFill>
                  <a:srgbClr val="E6E6E6"/>
                </a:solidFill>
              </a:rPr>
              <a:t>nologin</a:t>
            </a:r>
            <a:r>
              <a:rPr lang="en-US" sz="1600" dirty="0">
                <a:solidFill>
                  <a:srgbClr val="E6E6E6"/>
                </a:solidFill>
              </a:rPr>
              <a:t> or /bin/false , then the user cannot interactively log into the system.</a:t>
            </a:r>
          </a:p>
        </p:txBody>
      </p:sp>
    </p:spTree>
    <p:extLst>
      <p:ext uri="{BB962C8B-B14F-4D97-AF65-F5344CB8AC3E}">
        <p14:creationId xmlns:p14="http://schemas.microsoft.com/office/powerpoint/2010/main" val="22054159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AB871-91F8-4A0C-1BB7-9547F5A1619D}"/>
              </a:ext>
            </a:extLst>
          </p:cNvPr>
          <p:cNvSpPr>
            <a:spLocks noGrp="1"/>
          </p:cNvSpPr>
          <p:nvPr>
            <p:ph type="title"/>
          </p:nvPr>
        </p:nvSpPr>
        <p:spPr>
          <a:xfrm>
            <a:off x="793845" y="-36720"/>
            <a:ext cx="10018713" cy="1752599"/>
          </a:xfrm>
        </p:spPr>
        <p:txBody>
          <a:bodyPr/>
          <a:lstStyle/>
          <a:p>
            <a:r>
              <a:rPr lang="en-US" sz="2800" b="1" dirty="0">
                <a:solidFill>
                  <a:srgbClr val="FFFFFF"/>
                </a:solidFill>
              </a:rPr>
              <a:t>		Configuring User Accounts</a:t>
            </a:r>
          </a:p>
        </p:txBody>
      </p:sp>
      <p:sp>
        <p:nvSpPr>
          <p:cNvPr id="3" name="Content Placeholder 2">
            <a:extLst>
              <a:ext uri="{FF2B5EF4-FFF2-40B4-BE49-F238E27FC236}">
                <a16:creationId xmlns:a16="http://schemas.microsoft.com/office/drawing/2014/main" id="{B6F5D8C9-535E-4777-7A28-D68055E76A26}"/>
              </a:ext>
            </a:extLst>
          </p:cNvPr>
          <p:cNvSpPr>
            <a:spLocks noGrp="1"/>
          </p:cNvSpPr>
          <p:nvPr>
            <p:ph idx="1"/>
          </p:nvPr>
        </p:nvSpPr>
        <p:spPr>
          <a:xfrm>
            <a:off x="1260498" y="2221997"/>
            <a:ext cx="8596668" cy="3880773"/>
          </a:xfrm>
        </p:spPr>
        <p:txBody>
          <a:bodyPr>
            <a:normAutofit/>
          </a:bodyPr>
          <a:lstStyle/>
          <a:p>
            <a:r>
              <a:rPr lang="en-US" sz="1600" dirty="0">
                <a:solidFill>
                  <a:srgbClr val="E6E6E6"/>
                </a:solidFill>
              </a:rPr>
              <a:t>/</a:t>
            </a:r>
            <a:r>
              <a:rPr lang="en-US" sz="1600" dirty="0" err="1">
                <a:solidFill>
                  <a:srgbClr val="E6E6E6"/>
                </a:solidFill>
              </a:rPr>
              <a:t>etc</a:t>
            </a:r>
            <a:r>
              <a:rPr lang="en-US" sz="1600" dirty="0">
                <a:solidFill>
                  <a:srgbClr val="E6E6E6"/>
                </a:solidFill>
              </a:rPr>
              <a:t>/shadow File </a:t>
            </a:r>
          </a:p>
          <a:p>
            <a:endParaRPr lang="en-US" sz="1600" dirty="0"/>
          </a:p>
          <a:p>
            <a:endParaRPr lang="en-US" sz="1600" dirty="0"/>
          </a:p>
          <a:p>
            <a:r>
              <a:rPr lang="en-US" sz="1600" dirty="0">
                <a:solidFill>
                  <a:srgbClr val="E6E6E6"/>
                </a:solidFill>
              </a:rPr>
              <a:t>Using </a:t>
            </a:r>
            <a:r>
              <a:rPr lang="en-US" sz="1600" dirty="0" err="1">
                <a:solidFill>
                  <a:srgbClr val="E6E6E6"/>
                </a:solidFill>
              </a:rPr>
              <a:t>getent</a:t>
            </a:r>
            <a:r>
              <a:rPr lang="en-US" sz="1600" dirty="0">
                <a:solidFill>
                  <a:srgbClr val="E6E6E6"/>
                </a:solidFill>
              </a:rPr>
              <a:t> to view a user account</a:t>
            </a:r>
          </a:p>
          <a:p>
            <a:endParaRPr lang="en-US" sz="1400" dirty="0"/>
          </a:p>
          <a:p>
            <a:r>
              <a:rPr lang="en-US" sz="1600" dirty="0" err="1">
                <a:solidFill>
                  <a:srgbClr val="E6E6E6"/>
                </a:solidFill>
              </a:rPr>
              <a:t>getent</a:t>
            </a:r>
            <a:r>
              <a:rPr lang="en-US" sz="1600" dirty="0">
                <a:solidFill>
                  <a:srgbClr val="E6E6E6"/>
                </a:solidFill>
              </a:rPr>
              <a:t> shadow root</a:t>
            </a:r>
          </a:p>
          <a:p>
            <a:r>
              <a:rPr lang="en-US" sz="1600" dirty="0" err="1">
                <a:solidFill>
                  <a:srgbClr val="E6E6E6"/>
                </a:solidFill>
              </a:rPr>
              <a:t>chage</a:t>
            </a:r>
            <a:r>
              <a:rPr lang="en-US" sz="1600" dirty="0">
                <a:solidFill>
                  <a:srgbClr val="E6E6E6"/>
                </a:solidFill>
              </a:rPr>
              <a:t> -l  root</a:t>
            </a:r>
          </a:p>
        </p:txBody>
      </p:sp>
      <p:pic>
        <p:nvPicPr>
          <p:cNvPr id="7" name="Picture 6">
            <a:extLst>
              <a:ext uri="{FF2B5EF4-FFF2-40B4-BE49-F238E27FC236}">
                <a16:creationId xmlns:a16="http://schemas.microsoft.com/office/drawing/2014/main" id="{854F20BC-119B-D2C5-7EF8-69C69E2B81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5730" y="1746446"/>
            <a:ext cx="7136627" cy="4356324"/>
          </a:xfrm>
          <a:prstGeom prst="rect">
            <a:avLst/>
          </a:prstGeom>
        </p:spPr>
      </p:pic>
    </p:spTree>
    <p:extLst>
      <p:ext uri="{BB962C8B-B14F-4D97-AF65-F5344CB8AC3E}">
        <p14:creationId xmlns:p14="http://schemas.microsoft.com/office/powerpoint/2010/main" val="12485250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8DF0A-A131-B7B9-2E1E-B522F4335380}"/>
              </a:ext>
            </a:extLst>
          </p:cNvPr>
          <p:cNvSpPr>
            <a:spLocks noGrp="1"/>
          </p:cNvSpPr>
          <p:nvPr>
            <p:ph type="title"/>
          </p:nvPr>
        </p:nvSpPr>
        <p:spPr>
          <a:xfrm>
            <a:off x="1904189" y="0"/>
            <a:ext cx="6838595" cy="1309395"/>
          </a:xfrm>
        </p:spPr>
        <p:txBody>
          <a:bodyPr>
            <a:normAutofit/>
          </a:bodyPr>
          <a:lstStyle/>
          <a:p>
            <a:r>
              <a:rPr lang="en-US" sz="2800" b="1" dirty="0">
                <a:solidFill>
                  <a:srgbClr val="FFFFFF"/>
                </a:solidFill>
              </a:rPr>
              <a:t>             </a:t>
            </a:r>
            <a:r>
              <a:rPr lang="en-US" sz="2800" b="1" dirty="0" err="1">
                <a:solidFill>
                  <a:srgbClr val="FFFFFF"/>
                </a:solidFill>
              </a:rPr>
              <a:t>dmseg</a:t>
            </a:r>
            <a:r>
              <a:rPr lang="en-US" sz="2800" b="1" dirty="0">
                <a:solidFill>
                  <a:srgbClr val="FFFFFF"/>
                </a:solidFill>
              </a:rPr>
              <a:t> and </a:t>
            </a:r>
            <a:r>
              <a:rPr lang="en-US" sz="2800" b="1" dirty="0" err="1">
                <a:solidFill>
                  <a:srgbClr val="FFFFFF"/>
                </a:solidFill>
              </a:rPr>
              <a:t>journalctl</a:t>
            </a:r>
            <a:endParaRPr lang="en-US" dirty="0"/>
          </a:p>
        </p:txBody>
      </p:sp>
      <p:sp>
        <p:nvSpPr>
          <p:cNvPr id="3" name="Content Placeholder 2">
            <a:extLst>
              <a:ext uri="{FF2B5EF4-FFF2-40B4-BE49-F238E27FC236}">
                <a16:creationId xmlns:a16="http://schemas.microsoft.com/office/drawing/2014/main" id="{21BDE79D-35B7-E1F4-65E2-F82D672C5B7D}"/>
              </a:ext>
            </a:extLst>
          </p:cNvPr>
          <p:cNvSpPr>
            <a:spLocks noGrp="1"/>
          </p:cNvSpPr>
          <p:nvPr>
            <p:ph idx="1"/>
          </p:nvPr>
        </p:nvSpPr>
        <p:spPr>
          <a:xfrm>
            <a:off x="2394166" y="2359608"/>
            <a:ext cx="8596668" cy="3880773"/>
          </a:xfrm>
        </p:spPr>
        <p:txBody>
          <a:bodyPr>
            <a:normAutofit/>
          </a:bodyPr>
          <a:lstStyle/>
          <a:p>
            <a:r>
              <a:rPr lang="en-US" sz="1600" dirty="0" err="1">
                <a:solidFill>
                  <a:srgbClr val="E6E6E6"/>
                </a:solidFill>
              </a:rPr>
              <a:t>dmesg</a:t>
            </a:r>
            <a:r>
              <a:rPr lang="en-US" sz="1600" dirty="0">
                <a:solidFill>
                  <a:srgbClr val="E6E6E6"/>
                </a:solidFill>
              </a:rPr>
              <a:t> tools in </a:t>
            </a:r>
            <a:r>
              <a:rPr lang="en-US" sz="1600" dirty="0" err="1">
                <a:solidFill>
                  <a:srgbClr val="E6E6E6"/>
                </a:solidFill>
              </a:rPr>
              <a:t>unix</a:t>
            </a:r>
            <a:r>
              <a:rPr lang="en-US" sz="1600" dirty="0">
                <a:solidFill>
                  <a:srgbClr val="E6E6E6"/>
                </a:solidFill>
              </a:rPr>
              <a:t> that prints the message buffer of the kernel.</a:t>
            </a:r>
          </a:p>
          <a:p>
            <a:endParaRPr lang="en-US" sz="2000" dirty="0"/>
          </a:p>
          <a:p>
            <a:r>
              <a:rPr lang="en-US" sz="1600" dirty="0" err="1">
                <a:solidFill>
                  <a:srgbClr val="E6E6E6"/>
                </a:solidFill>
              </a:rPr>
              <a:t>Journalctl</a:t>
            </a:r>
            <a:r>
              <a:rPr lang="en-US" sz="1600" dirty="0">
                <a:solidFill>
                  <a:srgbClr val="E6E6E6"/>
                </a:solidFill>
              </a:rPr>
              <a:t> other command to display the kernel ring buffer’s contents </a:t>
            </a:r>
          </a:p>
          <a:p>
            <a:endParaRPr lang="en-US" sz="2000" dirty="0"/>
          </a:p>
          <a:p>
            <a:r>
              <a:rPr lang="en-US" sz="1600" dirty="0">
                <a:solidFill>
                  <a:srgbClr val="E6E6E6"/>
                </a:solidFill>
              </a:rPr>
              <a:t>for show boot’s log this path in /var/log</a:t>
            </a:r>
          </a:p>
          <a:p>
            <a:endParaRPr lang="en-US" sz="2000" dirty="0"/>
          </a:p>
          <a:p>
            <a:r>
              <a:rPr lang="en-US" sz="1600" dirty="0" err="1">
                <a:solidFill>
                  <a:srgbClr val="E6E6E6"/>
                </a:solidFill>
              </a:rPr>
              <a:t>grub.cfg</a:t>
            </a:r>
            <a:r>
              <a:rPr lang="en-US" sz="1600" dirty="0">
                <a:solidFill>
                  <a:srgbClr val="E6E6E6"/>
                </a:solidFill>
              </a:rPr>
              <a:t> or </a:t>
            </a:r>
            <a:r>
              <a:rPr lang="en-US" sz="1600" dirty="0" err="1">
                <a:solidFill>
                  <a:srgbClr val="E6E6E6"/>
                </a:solidFill>
              </a:rPr>
              <a:t>menu.list</a:t>
            </a:r>
            <a:r>
              <a:rPr lang="en-US" sz="1600" dirty="0">
                <a:solidFill>
                  <a:srgbClr val="E6E6E6"/>
                </a:solidFill>
              </a:rPr>
              <a:t> in </a:t>
            </a:r>
            <a:r>
              <a:rPr lang="en-US" sz="1600" dirty="0" err="1">
                <a:solidFill>
                  <a:srgbClr val="E6E6E6"/>
                </a:solidFill>
              </a:rPr>
              <a:t>linux</a:t>
            </a:r>
            <a:r>
              <a:rPr lang="en-US" sz="1600" dirty="0">
                <a:solidFill>
                  <a:srgbClr val="E6E6E6"/>
                </a:solidFill>
              </a:rPr>
              <a:t> for config boot menus in </a:t>
            </a:r>
            <a:r>
              <a:rPr lang="en-US" sz="1600" dirty="0" err="1">
                <a:solidFill>
                  <a:srgbClr val="E6E6E6"/>
                </a:solidFill>
              </a:rPr>
              <a:t>rhel</a:t>
            </a:r>
            <a:r>
              <a:rPr lang="en-US" sz="1600" dirty="0">
                <a:solidFill>
                  <a:srgbClr val="E6E6E6"/>
                </a:solidFill>
              </a:rPr>
              <a:t> </a:t>
            </a:r>
            <a:r>
              <a:rPr lang="en-US" sz="1600" dirty="0" err="1">
                <a:solidFill>
                  <a:srgbClr val="E6E6E6"/>
                </a:solidFill>
              </a:rPr>
              <a:t>grub.conf</a:t>
            </a:r>
            <a:endParaRPr lang="en-US" sz="2000" dirty="0"/>
          </a:p>
          <a:p>
            <a:r>
              <a:rPr lang="en-US" sz="1600" dirty="0" err="1">
                <a:solidFill>
                  <a:srgbClr val="E6E6E6"/>
                </a:solidFill>
              </a:rPr>
              <a:t>Menus.list</a:t>
            </a:r>
            <a:r>
              <a:rPr lang="en-US" sz="1600" dirty="0">
                <a:solidFill>
                  <a:srgbClr val="E6E6E6"/>
                </a:solidFill>
              </a:rPr>
              <a:t> in </a:t>
            </a:r>
            <a:r>
              <a:rPr lang="en-US" sz="1600" dirty="0" err="1">
                <a:solidFill>
                  <a:srgbClr val="E6E6E6"/>
                </a:solidFill>
              </a:rPr>
              <a:t>debian</a:t>
            </a:r>
            <a:endParaRPr lang="en-US" sz="2000" dirty="0"/>
          </a:p>
          <a:p>
            <a:endParaRPr lang="en-US" sz="2000" dirty="0"/>
          </a:p>
          <a:p>
            <a:endParaRPr lang="en-US" sz="2000" dirty="0"/>
          </a:p>
        </p:txBody>
      </p:sp>
    </p:spTree>
    <p:extLst>
      <p:ext uri="{BB962C8B-B14F-4D97-AF65-F5344CB8AC3E}">
        <p14:creationId xmlns:p14="http://schemas.microsoft.com/office/powerpoint/2010/main" val="8176966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7B2C1-AB57-78C8-4256-2872E602761D}"/>
              </a:ext>
            </a:extLst>
          </p:cNvPr>
          <p:cNvSpPr>
            <a:spLocks noGrp="1"/>
          </p:cNvSpPr>
          <p:nvPr>
            <p:ph type="title"/>
          </p:nvPr>
        </p:nvSpPr>
        <p:spPr>
          <a:xfrm>
            <a:off x="0" y="194906"/>
            <a:ext cx="9226355" cy="507999"/>
          </a:xfrm>
        </p:spPr>
        <p:txBody>
          <a:bodyPr>
            <a:normAutofit fontScale="90000"/>
          </a:bodyPr>
          <a:lstStyle/>
          <a:p>
            <a:r>
              <a:rPr lang="en-US" sz="2800" b="1" dirty="0">
                <a:solidFill>
                  <a:srgbClr val="FFFFFF"/>
                </a:solidFill>
              </a:rPr>
              <a:t>                       boot</a:t>
            </a:r>
          </a:p>
        </p:txBody>
      </p:sp>
      <p:sp>
        <p:nvSpPr>
          <p:cNvPr id="3" name="Content Placeholder 2">
            <a:extLst>
              <a:ext uri="{FF2B5EF4-FFF2-40B4-BE49-F238E27FC236}">
                <a16:creationId xmlns:a16="http://schemas.microsoft.com/office/drawing/2014/main" id="{DBF1E940-D161-BC62-BF64-23697AD963FA}"/>
              </a:ext>
            </a:extLst>
          </p:cNvPr>
          <p:cNvSpPr>
            <a:spLocks noGrp="1"/>
          </p:cNvSpPr>
          <p:nvPr>
            <p:ph idx="1"/>
          </p:nvPr>
        </p:nvSpPr>
        <p:spPr>
          <a:xfrm>
            <a:off x="1544086" y="1337113"/>
            <a:ext cx="9466035" cy="4766144"/>
          </a:xfrm>
        </p:spPr>
        <p:txBody>
          <a:bodyPr>
            <a:normAutofit/>
          </a:bodyPr>
          <a:lstStyle/>
          <a:p>
            <a:r>
              <a:rPr lang="en-US" sz="1600" dirty="0">
                <a:solidFill>
                  <a:srgbClr val="E6E6E6"/>
                </a:solidFill>
              </a:rPr>
              <a:t>The boot loader program isn’t required to point directly to an operating system kernel file—it can point to any type of program, including another boot loader program. You can create a primary boot loader program that points to a secondary boot loader program, which provides options to load multiple operating systems. This process is called </a:t>
            </a:r>
            <a:r>
              <a:rPr lang="en-US" sz="1600" dirty="0" err="1">
                <a:solidFill>
                  <a:srgbClr val="E6E6E6"/>
                </a:solidFill>
              </a:rPr>
              <a:t>chainloading</a:t>
            </a:r>
            <a:r>
              <a:rPr lang="en-US" sz="1600" dirty="0">
                <a:solidFill>
                  <a:srgbClr val="E6E6E6"/>
                </a:solidFill>
              </a:rPr>
              <a:t>.</a:t>
            </a:r>
          </a:p>
          <a:p>
            <a:endParaRPr lang="en-US" sz="2000" dirty="0"/>
          </a:p>
          <a:p>
            <a:r>
              <a:rPr lang="en-US" sz="1600" dirty="0">
                <a:solidFill>
                  <a:srgbClr val="E6E6E6"/>
                </a:solidFill>
              </a:rPr>
              <a:t>Boot in </a:t>
            </a:r>
            <a:r>
              <a:rPr lang="en-US" sz="1600" dirty="0" err="1">
                <a:solidFill>
                  <a:srgbClr val="E6E6E6"/>
                </a:solidFill>
              </a:rPr>
              <a:t>uefi</a:t>
            </a:r>
            <a:r>
              <a:rPr lang="en-US" sz="1600" dirty="0">
                <a:solidFill>
                  <a:srgbClr val="E6E6E6"/>
                </a:solidFill>
              </a:rPr>
              <a:t> On Linux systems, the ESP is typically mounted in the /boot/</a:t>
            </a:r>
            <a:r>
              <a:rPr lang="en-US" sz="1600" dirty="0" err="1">
                <a:solidFill>
                  <a:srgbClr val="E6E6E6"/>
                </a:solidFill>
              </a:rPr>
              <a:t>efi</a:t>
            </a:r>
            <a:r>
              <a:rPr lang="en-US" sz="1600" dirty="0">
                <a:solidFill>
                  <a:srgbClr val="E6E6E6"/>
                </a:solidFill>
              </a:rPr>
              <a:t>/ directory, and the boot loader fi les are commonly stored using the .</a:t>
            </a:r>
            <a:r>
              <a:rPr lang="en-US" sz="1600" dirty="0" err="1">
                <a:solidFill>
                  <a:srgbClr val="E6E6E6"/>
                </a:solidFill>
              </a:rPr>
              <a:t>efi</a:t>
            </a:r>
            <a:r>
              <a:rPr lang="en-US" sz="1600" dirty="0">
                <a:solidFill>
                  <a:srgbClr val="E6E6E6"/>
                </a:solidFill>
              </a:rPr>
              <a:t> fi </a:t>
            </a:r>
            <a:r>
              <a:rPr lang="en-US" sz="1600" dirty="0" err="1">
                <a:solidFill>
                  <a:srgbClr val="E6E6E6"/>
                </a:solidFill>
              </a:rPr>
              <a:t>lename</a:t>
            </a:r>
            <a:r>
              <a:rPr lang="en-US" sz="1600" dirty="0">
                <a:solidFill>
                  <a:srgbClr val="E6E6E6"/>
                </a:solidFill>
              </a:rPr>
              <a:t> extension.</a:t>
            </a:r>
          </a:p>
        </p:txBody>
      </p:sp>
    </p:spTree>
    <p:extLst>
      <p:ext uri="{BB962C8B-B14F-4D97-AF65-F5344CB8AC3E}">
        <p14:creationId xmlns:p14="http://schemas.microsoft.com/office/powerpoint/2010/main" val="244590777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E5856-C9DE-C12D-8F29-A59DAFB06C52}"/>
              </a:ext>
            </a:extLst>
          </p:cNvPr>
          <p:cNvSpPr>
            <a:spLocks noGrp="1"/>
          </p:cNvSpPr>
          <p:nvPr>
            <p:ph type="title"/>
          </p:nvPr>
        </p:nvSpPr>
        <p:spPr>
          <a:xfrm>
            <a:off x="1120417" y="37322"/>
            <a:ext cx="7146505" cy="1391572"/>
          </a:xfrm>
        </p:spPr>
        <p:txBody>
          <a:bodyPr/>
          <a:lstStyle/>
          <a:p>
            <a:r>
              <a:rPr lang="en-US" sz="2800" b="1" dirty="0">
                <a:solidFill>
                  <a:srgbClr val="FFFFFF"/>
                </a:solidFill>
              </a:rPr>
              <a:t>                           boot</a:t>
            </a:r>
          </a:p>
        </p:txBody>
      </p:sp>
      <p:sp>
        <p:nvSpPr>
          <p:cNvPr id="3" name="Content Placeholder 2">
            <a:extLst>
              <a:ext uri="{FF2B5EF4-FFF2-40B4-BE49-F238E27FC236}">
                <a16:creationId xmlns:a16="http://schemas.microsoft.com/office/drawing/2014/main" id="{CE25F26A-A589-EF14-A15F-EEB231EA8577}"/>
              </a:ext>
            </a:extLst>
          </p:cNvPr>
          <p:cNvSpPr>
            <a:spLocks noGrp="1"/>
          </p:cNvSpPr>
          <p:nvPr>
            <p:ph idx="1"/>
          </p:nvPr>
        </p:nvSpPr>
        <p:spPr>
          <a:xfrm>
            <a:off x="1908974" y="1967722"/>
            <a:ext cx="8596668" cy="3880773"/>
          </a:xfrm>
        </p:spPr>
        <p:txBody>
          <a:bodyPr>
            <a:normAutofit/>
          </a:bodyPr>
          <a:lstStyle/>
          <a:p>
            <a:r>
              <a:rPr lang="en-US" sz="1600" dirty="0">
                <a:solidFill>
                  <a:srgbClr val="E6E6E6"/>
                </a:solidFill>
              </a:rPr>
              <a:t>If you’re not sure whether your system is using UEFI, you can easily check. After the Linux system boots, issue the command ls /sys/firmware/</a:t>
            </a:r>
            <a:r>
              <a:rPr lang="en-US" sz="1600" dirty="0" err="1">
                <a:solidFill>
                  <a:srgbClr val="E6E6E6"/>
                </a:solidFill>
              </a:rPr>
              <a:t>efi</a:t>
            </a:r>
            <a:r>
              <a:rPr lang="en-US" sz="1600" dirty="0">
                <a:solidFill>
                  <a:srgbClr val="E6E6E6"/>
                </a:solidFill>
              </a:rPr>
              <a:t>. If you receive a no such file or directory message, then you’re employing BIOS. On the other hand, if you see files, then your system booted using UEFI.</a:t>
            </a:r>
          </a:p>
          <a:p>
            <a:r>
              <a:rPr lang="en-US" sz="1600" dirty="0">
                <a:solidFill>
                  <a:srgbClr val="E6E6E6"/>
                </a:solidFill>
              </a:rPr>
              <a:t>Color</a:t>
            </a:r>
          </a:p>
          <a:p>
            <a:r>
              <a:rPr lang="en-US" sz="1600" dirty="0">
                <a:solidFill>
                  <a:srgbClr val="E6E6E6"/>
                </a:solidFill>
              </a:rPr>
              <a:t>Default</a:t>
            </a:r>
          </a:p>
          <a:p>
            <a:r>
              <a:rPr lang="en-US" sz="1600" dirty="0">
                <a:solidFill>
                  <a:srgbClr val="E6E6E6"/>
                </a:solidFill>
              </a:rPr>
              <a:t>Fallback</a:t>
            </a:r>
          </a:p>
          <a:p>
            <a:r>
              <a:rPr lang="en-US" sz="1600" dirty="0" err="1">
                <a:solidFill>
                  <a:srgbClr val="E6E6E6"/>
                </a:solidFill>
              </a:rPr>
              <a:t>Splashimage</a:t>
            </a:r>
            <a:endParaRPr lang="en-US" sz="2000" dirty="0"/>
          </a:p>
          <a:p>
            <a:r>
              <a:rPr lang="en-US" sz="1600" dirty="0">
                <a:solidFill>
                  <a:srgbClr val="E6E6E6"/>
                </a:solidFill>
              </a:rPr>
              <a:t>timeout</a:t>
            </a:r>
          </a:p>
        </p:txBody>
      </p:sp>
    </p:spTree>
    <p:extLst>
      <p:ext uri="{BB962C8B-B14F-4D97-AF65-F5344CB8AC3E}">
        <p14:creationId xmlns:p14="http://schemas.microsoft.com/office/powerpoint/2010/main" val="177608167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1D503-7440-5A6C-524D-E272D67E9415}"/>
              </a:ext>
            </a:extLst>
          </p:cNvPr>
          <p:cNvSpPr>
            <a:spLocks noGrp="1"/>
          </p:cNvSpPr>
          <p:nvPr>
            <p:ph type="title"/>
          </p:nvPr>
        </p:nvSpPr>
        <p:spPr>
          <a:xfrm>
            <a:off x="2277414" y="270587"/>
            <a:ext cx="5942856" cy="684244"/>
          </a:xfrm>
        </p:spPr>
        <p:txBody>
          <a:bodyPr>
            <a:normAutofit fontScale="90000"/>
          </a:bodyPr>
          <a:lstStyle/>
          <a:p>
            <a:r>
              <a:rPr lang="en-US" sz="2800" b="1" dirty="0">
                <a:solidFill>
                  <a:srgbClr val="FFFFFF"/>
                </a:solidFill>
              </a:rPr>
              <a:t>                           boot</a:t>
            </a:r>
          </a:p>
        </p:txBody>
      </p:sp>
      <p:sp>
        <p:nvSpPr>
          <p:cNvPr id="3" name="Content Placeholder 2">
            <a:extLst>
              <a:ext uri="{FF2B5EF4-FFF2-40B4-BE49-F238E27FC236}">
                <a16:creationId xmlns:a16="http://schemas.microsoft.com/office/drawing/2014/main" id="{CADD913D-E4CB-6F37-1BAB-8C48785DF500}"/>
              </a:ext>
            </a:extLst>
          </p:cNvPr>
          <p:cNvSpPr>
            <a:spLocks noGrp="1"/>
          </p:cNvSpPr>
          <p:nvPr>
            <p:ph idx="1"/>
          </p:nvPr>
        </p:nvSpPr>
        <p:spPr>
          <a:xfrm>
            <a:off x="1918306" y="1958392"/>
            <a:ext cx="8596668" cy="3880773"/>
          </a:xfrm>
        </p:spPr>
        <p:txBody>
          <a:bodyPr>
            <a:normAutofit/>
          </a:bodyPr>
          <a:lstStyle/>
          <a:p>
            <a:r>
              <a:rPr lang="en-US" sz="1600" dirty="0">
                <a:solidFill>
                  <a:srgbClr val="E6E6E6"/>
                </a:solidFill>
              </a:rPr>
              <a:t>grub-install /dev/</a:t>
            </a:r>
            <a:r>
              <a:rPr lang="en-US" sz="1600" dirty="0" err="1">
                <a:solidFill>
                  <a:srgbClr val="E6E6E6"/>
                </a:solidFill>
              </a:rPr>
              <a:t>sda</a:t>
            </a:r>
            <a:r>
              <a:rPr lang="en-US" sz="1600" dirty="0">
                <a:solidFill>
                  <a:srgbClr val="E6E6E6"/>
                </a:solidFill>
              </a:rPr>
              <a:t>  install grub</a:t>
            </a:r>
          </a:p>
          <a:p>
            <a:endParaRPr lang="en-US" sz="2000" dirty="0"/>
          </a:p>
          <a:p>
            <a:r>
              <a:rPr lang="en-US" sz="1600" dirty="0">
                <a:solidFill>
                  <a:srgbClr val="E6E6E6"/>
                </a:solidFill>
              </a:rPr>
              <a:t>grub-install '(hd0)’  means first hard    -v show version grub</a:t>
            </a:r>
          </a:p>
          <a:p>
            <a:endParaRPr lang="en-US" sz="2000" dirty="0"/>
          </a:p>
          <a:p>
            <a:r>
              <a:rPr lang="en-US" sz="1600" dirty="0">
                <a:solidFill>
                  <a:srgbClr val="E6E6E6"/>
                </a:solidFill>
              </a:rPr>
              <a:t>grub-install '</a:t>
            </a:r>
            <a:r>
              <a:rPr lang="en-US" sz="1600" dirty="0" err="1">
                <a:solidFill>
                  <a:srgbClr val="E6E6E6"/>
                </a:solidFill>
              </a:rPr>
              <a:t>hd</a:t>
            </a:r>
            <a:r>
              <a:rPr lang="en-US" sz="1600" dirty="0">
                <a:solidFill>
                  <a:srgbClr val="E6E6E6"/>
                </a:solidFill>
              </a:rPr>
              <a:t>(0,0)’   that used for </a:t>
            </a:r>
            <a:r>
              <a:rPr lang="en-US" sz="1600" dirty="0" err="1">
                <a:solidFill>
                  <a:srgbClr val="E6E6E6"/>
                </a:solidFill>
              </a:rPr>
              <a:t>chainloading</a:t>
            </a:r>
            <a:r>
              <a:rPr lang="en-US" sz="1600" dirty="0">
                <a:solidFill>
                  <a:srgbClr val="E6E6E6"/>
                </a:solidFill>
              </a:rPr>
              <a:t> and install a copy of GRUB Legacy on the boot sector of a partition instead of to the MBR of a hard drive, you must specify the partition, again using either the Linux or the GRUB format.</a:t>
            </a:r>
          </a:p>
          <a:p>
            <a:endParaRPr lang="en-US" sz="2000" dirty="0"/>
          </a:p>
          <a:p>
            <a:endParaRPr lang="en-US" sz="2000" dirty="0"/>
          </a:p>
        </p:txBody>
      </p:sp>
    </p:spTree>
    <p:extLst>
      <p:ext uri="{BB962C8B-B14F-4D97-AF65-F5344CB8AC3E}">
        <p14:creationId xmlns:p14="http://schemas.microsoft.com/office/powerpoint/2010/main" val="249747075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A6F3D-822E-F642-0BC6-D26B12D4ABAA}"/>
              </a:ext>
            </a:extLst>
          </p:cNvPr>
          <p:cNvSpPr>
            <a:spLocks noGrp="1"/>
          </p:cNvSpPr>
          <p:nvPr>
            <p:ph type="title"/>
          </p:nvPr>
        </p:nvSpPr>
        <p:spPr>
          <a:xfrm>
            <a:off x="594360" y="358401"/>
            <a:ext cx="10515600" cy="1325563"/>
          </a:xfrm>
        </p:spPr>
        <p:txBody>
          <a:bodyPr/>
          <a:lstStyle/>
          <a:p>
            <a:r>
              <a:rPr lang="en-US" sz="2800" b="1" dirty="0">
                <a:solidFill>
                  <a:srgbClr val="FFFFFF"/>
                </a:solidFill>
              </a:rPr>
              <a:t>                                  boot</a:t>
            </a:r>
          </a:p>
        </p:txBody>
      </p:sp>
      <p:sp>
        <p:nvSpPr>
          <p:cNvPr id="3" name="Content Placeholder 2">
            <a:extLst>
              <a:ext uri="{FF2B5EF4-FFF2-40B4-BE49-F238E27FC236}">
                <a16:creationId xmlns:a16="http://schemas.microsoft.com/office/drawing/2014/main" id="{83A09A46-2DCF-B0AE-BFE6-2B6EBAD97C44}"/>
              </a:ext>
            </a:extLst>
          </p:cNvPr>
          <p:cNvSpPr>
            <a:spLocks noGrp="1"/>
          </p:cNvSpPr>
          <p:nvPr>
            <p:ph idx="1"/>
          </p:nvPr>
        </p:nvSpPr>
        <p:spPr>
          <a:xfrm>
            <a:off x="594360" y="1812177"/>
            <a:ext cx="10515600" cy="4351338"/>
          </a:xfrm>
        </p:spPr>
        <p:txBody>
          <a:bodyPr>
            <a:normAutofit/>
          </a:bodyPr>
          <a:lstStyle/>
          <a:p>
            <a:r>
              <a:rPr lang="en-US" sz="1600" dirty="0">
                <a:solidFill>
                  <a:srgbClr val="E6E6E6"/>
                </a:solidFill>
              </a:rPr>
              <a:t>grub vs grub2</a:t>
            </a:r>
          </a:p>
          <a:p>
            <a:r>
              <a:rPr lang="en-US" sz="1600" b="1" dirty="0">
                <a:solidFill>
                  <a:srgbClr val="E6E6E6"/>
                </a:solidFill>
              </a:rPr>
              <a:t>the legacy version of Grub requires that its config files are manually created, the config files for Grub2 are created automatically by a scripting process</a:t>
            </a:r>
            <a:endParaRPr lang="en-US" sz="2400" dirty="0"/>
          </a:p>
          <a:p>
            <a:pPr marL="0" indent="0">
              <a:buNone/>
            </a:pPr>
            <a:endParaRPr lang="en-US" sz="2400" dirty="0"/>
          </a:p>
          <a:p>
            <a:r>
              <a:rPr lang="en-US" sz="1600" dirty="0">
                <a:solidFill>
                  <a:srgbClr val="E6E6E6"/>
                </a:solidFill>
              </a:rPr>
              <a:t>grub2-mkconfig &gt; /boot/grub2/</a:t>
            </a:r>
            <a:r>
              <a:rPr lang="en-US" sz="1600" dirty="0" err="1">
                <a:solidFill>
                  <a:srgbClr val="E6E6E6"/>
                </a:solidFill>
              </a:rPr>
              <a:t>grub.cfg</a:t>
            </a:r>
            <a:r>
              <a:rPr lang="en-US" sz="1600" dirty="0">
                <a:solidFill>
                  <a:srgbClr val="E6E6E6"/>
                </a:solidFill>
              </a:rPr>
              <a:t>   </a:t>
            </a:r>
          </a:p>
          <a:p>
            <a:r>
              <a:rPr lang="en-US" sz="1600" dirty="0">
                <a:solidFill>
                  <a:srgbClr val="E6E6E6"/>
                </a:solidFill>
              </a:rPr>
              <a:t>you don’t need to install GRUB2. All you need to do is to rebuild the main installation file. This is done by running either the grub-</a:t>
            </a:r>
            <a:r>
              <a:rPr lang="en-US" sz="1600" dirty="0" err="1">
                <a:solidFill>
                  <a:srgbClr val="E6E6E6"/>
                </a:solidFill>
              </a:rPr>
              <a:t>mkconfi</a:t>
            </a:r>
            <a:r>
              <a:rPr lang="en-US" sz="1600" dirty="0">
                <a:solidFill>
                  <a:srgbClr val="E6E6E6"/>
                </a:solidFill>
              </a:rPr>
              <a:t> g or grub2-mkconfi g program. They are essentially equivalent programs but may not both be installed on your system.  </a:t>
            </a:r>
          </a:p>
        </p:txBody>
      </p:sp>
    </p:spTree>
    <p:extLst>
      <p:ext uri="{BB962C8B-B14F-4D97-AF65-F5344CB8AC3E}">
        <p14:creationId xmlns:p14="http://schemas.microsoft.com/office/powerpoint/2010/main" val="10341371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0C58-E47E-EE6A-C706-7B130061760F}"/>
              </a:ext>
            </a:extLst>
          </p:cNvPr>
          <p:cNvSpPr>
            <a:spLocks noGrp="1"/>
          </p:cNvSpPr>
          <p:nvPr>
            <p:ph type="title"/>
          </p:nvPr>
        </p:nvSpPr>
        <p:spPr/>
        <p:txBody>
          <a:bodyPr>
            <a:normAutofit/>
          </a:bodyPr>
          <a:lstStyle/>
          <a:p>
            <a:r>
              <a:rPr lang="fa-IR" sz="2800" b="1" dirty="0">
                <a:solidFill>
                  <a:srgbClr val="FFFFFF"/>
                </a:solidFill>
              </a:rPr>
              <a:t>        </a:t>
            </a:r>
            <a:r>
              <a:rPr lang="en-US" sz="2800" b="1" dirty="0">
                <a:solidFill>
                  <a:srgbClr val="FFFFFF"/>
                </a:solidFill>
              </a:rPr>
              <a:t>Using Alternative Boot Loaders</a:t>
            </a:r>
          </a:p>
        </p:txBody>
      </p:sp>
      <p:sp>
        <p:nvSpPr>
          <p:cNvPr id="3" name="Content Placeholder 2">
            <a:extLst>
              <a:ext uri="{FF2B5EF4-FFF2-40B4-BE49-F238E27FC236}">
                <a16:creationId xmlns:a16="http://schemas.microsoft.com/office/drawing/2014/main" id="{FCEE17ED-22BB-1A21-D301-6DA3FB9A0BF9}"/>
              </a:ext>
            </a:extLst>
          </p:cNvPr>
          <p:cNvSpPr>
            <a:spLocks noGrp="1"/>
          </p:cNvSpPr>
          <p:nvPr>
            <p:ph idx="1"/>
          </p:nvPr>
        </p:nvSpPr>
        <p:spPr/>
        <p:txBody>
          <a:bodyPr>
            <a:normAutofit/>
          </a:bodyPr>
          <a:lstStyle/>
          <a:p>
            <a:r>
              <a:rPr lang="en-US" sz="1600" dirty="0">
                <a:solidFill>
                  <a:srgbClr val="E6E6E6"/>
                </a:solidFill>
              </a:rPr>
              <a:t>EXTLINUX: A mini-boot loader for booting from an ext2, ext3, ext4</a:t>
            </a:r>
            <a:endParaRPr lang="fa-IR" sz="2000" dirty="0"/>
          </a:p>
          <a:p>
            <a:r>
              <a:rPr lang="en-US" sz="1600" dirty="0">
                <a:solidFill>
                  <a:srgbClr val="E6E6E6"/>
                </a:solidFill>
              </a:rPr>
              <a:t>ISOLINUX: A boot loader for booting from a </a:t>
            </a:r>
            <a:r>
              <a:rPr lang="en-US" sz="1600" dirty="0" err="1">
                <a:solidFill>
                  <a:srgbClr val="E6E6E6"/>
                </a:solidFill>
              </a:rPr>
              <a:t>LiveCD</a:t>
            </a:r>
            <a:r>
              <a:rPr lang="en-US" sz="1600" dirty="0">
                <a:solidFill>
                  <a:srgbClr val="E6E6E6"/>
                </a:solidFill>
              </a:rPr>
              <a:t> or </a:t>
            </a:r>
            <a:r>
              <a:rPr lang="en-US" sz="1600" dirty="0" err="1">
                <a:solidFill>
                  <a:srgbClr val="E6E6E6"/>
                </a:solidFill>
              </a:rPr>
              <a:t>LiveDVD</a:t>
            </a:r>
            <a:endParaRPr lang="fa-IR" sz="2000" dirty="0"/>
          </a:p>
          <a:p>
            <a:r>
              <a:rPr lang="en-US" sz="1600" dirty="0">
                <a:solidFill>
                  <a:srgbClr val="E6E6E6"/>
                </a:solidFill>
              </a:rPr>
              <a:t> PXELINUX: A boot loader for booting from a network server </a:t>
            </a:r>
            <a:endParaRPr lang="fa-IR" sz="2000" dirty="0"/>
          </a:p>
          <a:p>
            <a:r>
              <a:rPr lang="en-US" sz="1600" dirty="0">
                <a:solidFill>
                  <a:srgbClr val="E6E6E6"/>
                </a:solidFill>
              </a:rPr>
              <a:t>MEMDISK: A utility for booting older DOS operating systems from the other SYSLINUX project boot loaders </a:t>
            </a:r>
          </a:p>
        </p:txBody>
      </p:sp>
    </p:spTree>
    <p:extLst>
      <p:ext uri="{BB962C8B-B14F-4D97-AF65-F5344CB8AC3E}">
        <p14:creationId xmlns:p14="http://schemas.microsoft.com/office/powerpoint/2010/main" val="215337666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83A85-74DC-421D-CE0F-B5CD1DEE2FF6}"/>
              </a:ext>
            </a:extLst>
          </p:cNvPr>
          <p:cNvSpPr>
            <a:spLocks noGrp="1"/>
          </p:cNvSpPr>
          <p:nvPr>
            <p:ph type="title"/>
          </p:nvPr>
        </p:nvSpPr>
        <p:spPr>
          <a:xfrm>
            <a:off x="1007707" y="149290"/>
            <a:ext cx="7371184" cy="1132113"/>
          </a:xfrm>
        </p:spPr>
        <p:txBody>
          <a:bodyPr>
            <a:normAutofit/>
          </a:bodyPr>
          <a:lstStyle/>
          <a:p>
            <a:r>
              <a:rPr lang="fa-IR" sz="2800" b="1" dirty="0">
                <a:solidFill>
                  <a:srgbClr val="FFFFFF"/>
                </a:solidFill>
              </a:rPr>
              <a:t>                  </a:t>
            </a:r>
            <a:r>
              <a:rPr lang="en-US" sz="2800" b="1" dirty="0">
                <a:solidFill>
                  <a:srgbClr val="FFFFFF"/>
                </a:solidFill>
              </a:rPr>
              <a:t>Initialization Process </a:t>
            </a:r>
          </a:p>
        </p:txBody>
      </p:sp>
      <p:sp>
        <p:nvSpPr>
          <p:cNvPr id="3" name="Content Placeholder 2">
            <a:extLst>
              <a:ext uri="{FF2B5EF4-FFF2-40B4-BE49-F238E27FC236}">
                <a16:creationId xmlns:a16="http://schemas.microsoft.com/office/drawing/2014/main" id="{E1CE3D88-5C01-6F8C-ED07-34AA9CD844A7}"/>
              </a:ext>
            </a:extLst>
          </p:cNvPr>
          <p:cNvSpPr>
            <a:spLocks noGrp="1"/>
          </p:cNvSpPr>
          <p:nvPr>
            <p:ph idx="1"/>
          </p:nvPr>
        </p:nvSpPr>
        <p:spPr>
          <a:xfrm>
            <a:off x="1484310" y="1763487"/>
            <a:ext cx="10113641" cy="4027714"/>
          </a:xfrm>
        </p:spPr>
        <p:txBody>
          <a:bodyPr>
            <a:normAutofit/>
          </a:bodyPr>
          <a:lstStyle/>
          <a:p>
            <a:r>
              <a:rPr lang="en-US" sz="1600" dirty="0">
                <a:solidFill>
                  <a:srgbClr val="E6E6E6"/>
                </a:solidFill>
              </a:rPr>
              <a:t>After your Linux system has traversed the boot process, it enters final system initialization, where it needs to start various services. A service, or daemon, is a program that performs a particular duty</a:t>
            </a:r>
            <a:r>
              <a:rPr lang="fa-IR" sz="1600" dirty="0">
                <a:solidFill>
                  <a:srgbClr val="E6E6E6"/>
                </a:solidFill>
              </a:rPr>
              <a:t>.</a:t>
            </a:r>
          </a:p>
          <a:p>
            <a:r>
              <a:rPr lang="en-US" sz="1600" dirty="0">
                <a:solidFill>
                  <a:srgbClr val="E6E6E6"/>
                </a:solidFill>
              </a:rPr>
              <a:t>The initialization daemon ( </a:t>
            </a:r>
            <a:r>
              <a:rPr lang="en-US" sz="1600" dirty="0" err="1">
                <a:solidFill>
                  <a:srgbClr val="E6E6E6"/>
                </a:solidFill>
              </a:rPr>
              <a:t>init</a:t>
            </a:r>
            <a:r>
              <a:rPr lang="en-US" sz="1600" dirty="0">
                <a:solidFill>
                  <a:srgbClr val="E6E6E6"/>
                </a:solidFill>
              </a:rPr>
              <a:t> ) determines which services are started and in what order. This daemon also allows you to stop and manage the various system services. There are two initialization daemons with which you should be familiar</a:t>
            </a:r>
            <a:endParaRPr lang="fa-IR" sz="2000" dirty="0"/>
          </a:p>
          <a:p>
            <a:r>
              <a:rPr lang="en-US" sz="1600" dirty="0" err="1">
                <a:solidFill>
                  <a:srgbClr val="E6E6E6"/>
                </a:solidFill>
              </a:rPr>
              <a:t>SysVinit</a:t>
            </a:r>
            <a:r>
              <a:rPr lang="en-US" sz="1600" dirty="0">
                <a:solidFill>
                  <a:srgbClr val="E6E6E6"/>
                </a:solidFill>
              </a:rPr>
              <a:t> The </a:t>
            </a:r>
            <a:r>
              <a:rPr lang="en-US" sz="1600" dirty="0" err="1">
                <a:solidFill>
                  <a:srgbClr val="E6E6E6"/>
                </a:solidFill>
              </a:rPr>
              <a:t>SysVinit</a:t>
            </a:r>
            <a:r>
              <a:rPr lang="en-US" sz="1600" dirty="0">
                <a:solidFill>
                  <a:srgbClr val="E6E6E6"/>
                </a:solidFill>
              </a:rPr>
              <a:t> (</a:t>
            </a:r>
            <a:r>
              <a:rPr lang="en-US" sz="1600" dirty="0" err="1">
                <a:solidFill>
                  <a:srgbClr val="E6E6E6"/>
                </a:solidFill>
              </a:rPr>
              <a:t>SysV</a:t>
            </a:r>
            <a:r>
              <a:rPr lang="en-US" sz="1600" dirty="0">
                <a:solidFill>
                  <a:srgbClr val="E6E6E6"/>
                </a:solidFill>
              </a:rPr>
              <a:t>) was based on the Unix System V initialization daemon. Though it is not used by many major Linux distributions anymore, you still may fi </a:t>
            </a:r>
            <a:r>
              <a:rPr lang="en-US" sz="1600" dirty="0" err="1">
                <a:solidFill>
                  <a:srgbClr val="E6E6E6"/>
                </a:solidFill>
              </a:rPr>
              <a:t>nd</a:t>
            </a:r>
            <a:r>
              <a:rPr lang="en-US" sz="1600" dirty="0">
                <a:solidFill>
                  <a:srgbClr val="E6E6E6"/>
                </a:solidFill>
              </a:rPr>
              <a:t> it lurking around that older Linux server at your company</a:t>
            </a:r>
          </a:p>
        </p:txBody>
      </p:sp>
    </p:spTree>
    <p:extLst>
      <p:ext uri="{BB962C8B-B14F-4D97-AF65-F5344CB8AC3E}">
        <p14:creationId xmlns:p14="http://schemas.microsoft.com/office/powerpoint/2010/main" val="14493111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8C930-944F-B0D2-A0AD-807382D29B4A}"/>
              </a:ext>
            </a:extLst>
          </p:cNvPr>
          <p:cNvSpPr>
            <a:spLocks noGrp="1"/>
          </p:cNvSpPr>
          <p:nvPr>
            <p:ph type="title"/>
          </p:nvPr>
        </p:nvSpPr>
        <p:spPr>
          <a:xfrm>
            <a:off x="859161" y="381000"/>
            <a:ext cx="8434130" cy="1371599"/>
          </a:xfrm>
        </p:spPr>
        <p:txBody>
          <a:bodyPr/>
          <a:lstStyle/>
          <a:p>
            <a:r>
              <a:rPr lang="fa-IR" sz="2800" b="1" dirty="0">
                <a:solidFill>
                  <a:srgbClr val="FFFFFF"/>
                </a:solidFill>
              </a:rPr>
              <a:t>                  </a:t>
            </a:r>
            <a:r>
              <a:rPr lang="en-US" sz="2800" b="1" dirty="0">
                <a:solidFill>
                  <a:srgbClr val="FFFFFF"/>
                </a:solidFill>
              </a:rPr>
              <a:t>Initialization Process</a:t>
            </a:r>
          </a:p>
        </p:txBody>
      </p:sp>
      <p:sp>
        <p:nvSpPr>
          <p:cNvPr id="3" name="Content Placeholder 2">
            <a:extLst>
              <a:ext uri="{FF2B5EF4-FFF2-40B4-BE49-F238E27FC236}">
                <a16:creationId xmlns:a16="http://schemas.microsoft.com/office/drawing/2014/main" id="{1799E986-F133-9D48-1C44-A1B297BD72C0}"/>
              </a:ext>
            </a:extLst>
          </p:cNvPr>
          <p:cNvSpPr>
            <a:spLocks noGrp="1"/>
          </p:cNvSpPr>
          <p:nvPr>
            <p:ph idx="1"/>
          </p:nvPr>
        </p:nvSpPr>
        <p:spPr/>
        <p:txBody>
          <a:bodyPr>
            <a:normAutofit/>
          </a:bodyPr>
          <a:lstStyle/>
          <a:p>
            <a:r>
              <a:rPr lang="en-US" sz="1600" dirty="0" err="1">
                <a:solidFill>
                  <a:srgbClr val="E6E6E6"/>
                </a:solidFill>
              </a:rPr>
              <a:t>systemd</a:t>
            </a:r>
            <a:r>
              <a:rPr lang="en-US" sz="1600" dirty="0">
                <a:solidFill>
                  <a:srgbClr val="E6E6E6"/>
                </a:solidFill>
              </a:rPr>
              <a:t> The </a:t>
            </a:r>
            <a:r>
              <a:rPr lang="en-US" sz="1600" dirty="0" err="1">
                <a:solidFill>
                  <a:srgbClr val="E6E6E6"/>
                </a:solidFill>
              </a:rPr>
              <a:t>systemd</a:t>
            </a:r>
            <a:r>
              <a:rPr lang="en-US" sz="1600" dirty="0">
                <a:solidFill>
                  <a:srgbClr val="E6E6E6"/>
                </a:solidFill>
              </a:rPr>
              <a:t> initialization method is the new kid on the block. Started around 2010, it is now the most popular system service initialization and management mechanism. This daemon reduces initialization time by starting services in a parallel manner</a:t>
            </a:r>
            <a:r>
              <a:rPr lang="fa-IR" sz="1600" dirty="0">
                <a:solidFill>
                  <a:srgbClr val="E6E6E6"/>
                </a:solidFill>
              </a:rPr>
              <a:t>.</a:t>
            </a:r>
          </a:p>
          <a:p>
            <a:endParaRPr lang="fa-IR" sz="2000" dirty="0"/>
          </a:p>
          <a:p>
            <a:r>
              <a:rPr lang="en-US" sz="1600" dirty="0">
                <a:solidFill>
                  <a:srgbClr val="E6E6E6"/>
                </a:solidFill>
              </a:rPr>
              <a:t>which </a:t>
            </a:r>
            <a:r>
              <a:rPr lang="en-US" sz="1600" dirty="0" err="1">
                <a:solidFill>
                  <a:srgbClr val="E6E6E6"/>
                </a:solidFill>
              </a:rPr>
              <a:t>init</a:t>
            </a:r>
            <a:r>
              <a:rPr lang="fa-IR" sz="1600" dirty="0">
                <a:solidFill>
                  <a:srgbClr val="E6E6E6"/>
                </a:solidFill>
              </a:rPr>
              <a:t>                 </a:t>
            </a:r>
            <a:r>
              <a:rPr lang="en-US" sz="1600" dirty="0">
                <a:solidFill>
                  <a:srgbClr val="E6E6E6"/>
                </a:solidFill>
              </a:rPr>
              <a:t> finding </a:t>
            </a:r>
            <a:r>
              <a:rPr lang="en-US" sz="1600" dirty="0" err="1">
                <a:solidFill>
                  <a:srgbClr val="E6E6E6"/>
                </a:solidFill>
              </a:rPr>
              <a:t>init</a:t>
            </a:r>
            <a:r>
              <a:rPr lang="en-US" sz="1600" dirty="0">
                <a:solidFill>
                  <a:srgbClr val="E6E6E6"/>
                </a:solidFill>
              </a:rPr>
              <a:t> location</a:t>
            </a:r>
          </a:p>
          <a:p>
            <a:r>
              <a:rPr lang="en-US" sz="1600" dirty="0">
                <a:solidFill>
                  <a:srgbClr val="E6E6E6"/>
                </a:solidFill>
              </a:rPr>
              <a:t>utilize the </a:t>
            </a:r>
            <a:r>
              <a:rPr lang="en-US" sz="1600" dirty="0" err="1">
                <a:solidFill>
                  <a:srgbClr val="E6E6E6"/>
                </a:solidFill>
              </a:rPr>
              <a:t>readlink</a:t>
            </a:r>
            <a:r>
              <a:rPr lang="en-US" sz="1600" dirty="0">
                <a:solidFill>
                  <a:srgbClr val="E6E6E6"/>
                </a:solidFill>
              </a:rPr>
              <a:t> -f command to see if the program is linked to another program</a:t>
            </a:r>
          </a:p>
          <a:p>
            <a:r>
              <a:rPr lang="en-US" sz="1600" dirty="0" err="1">
                <a:solidFill>
                  <a:srgbClr val="E6E6E6"/>
                </a:solidFill>
              </a:rPr>
              <a:t>readlink</a:t>
            </a:r>
            <a:r>
              <a:rPr lang="en-US" sz="1600" dirty="0">
                <a:solidFill>
                  <a:srgbClr val="E6E6E6"/>
                </a:solidFill>
              </a:rPr>
              <a:t> -f /</a:t>
            </a:r>
            <a:r>
              <a:rPr lang="en-US" sz="1600" dirty="0" err="1">
                <a:solidFill>
                  <a:srgbClr val="E6E6E6"/>
                </a:solidFill>
              </a:rPr>
              <a:t>sbin</a:t>
            </a:r>
            <a:r>
              <a:rPr lang="en-US" sz="1600" dirty="0">
                <a:solidFill>
                  <a:srgbClr val="E6E6E6"/>
                </a:solidFill>
              </a:rPr>
              <a:t>/</a:t>
            </a:r>
            <a:r>
              <a:rPr lang="en-US" sz="1600" dirty="0" err="1">
                <a:solidFill>
                  <a:srgbClr val="E6E6E6"/>
                </a:solidFill>
              </a:rPr>
              <a:t>init</a:t>
            </a:r>
            <a:r>
              <a:rPr lang="en-US" sz="1600" dirty="0">
                <a:solidFill>
                  <a:srgbClr val="E6E6E6"/>
                </a:solidFill>
              </a:rPr>
              <a:t>                 </a:t>
            </a:r>
            <a:r>
              <a:rPr lang="en-US" sz="1600" dirty="0" err="1">
                <a:solidFill>
                  <a:srgbClr val="E6E6E6"/>
                </a:solidFill>
              </a:rPr>
              <a:t>pstree</a:t>
            </a:r>
            <a:r>
              <a:rPr lang="en-US" sz="1600" dirty="0">
                <a:solidFill>
                  <a:srgbClr val="E6E6E6"/>
                </a:solidFill>
              </a:rPr>
              <a:t> -p</a:t>
            </a:r>
            <a:r>
              <a:rPr lang="fa-IR" sz="1600" dirty="0">
                <a:solidFill>
                  <a:srgbClr val="E6E6E6"/>
                </a:solidFill>
              </a:rPr>
              <a:t> </a:t>
            </a:r>
          </a:p>
        </p:txBody>
      </p:sp>
    </p:spTree>
    <p:extLst>
      <p:ext uri="{BB962C8B-B14F-4D97-AF65-F5344CB8AC3E}">
        <p14:creationId xmlns:p14="http://schemas.microsoft.com/office/powerpoint/2010/main" val="10481735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92AFD-E152-598E-A705-C31CA5A22A20}"/>
              </a:ext>
            </a:extLst>
          </p:cNvPr>
          <p:cNvSpPr>
            <a:spLocks noGrp="1"/>
          </p:cNvSpPr>
          <p:nvPr>
            <p:ph type="title"/>
          </p:nvPr>
        </p:nvSpPr>
        <p:spPr>
          <a:xfrm>
            <a:off x="1717576" y="550507"/>
            <a:ext cx="6745289" cy="870856"/>
          </a:xfrm>
        </p:spPr>
        <p:txBody>
          <a:bodyPr/>
          <a:lstStyle/>
          <a:p>
            <a:r>
              <a:rPr lang="fa-IR" sz="2800" b="1" dirty="0">
                <a:solidFill>
                  <a:srgbClr val="FFFFFF"/>
                </a:solidFill>
              </a:rPr>
              <a:t> </a:t>
            </a:r>
            <a:r>
              <a:rPr lang="en-US" sz="2800" b="1" dirty="0">
                <a:solidFill>
                  <a:srgbClr val="FFFFFF"/>
                </a:solidFill>
              </a:rPr>
              <a:t>                      </a:t>
            </a:r>
            <a:r>
              <a:rPr lang="fa-IR" sz="2800" b="1" dirty="0">
                <a:solidFill>
                  <a:srgbClr val="FFFFFF"/>
                </a:solidFill>
              </a:rPr>
              <a:t>    </a:t>
            </a:r>
            <a:r>
              <a:rPr lang="en-US" sz="2800" b="1" dirty="0">
                <a:solidFill>
                  <a:srgbClr val="FFFFFF"/>
                </a:solidFill>
              </a:rPr>
              <a:t>unit</a:t>
            </a:r>
          </a:p>
        </p:txBody>
      </p:sp>
      <p:sp>
        <p:nvSpPr>
          <p:cNvPr id="3" name="Content Placeholder 2">
            <a:extLst>
              <a:ext uri="{FF2B5EF4-FFF2-40B4-BE49-F238E27FC236}">
                <a16:creationId xmlns:a16="http://schemas.microsoft.com/office/drawing/2014/main" id="{9AC934B7-EF7E-7A26-B40D-F4B45E6C01CC}"/>
              </a:ext>
            </a:extLst>
          </p:cNvPr>
          <p:cNvSpPr>
            <a:spLocks noGrp="1"/>
          </p:cNvSpPr>
          <p:nvPr>
            <p:ph idx="1"/>
          </p:nvPr>
        </p:nvSpPr>
        <p:spPr/>
        <p:txBody>
          <a:bodyPr>
            <a:normAutofit/>
          </a:bodyPr>
          <a:lstStyle/>
          <a:p>
            <a:r>
              <a:rPr lang="en-US" sz="1600" b="0" i="0" dirty="0">
                <a:solidFill>
                  <a:srgbClr val="E6E6E6"/>
                </a:solidFill>
                <a:effectLst/>
                <a:latin typeface="Arial" panose="020B0604020202020204" pitchFamily="34" charset="0"/>
              </a:rPr>
              <a:t>A unit is a systemd object that performs or controls a particular task or action. Systemd uses units to start/stop/manage services, organize boot process, maintain tasks and processes, create sockets, mount file-system and initialize hardware. A systemd unit consists of a name, type, and configuration file.</a:t>
            </a:r>
            <a:endParaRPr lang="en-US" sz="2400" dirty="0"/>
          </a:p>
        </p:txBody>
      </p:sp>
    </p:spTree>
    <p:extLst>
      <p:ext uri="{BB962C8B-B14F-4D97-AF65-F5344CB8AC3E}">
        <p14:creationId xmlns:p14="http://schemas.microsoft.com/office/powerpoint/2010/main" val="6511375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F52FE-D767-BBF7-8B61-781172A1D280}"/>
              </a:ext>
            </a:extLst>
          </p:cNvPr>
          <p:cNvSpPr>
            <a:spLocks noGrp="1"/>
          </p:cNvSpPr>
          <p:nvPr>
            <p:ph type="title"/>
          </p:nvPr>
        </p:nvSpPr>
        <p:spPr>
          <a:xfrm>
            <a:off x="524934" y="609600"/>
            <a:ext cx="8596668" cy="1320800"/>
          </a:xfrm>
        </p:spPr>
        <p:txBody>
          <a:bodyPr/>
          <a:lstStyle/>
          <a:p>
            <a:r>
              <a:rPr lang="en-US" sz="2800" b="1" dirty="0">
                <a:solidFill>
                  <a:srgbClr val="FFFFFF"/>
                </a:solidFill>
              </a:rPr>
              <a:t>                        </a:t>
            </a:r>
            <a:r>
              <a:rPr lang="en-US" sz="2800" b="1" dirty="0" err="1">
                <a:solidFill>
                  <a:srgbClr val="FFFFFF"/>
                </a:solidFill>
              </a:rPr>
              <a:t>systemctl</a:t>
            </a:r>
            <a:endParaRPr lang="en-US" dirty="0"/>
          </a:p>
        </p:txBody>
      </p:sp>
      <p:sp>
        <p:nvSpPr>
          <p:cNvPr id="3" name="Content Placeholder 2">
            <a:extLst>
              <a:ext uri="{FF2B5EF4-FFF2-40B4-BE49-F238E27FC236}">
                <a16:creationId xmlns:a16="http://schemas.microsoft.com/office/drawing/2014/main" id="{60ECC5F5-E911-23C4-B98D-9333F21CD688}"/>
              </a:ext>
            </a:extLst>
          </p:cNvPr>
          <p:cNvSpPr>
            <a:spLocks noGrp="1"/>
          </p:cNvSpPr>
          <p:nvPr>
            <p:ph idx="1"/>
          </p:nvPr>
        </p:nvSpPr>
        <p:spPr>
          <a:xfrm>
            <a:off x="1709922" y="2154334"/>
            <a:ext cx="10219266" cy="3880773"/>
          </a:xfrm>
        </p:spPr>
        <p:txBody>
          <a:bodyPr>
            <a:noAutofit/>
          </a:bodyPr>
          <a:lstStyle/>
          <a:p>
            <a:r>
              <a:rPr lang="en-US" sz="1600" dirty="0">
                <a:solidFill>
                  <a:srgbClr val="E6E6E6"/>
                </a:solidFill>
              </a:rPr>
              <a:t>The </a:t>
            </a:r>
            <a:r>
              <a:rPr lang="en-US" sz="1600" dirty="0" err="1">
                <a:solidFill>
                  <a:srgbClr val="E6E6E6"/>
                </a:solidFill>
              </a:rPr>
              <a:t>systemctl</a:t>
            </a:r>
            <a:r>
              <a:rPr lang="en-US" sz="1600" dirty="0">
                <a:solidFill>
                  <a:srgbClr val="E6E6E6"/>
                </a:solidFill>
              </a:rPr>
              <a:t> utility is the main gateway to managing </a:t>
            </a:r>
            <a:r>
              <a:rPr lang="en-US" sz="1600" dirty="0" err="1">
                <a:solidFill>
                  <a:srgbClr val="E6E6E6"/>
                </a:solidFill>
              </a:rPr>
              <a:t>systemd</a:t>
            </a:r>
            <a:r>
              <a:rPr lang="en-US" sz="1600" dirty="0">
                <a:solidFill>
                  <a:srgbClr val="E6E6E6"/>
                </a:solidFill>
              </a:rPr>
              <a:t> and system services.</a:t>
            </a:r>
          </a:p>
          <a:p>
            <a:r>
              <a:rPr lang="en-US" sz="1600" dirty="0">
                <a:solidFill>
                  <a:srgbClr val="E6E6E6"/>
                </a:solidFill>
              </a:rPr>
              <a:t>/</a:t>
            </a:r>
            <a:r>
              <a:rPr lang="en-US" sz="1600" dirty="0" err="1">
                <a:solidFill>
                  <a:srgbClr val="E6E6E6"/>
                </a:solidFill>
              </a:rPr>
              <a:t>etc</a:t>
            </a:r>
            <a:r>
              <a:rPr lang="en-US" sz="1600" dirty="0">
                <a:solidFill>
                  <a:srgbClr val="E6E6E6"/>
                </a:solidFill>
              </a:rPr>
              <a:t>/systemd/</a:t>
            </a:r>
            <a:r>
              <a:rPr lang="en-US" sz="1600" dirty="0" err="1">
                <a:solidFill>
                  <a:srgbClr val="E6E6E6"/>
                </a:solidFill>
              </a:rPr>
              <a:t>system.conf</a:t>
            </a:r>
            <a:r>
              <a:rPr lang="en-US" sz="1600" dirty="0">
                <a:solidFill>
                  <a:srgbClr val="E6E6E6"/>
                </a:solidFill>
              </a:rPr>
              <a:t>      </a:t>
            </a:r>
          </a:p>
          <a:p>
            <a:endParaRPr lang="en-US" sz="2400" dirty="0"/>
          </a:p>
          <a:p>
            <a:r>
              <a:rPr lang="en-US" sz="1600" dirty="0">
                <a:solidFill>
                  <a:srgbClr val="E6E6E6"/>
                </a:solidFill>
              </a:rPr>
              <a:t>1./</a:t>
            </a:r>
            <a:r>
              <a:rPr lang="en-US" sz="1600" dirty="0" err="1">
                <a:solidFill>
                  <a:srgbClr val="E6E6E6"/>
                </a:solidFill>
              </a:rPr>
              <a:t>etc</a:t>
            </a:r>
            <a:r>
              <a:rPr lang="en-US" sz="1600" dirty="0">
                <a:solidFill>
                  <a:srgbClr val="E6E6E6"/>
                </a:solidFill>
              </a:rPr>
              <a:t>/system/system/  2. /run/systemd/system/ 3./</a:t>
            </a:r>
            <a:r>
              <a:rPr lang="en-US" sz="1600" dirty="0" err="1">
                <a:solidFill>
                  <a:srgbClr val="E6E6E6"/>
                </a:solidFill>
              </a:rPr>
              <a:t>usr</a:t>
            </a:r>
            <a:r>
              <a:rPr lang="en-US" sz="1600" dirty="0">
                <a:solidFill>
                  <a:srgbClr val="E6E6E6"/>
                </a:solidFill>
              </a:rPr>
              <a:t>/lib/systemd/system/                    show conf all of service that manage with systemd</a:t>
            </a:r>
          </a:p>
          <a:p>
            <a:endParaRPr lang="en-US" sz="2400" dirty="0"/>
          </a:p>
          <a:p>
            <a:r>
              <a:rPr lang="en-US" sz="1600" dirty="0" err="1">
                <a:solidFill>
                  <a:srgbClr val="E6E6E6"/>
                </a:solidFill>
              </a:rPr>
              <a:t>init</a:t>
            </a:r>
            <a:r>
              <a:rPr lang="en-US" sz="1600" dirty="0">
                <a:solidFill>
                  <a:srgbClr val="E6E6E6"/>
                </a:solidFill>
              </a:rPr>
              <a:t> in old </a:t>
            </a:r>
            <a:r>
              <a:rPr lang="en-US" sz="1600" dirty="0" err="1">
                <a:solidFill>
                  <a:srgbClr val="E6E6E6"/>
                </a:solidFill>
              </a:rPr>
              <a:t>distru</a:t>
            </a:r>
            <a:r>
              <a:rPr lang="en-US" sz="1600" dirty="0">
                <a:solidFill>
                  <a:srgbClr val="E6E6E6"/>
                </a:solidFill>
              </a:rPr>
              <a:t> as like as systemd      /</a:t>
            </a:r>
            <a:r>
              <a:rPr lang="en-US" sz="1600" dirty="0" err="1">
                <a:solidFill>
                  <a:srgbClr val="E6E6E6"/>
                </a:solidFill>
              </a:rPr>
              <a:t>etc</a:t>
            </a:r>
            <a:r>
              <a:rPr lang="en-US" sz="1600" dirty="0">
                <a:solidFill>
                  <a:srgbClr val="E6E6E6"/>
                </a:solidFill>
              </a:rPr>
              <a:t>/</a:t>
            </a:r>
            <a:r>
              <a:rPr lang="en-US" sz="1600" dirty="0" err="1">
                <a:solidFill>
                  <a:srgbClr val="E6E6E6"/>
                </a:solidFill>
              </a:rPr>
              <a:t>init.d</a:t>
            </a:r>
            <a:r>
              <a:rPr lang="en-US" sz="1600" dirty="0">
                <a:solidFill>
                  <a:srgbClr val="E6E6E6"/>
                </a:solidFill>
              </a:rPr>
              <a:t>/</a:t>
            </a:r>
            <a:r>
              <a:rPr lang="en-US" sz="1600" dirty="0" err="1">
                <a:solidFill>
                  <a:srgbClr val="E6E6E6"/>
                </a:solidFill>
              </a:rPr>
              <a:t>ssh</a:t>
            </a:r>
            <a:r>
              <a:rPr lang="en-US" sz="1600" dirty="0">
                <a:solidFill>
                  <a:srgbClr val="E6E6E6"/>
                </a:solidFill>
              </a:rPr>
              <a:t> restart</a:t>
            </a:r>
          </a:p>
        </p:txBody>
      </p:sp>
    </p:spTree>
    <p:extLst>
      <p:ext uri="{BB962C8B-B14F-4D97-AF65-F5344CB8AC3E}">
        <p14:creationId xmlns:p14="http://schemas.microsoft.com/office/powerpoint/2010/main" val="36262277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05308-841A-60CA-9936-F3099A8E1524}"/>
              </a:ext>
            </a:extLst>
          </p:cNvPr>
          <p:cNvSpPr>
            <a:spLocks noGrp="1"/>
          </p:cNvSpPr>
          <p:nvPr>
            <p:ph type="title"/>
          </p:nvPr>
        </p:nvSpPr>
        <p:spPr>
          <a:xfrm>
            <a:off x="1484310" y="205274"/>
            <a:ext cx="7458960" cy="1134186"/>
          </a:xfrm>
        </p:spPr>
        <p:txBody>
          <a:bodyPr/>
          <a:lstStyle/>
          <a:p>
            <a:r>
              <a:rPr lang="en-US" sz="2800" b="1" dirty="0">
                <a:solidFill>
                  <a:srgbClr val="FFFFFF"/>
                </a:solidFill>
              </a:rPr>
              <a:t>                       </a:t>
            </a:r>
            <a:r>
              <a:rPr lang="en-US" sz="2800" b="1" dirty="0" err="1">
                <a:solidFill>
                  <a:srgbClr val="FFFFFF"/>
                </a:solidFill>
              </a:rPr>
              <a:t>systemctl</a:t>
            </a:r>
            <a:endParaRPr lang="en-US" dirty="0"/>
          </a:p>
        </p:txBody>
      </p:sp>
      <p:sp>
        <p:nvSpPr>
          <p:cNvPr id="3" name="Content Placeholder 2">
            <a:extLst>
              <a:ext uri="{FF2B5EF4-FFF2-40B4-BE49-F238E27FC236}">
                <a16:creationId xmlns:a16="http://schemas.microsoft.com/office/drawing/2014/main" id="{0092CD42-2222-8343-795D-F40AF07683ED}"/>
              </a:ext>
            </a:extLst>
          </p:cNvPr>
          <p:cNvSpPr>
            <a:spLocks noGrp="1"/>
          </p:cNvSpPr>
          <p:nvPr>
            <p:ph idx="1"/>
          </p:nvPr>
        </p:nvSpPr>
        <p:spPr/>
        <p:txBody>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ABF66A61-FF66-2464-B12A-A155459559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6884" y="2167093"/>
            <a:ext cx="7673564" cy="4124011"/>
          </a:xfrm>
          <a:prstGeom prst="rect">
            <a:avLst/>
          </a:prstGeom>
        </p:spPr>
      </p:pic>
    </p:spTree>
    <p:extLst>
      <p:ext uri="{BB962C8B-B14F-4D97-AF65-F5344CB8AC3E}">
        <p14:creationId xmlns:p14="http://schemas.microsoft.com/office/powerpoint/2010/main" val="383825577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8953E-5B4B-7AFB-D4C9-C62F0B6C143D}"/>
              </a:ext>
            </a:extLst>
          </p:cNvPr>
          <p:cNvSpPr>
            <a:spLocks noGrp="1"/>
          </p:cNvSpPr>
          <p:nvPr>
            <p:ph type="title"/>
          </p:nvPr>
        </p:nvSpPr>
        <p:spPr>
          <a:xfrm>
            <a:off x="1936966" y="391886"/>
            <a:ext cx="6334742" cy="945501"/>
          </a:xfrm>
        </p:spPr>
        <p:txBody>
          <a:bodyPr/>
          <a:lstStyle/>
          <a:p>
            <a:r>
              <a:rPr lang="en-US" sz="2800" b="1" dirty="0">
                <a:solidFill>
                  <a:srgbClr val="FFFFFF"/>
                </a:solidFill>
              </a:rPr>
              <a:t>                     systemd unit</a:t>
            </a:r>
          </a:p>
        </p:txBody>
      </p:sp>
      <p:sp>
        <p:nvSpPr>
          <p:cNvPr id="3" name="Content Placeholder 2">
            <a:extLst>
              <a:ext uri="{FF2B5EF4-FFF2-40B4-BE49-F238E27FC236}">
                <a16:creationId xmlns:a16="http://schemas.microsoft.com/office/drawing/2014/main" id="{FE6E8F8E-5E2F-636A-AFEA-0CCE2A5EDD1C}"/>
              </a:ext>
            </a:extLst>
          </p:cNvPr>
          <p:cNvSpPr>
            <a:spLocks noGrp="1"/>
          </p:cNvSpPr>
          <p:nvPr>
            <p:ph idx="1"/>
          </p:nvPr>
        </p:nvSpPr>
        <p:spPr>
          <a:xfrm>
            <a:off x="1936966" y="2291427"/>
            <a:ext cx="8596668" cy="3880773"/>
          </a:xfrm>
        </p:spPr>
        <p:txBody>
          <a:bodyPr>
            <a:normAutofit lnSpcReduction="10000"/>
          </a:bodyPr>
          <a:lstStyle/>
          <a:p>
            <a:r>
              <a:rPr lang="en-US" sz="1600" dirty="0">
                <a:solidFill>
                  <a:srgbClr val="E6E6E6"/>
                </a:solidFill>
              </a:rPr>
              <a:t>After Sets this unit to start after the designated units.</a:t>
            </a:r>
          </a:p>
          <a:p>
            <a:r>
              <a:rPr lang="en-US" sz="1600" dirty="0">
                <a:solidFill>
                  <a:srgbClr val="E6E6E6"/>
                </a:solidFill>
              </a:rPr>
              <a:t> Before Sets this unit to start before the designated units. </a:t>
            </a:r>
          </a:p>
          <a:p>
            <a:r>
              <a:rPr lang="en-US" sz="1600" dirty="0">
                <a:solidFill>
                  <a:srgbClr val="E6E6E6"/>
                </a:solidFill>
              </a:rPr>
              <a:t>Description Describes the unit. </a:t>
            </a:r>
          </a:p>
          <a:p>
            <a:r>
              <a:rPr lang="en-US" sz="1600" dirty="0">
                <a:solidFill>
                  <a:srgbClr val="E6E6E6"/>
                </a:solidFill>
              </a:rPr>
              <a:t>Documentation Sets a list of uniform resource identifiers (URIs) that point to documentation sources. The URIs can be web locations, system files, info pages, and man pages</a:t>
            </a:r>
          </a:p>
          <a:p>
            <a:r>
              <a:rPr lang="en-US" sz="1600" dirty="0">
                <a:solidFill>
                  <a:srgbClr val="E6E6E6"/>
                </a:solidFill>
              </a:rPr>
              <a:t> Conflicts Sets this unit to not start with the designated units. If any of the designated units start, this unit is not started. (Opposite of Requires.</a:t>
            </a:r>
          </a:p>
        </p:txBody>
      </p:sp>
    </p:spTree>
    <p:extLst>
      <p:ext uri="{BB962C8B-B14F-4D97-AF65-F5344CB8AC3E}">
        <p14:creationId xmlns:p14="http://schemas.microsoft.com/office/powerpoint/2010/main" val="47392442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82AEC-8EEC-427D-9AFD-06E9C7E3F8F2}"/>
              </a:ext>
            </a:extLst>
          </p:cNvPr>
          <p:cNvSpPr>
            <a:spLocks noGrp="1"/>
          </p:cNvSpPr>
          <p:nvPr>
            <p:ph type="title"/>
          </p:nvPr>
        </p:nvSpPr>
        <p:spPr/>
        <p:txBody>
          <a:bodyPr/>
          <a:lstStyle/>
          <a:p>
            <a:pPr algn="ctr"/>
            <a:r>
              <a:rPr lang="en-US" sz="2800" b="1" dirty="0">
                <a:solidFill>
                  <a:srgbClr val="FFFFFF"/>
                </a:solidFill>
              </a:rPr>
              <a:t>Unit systemd</a:t>
            </a:r>
          </a:p>
        </p:txBody>
      </p:sp>
      <p:sp>
        <p:nvSpPr>
          <p:cNvPr id="3" name="Content Placeholder 2">
            <a:extLst>
              <a:ext uri="{FF2B5EF4-FFF2-40B4-BE49-F238E27FC236}">
                <a16:creationId xmlns:a16="http://schemas.microsoft.com/office/drawing/2014/main" id="{1FECBFF2-4244-4F37-8E7E-B582BD6C2EBD}"/>
              </a:ext>
            </a:extLst>
          </p:cNvPr>
          <p:cNvSpPr>
            <a:spLocks noGrp="1"/>
          </p:cNvSpPr>
          <p:nvPr>
            <p:ph idx="1"/>
          </p:nvPr>
        </p:nvSpPr>
        <p:spPr/>
        <p:txBody>
          <a:bodyPr>
            <a:normAutofit/>
          </a:bodyPr>
          <a:lstStyle/>
          <a:p>
            <a:pPr marL="0" indent="0">
              <a:buNone/>
            </a:pPr>
            <a:r>
              <a:rPr lang="en-US" sz="1600" dirty="0">
                <a:solidFill>
                  <a:srgbClr val="E6E6E6"/>
                </a:solidFill>
              </a:rPr>
              <a:t>Requires Sets this unit to start together with the designated units. If any of the designated units do not start, this unit is not started. (Opposite of Conflicts .) </a:t>
            </a:r>
          </a:p>
          <a:p>
            <a:pPr marL="0" indent="0">
              <a:buNone/>
            </a:pPr>
            <a:r>
              <a:rPr lang="en-US" sz="1600" dirty="0">
                <a:solidFill>
                  <a:srgbClr val="E6E6E6"/>
                </a:solidFill>
              </a:rPr>
              <a:t>Wants Sets this unit to start together with the designated units. If any of the designated units do not start, this unit is still started</a:t>
            </a:r>
          </a:p>
          <a:p>
            <a:pPr marL="0" indent="0">
              <a:buNone/>
            </a:pPr>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36709737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D68A-125B-F527-C027-C7690A8E9460}"/>
              </a:ext>
            </a:extLst>
          </p:cNvPr>
          <p:cNvSpPr>
            <a:spLocks noGrp="1"/>
          </p:cNvSpPr>
          <p:nvPr>
            <p:ph type="title"/>
          </p:nvPr>
        </p:nvSpPr>
        <p:spPr>
          <a:xfrm>
            <a:off x="1797666" y="131860"/>
            <a:ext cx="8596668" cy="1320800"/>
          </a:xfrm>
        </p:spPr>
        <p:txBody>
          <a:bodyPr>
            <a:normAutofit/>
          </a:bodyPr>
          <a:lstStyle/>
          <a:p>
            <a:r>
              <a:rPr lang="en-US" sz="2800" b="1" dirty="0">
                <a:solidFill>
                  <a:srgbClr val="FFFFFF"/>
                </a:solidFill>
              </a:rPr>
              <a:t>     default </a:t>
            </a:r>
            <a:r>
              <a:rPr lang="en-US" sz="2800" b="1" dirty="0" err="1">
                <a:solidFill>
                  <a:srgbClr val="FFFFFF"/>
                </a:solidFill>
              </a:rPr>
              <a:t>targetmuti</a:t>
            </a:r>
            <a:r>
              <a:rPr lang="en-US" sz="2800" b="1" dirty="0">
                <a:solidFill>
                  <a:srgbClr val="FFFFFF"/>
                </a:solidFill>
              </a:rPr>
              <a:t> user graphical</a:t>
            </a:r>
          </a:p>
        </p:txBody>
      </p:sp>
      <p:sp>
        <p:nvSpPr>
          <p:cNvPr id="3" name="Content Placeholder 2">
            <a:extLst>
              <a:ext uri="{FF2B5EF4-FFF2-40B4-BE49-F238E27FC236}">
                <a16:creationId xmlns:a16="http://schemas.microsoft.com/office/drawing/2014/main" id="{15FE341B-73DF-E575-7E53-92AD743E736B}"/>
              </a:ext>
            </a:extLst>
          </p:cNvPr>
          <p:cNvSpPr>
            <a:spLocks noGrp="1"/>
          </p:cNvSpPr>
          <p:nvPr>
            <p:ph idx="1"/>
          </p:nvPr>
        </p:nvSpPr>
        <p:spPr>
          <a:xfrm>
            <a:off x="1199848" y="1685925"/>
            <a:ext cx="8596668" cy="3880773"/>
          </a:xfrm>
        </p:spPr>
        <p:txBody>
          <a:bodyPr>
            <a:normAutofit/>
          </a:bodyPr>
          <a:lstStyle/>
          <a:p>
            <a:r>
              <a:rPr lang="en-US" sz="1600" dirty="0" err="1">
                <a:solidFill>
                  <a:srgbClr val="E6E6E6"/>
                </a:solidFill>
              </a:rPr>
              <a:t>Systemctl</a:t>
            </a:r>
            <a:r>
              <a:rPr lang="en-US" sz="1600" dirty="0">
                <a:solidFill>
                  <a:srgbClr val="E6E6E6"/>
                </a:solidFill>
              </a:rPr>
              <a:t> isolate  rescue</a:t>
            </a:r>
            <a:endParaRPr lang="fa-IR" sz="2400" dirty="0"/>
          </a:p>
          <a:p>
            <a:endParaRPr lang="fa-IR" sz="2400" dirty="0"/>
          </a:p>
          <a:p>
            <a:r>
              <a:rPr lang="en-US" sz="1600" dirty="0">
                <a:solidFill>
                  <a:srgbClr val="E6E6E6"/>
                </a:solidFill>
              </a:rPr>
              <a:t>  </a:t>
            </a:r>
            <a:r>
              <a:rPr lang="en-US" sz="1600" dirty="0" err="1">
                <a:solidFill>
                  <a:srgbClr val="E6E6E6"/>
                </a:solidFill>
              </a:rPr>
              <a:t>systemctl</a:t>
            </a:r>
            <a:r>
              <a:rPr lang="en-US" sz="1600" dirty="0">
                <a:solidFill>
                  <a:srgbClr val="E6E6E6"/>
                </a:solidFill>
              </a:rPr>
              <a:t> list-units   --type=target</a:t>
            </a:r>
          </a:p>
          <a:p>
            <a:endParaRPr lang="en-US" sz="2400" dirty="0"/>
          </a:p>
          <a:p>
            <a:r>
              <a:rPr lang="en-US" sz="1600" dirty="0">
                <a:solidFill>
                  <a:srgbClr val="E6E6E6"/>
                </a:solidFill>
              </a:rPr>
              <a:t> </a:t>
            </a:r>
            <a:r>
              <a:rPr lang="en-US" sz="1600" dirty="0" err="1">
                <a:solidFill>
                  <a:srgbClr val="E6E6E6"/>
                </a:solidFill>
              </a:rPr>
              <a:t>systemctl</a:t>
            </a:r>
            <a:r>
              <a:rPr lang="en-US" sz="1600" dirty="0">
                <a:solidFill>
                  <a:srgbClr val="E6E6E6"/>
                </a:solidFill>
              </a:rPr>
              <a:t> cat multi-</a:t>
            </a:r>
            <a:r>
              <a:rPr lang="en-US" sz="1600" dirty="0" err="1">
                <a:solidFill>
                  <a:srgbClr val="E6E6E6"/>
                </a:solidFill>
              </a:rPr>
              <a:t>user.target</a:t>
            </a:r>
            <a:endParaRPr lang="en-US" sz="2400" dirty="0"/>
          </a:p>
        </p:txBody>
      </p:sp>
      <p:pic>
        <p:nvPicPr>
          <p:cNvPr id="5" name="Picture 4">
            <a:extLst>
              <a:ext uri="{FF2B5EF4-FFF2-40B4-BE49-F238E27FC236}">
                <a16:creationId xmlns:a16="http://schemas.microsoft.com/office/drawing/2014/main" id="{7716A173-1414-1973-8D2C-F67389D5A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569" y="4351859"/>
            <a:ext cx="6077262" cy="1632034"/>
          </a:xfrm>
          <a:prstGeom prst="rect">
            <a:avLst/>
          </a:prstGeom>
        </p:spPr>
      </p:pic>
    </p:spTree>
    <p:extLst>
      <p:ext uri="{BB962C8B-B14F-4D97-AF65-F5344CB8AC3E}">
        <p14:creationId xmlns:p14="http://schemas.microsoft.com/office/powerpoint/2010/main" val="151498725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39970-189F-E539-7F1F-0A376A8D9B14}"/>
              </a:ext>
            </a:extLst>
          </p:cNvPr>
          <p:cNvSpPr>
            <a:spLocks noGrp="1"/>
          </p:cNvSpPr>
          <p:nvPr>
            <p:ph type="title"/>
          </p:nvPr>
        </p:nvSpPr>
        <p:spPr>
          <a:xfrm>
            <a:off x="2235546" y="233266"/>
            <a:ext cx="6824478" cy="620382"/>
          </a:xfrm>
        </p:spPr>
        <p:txBody>
          <a:bodyPr>
            <a:normAutofit fontScale="90000"/>
          </a:bodyPr>
          <a:lstStyle/>
          <a:p>
            <a:r>
              <a:rPr lang="en-US" sz="2800" b="1" dirty="0">
                <a:solidFill>
                  <a:srgbClr val="FFFFFF"/>
                </a:solidFill>
              </a:rPr>
              <a:t>			Understanding </a:t>
            </a:r>
            <a:r>
              <a:rPr lang="en-US" sz="2800" b="1" dirty="0" err="1">
                <a:solidFill>
                  <a:srgbClr val="FFFFFF"/>
                </a:solidFill>
              </a:rPr>
              <a:t>Runlevels</a:t>
            </a:r>
            <a:endParaRPr lang="en-US" dirty="0"/>
          </a:p>
        </p:txBody>
      </p:sp>
      <p:sp>
        <p:nvSpPr>
          <p:cNvPr id="3" name="Content Placeholder 2">
            <a:extLst>
              <a:ext uri="{FF2B5EF4-FFF2-40B4-BE49-F238E27FC236}">
                <a16:creationId xmlns:a16="http://schemas.microsoft.com/office/drawing/2014/main" id="{52519A7F-FE20-A846-3626-AD49E3D07286}"/>
              </a:ext>
            </a:extLst>
          </p:cNvPr>
          <p:cNvSpPr>
            <a:spLocks noGrp="1"/>
          </p:cNvSpPr>
          <p:nvPr>
            <p:ph idx="1"/>
          </p:nvPr>
        </p:nvSpPr>
        <p:spPr>
          <a:xfrm>
            <a:off x="1519889" y="2719978"/>
            <a:ext cx="10581916" cy="2196494"/>
          </a:xfrm>
        </p:spPr>
        <p:txBody>
          <a:bodyPr>
            <a:noAutofit/>
          </a:bodyPr>
          <a:lstStyle/>
          <a:p>
            <a:r>
              <a:rPr lang="en-US" sz="1600" dirty="0">
                <a:solidFill>
                  <a:srgbClr val="E6E6E6"/>
                </a:solidFill>
              </a:rPr>
              <a:t>At system boot time, instead of targets to determine what groups of services to start, </a:t>
            </a:r>
            <a:r>
              <a:rPr lang="en-US" sz="1600" dirty="0" err="1">
                <a:solidFill>
                  <a:srgbClr val="E6E6E6"/>
                </a:solidFill>
              </a:rPr>
              <a:t>SysVinit</a:t>
            </a:r>
            <a:r>
              <a:rPr lang="en-US" sz="1600" dirty="0">
                <a:solidFill>
                  <a:srgbClr val="E6E6E6"/>
                </a:solidFill>
              </a:rPr>
              <a:t> uses </a:t>
            </a:r>
            <a:r>
              <a:rPr lang="en-US" sz="1600" dirty="0" err="1">
                <a:solidFill>
                  <a:srgbClr val="E6E6E6"/>
                </a:solidFill>
              </a:rPr>
              <a:t>runlevels</a:t>
            </a:r>
            <a:endParaRPr lang="en-US" sz="1800" dirty="0"/>
          </a:p>
          <a:p>
            <a:endParaRPr lang="en-US" sz="1800" dirty="0"/>
          </a:p>
          <a:p>
            <a:r>
              <a:rPr lang="en-US" sz="1600" dirty="0">
                <a:solidFill>
                  <a:srgbClr val="E6E6E6"/>
                </a:solidFill>
              </a:rPr>
              <a:t>0 Shut down the system. </a:t>
            </a:r>
          </a:p>
          <a:p>
            <a:r>
              <a:rPr lang="en-US" sz="1600" dirty="0">
                <a:solidFill>
                  <a:srgbClr val="E6E6E6"/>
                </a:solidFill>
              </a:rPr>
              <a:t>1, s, or S Single-user mode used for system maintenance. (Similar to systemd rescue target.) </a:t>
            </a:r>
          </a:p>
          <a:p>
            <a:r>
              <a:rPr lang="en-US" sz="1600" dirty="0">
                <a:solidFill>
                  <a:srgbClr val="E6E6E6"/>
                </a:solidFill>
              </a:rPr>
              <a:t>2 Multi-user mode without networking services enabled. </a:t>
            </a:r>
          </a:p>
          <a:p>
            <a:r>
              <a:rPr lang="en-US" sz="1600" dirty="0">
                <a:solidFill>
                  <a:srgbClr val="E6E6E6"/>
                </a:solidFill>
              </a:rPr>
              <a:t>3 Multi-user mode with networking services enabled. </a:t>
            </a:r>
          </a:p>
          <a:p>
            <a:r>
              <a:rPr lang="en-US" sz="1600" dirty="0">
                <a:solidFill>
                  <a:srgbClr val="E6E6E6"/>
                </a:solidFill>
              </a:rPr>
              <a:t>4 Custom.</a:t>
            </a:r>
          </a:p>
          <a:p>
            <a:r>
              <a:rPr lang="en-US" sz="1600" dirty="0">
                <a:solidFill>
                  <a:srgbClr val="E6E6E6"/>
                </a:solidFill>
              </a:rPr>
              <a:t> 5 Multi-user mode with GUI available. </a:t>
            </a:r>
          </a:p>
          <a:p>
            <a:r>
              <a:rPr lang="en-US" sz="1600" dirty="0">
                <a:solidFill>
                  <a:srgbClr val="E6E6E6"/>
                </a:solidFill>
              </a:rPr>
              <a:t>6 Reboot the system.       </a:t>
            </a:r>
          </a:p>
          <a:p>
            <a:r>
              <a:rPr lang="en-US" sz="1600" dirty="0">
                <a:solidFill>
                  <a:srgbClr val="E6E6E6"/>
                </a:solidFill>
              </a:rPr>
              <a:t>/</a:t>
            </a:r>
            <a:r>
              <a:rPr lang="en-US" sz="1600" dirty="0" err="1">
                <a:solidFill>
                  <a:srgbClr val="E6E6E6"/>
                </a:solidFill>
              </a:rPr>
              <a:t>etc</a:t>
            </a:r>
            <a:r>
              <a:rPr lang="en-US" sz="1600" dirty="0">
                <a:solidFill>
                  <a:srgbClr val="E6E6E6"/>
                </a:solidFill>
              </a:rPr>
              <a:t>/</a:t>
            </a:r>
            <a:r>
              <a:rPr lang="en-US" sz="1600" dirty="0" err="1">
                <a:solidFill>
                  <a:srgbClr val="E6E6E6"/>
                </a:solidFill>
              </a:rPr>
              <a:t>inittab</a:t>
            </a:r>
            <a:r>
              <a:rPr lang="en-US" sz="1600" dirty="0">
                <a:solidFill>
                  <a:srgbClr val="E6E6E6"/>
                </a:solidFill>
              </a:rPr>
              <a:t> file line that sets the default </a:t>
            </a:r>
            <a:r>
              <a:rPr lang="en-US" sz="1600" dirty="0" err="1">
                <a:solidFill>
                  <a:srgbClr val="E6E6E6"/>
                </a:solidFill>
              </a:rPr>
              <a:t>runlevel</a:t>
            </a:r>
            <a:r>
              <a:rPr lang="en-US" sz="1600" dirty="0">
                <a:solidFill>
                  <a:srgbClr val="E6E6E6"/>
                </a:solidFill>
              </a:rPr>
              <a:t>                            Command </a:t>
            </a:r>
            <a:r>
              <a:rPr lang="en-US" sz="1600" dirty="0" err="1">
                <a:solidFill>
                  <a:srgbClr val="E6E6E6"/>
                </a:solidFill>
              </a:rPr>
              <a:t>runlevel</a:t>
            </a:r>
            <a:endParaRPr lang="en-US" sz="1800" dirty="0"/>
          </a:p>
          <a:p>
            <a:r>
              <a:rPr lang="en-US" sz="1600" dirty="0">
                <a:solidFill>
                  <a:srgbClr val="E6E6E6"/>
                </a:solidFill>
              </a:rPr>
              <a:t>Init for jumping </a:t>
            </a:r>
            <a:r>
              <a:rPr lang="en-US" sz="1600" dirty="0" err="1">
                <a:solidFill>
                  <a:srgbClr val="E6E6E6"/>
                </a:solidFill>
              </a:rPr>
              <a:t>runlevel</a:t>
            </a:r>
            <a:r>
              <a:rPr lang="en-US" sz="1600" dirty="0">
                <a:solidFill>
                  <a:srgbClr val="E6E6E6"/>
                </a:solidFill>
              </a:rPr>
              <a:t>                rc6----</a:t>
            </a:r>
            <a:r>
              <a:rPr lang="en-US" sz="1600" dirty="0">
                <a:solidFill>
                  <a:srgbClr val="E6E6E6"/>
                </a:solidFill>
                <a:sym typeface="Wingdings" panose="05000000000000000000" pitchFamily="2" charset="2"/>
              </a:rPr>
              <a:t></a:t>
            </a:r>
            <a:r>
              <a:rPr lang="en-US" sz="1600" dirty="0" err="1">
                <a:solidFill>
                  <a:srgbClr val="E6E6E6"/>
                </a:solidFill>
                <a:sym typeface="Wingdings" panose="05000000000000000000" pitchFamily="2" charset="2"/>
              </a:rPr>
              <a:t>init</a:t>
            </a:r>
            <a:r>
              <a:rPr lang="en-US" sz="1600" dirty="0">
                <a:solidFill>
                  <a:srgbClr val="E6E6E6"/>
                </a:solidFill>
                <a:sym typeface="Wingdings" panose="05000000000000000000" pitchFamily="2" charset="2"/>
              </a:rPr>
              <a:t> 6</a:t>
            </a:r>
            <a:endParaRPr lang="en-US" sz="1800" dirty="0"/>
          </a:p>
        </p:txBody>
      </p:sp>
    </p:spTree>
    <p:extLst>
      <p:ext uri="{BB962C8B-B14F-4D97-AF65-F5344CB8AC3E}">
        <p14:creationId xmlns:p14="http://schemas.microsoft.com/office/powerpoint/2010/main" val="29959308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5B5CE-1BAA-0D29-E6AF-D6CF9FEAD683}"/>
              </a:ext>
            </a:extLst>
          </p:cNvPr>
          <p:cNvSpPr>
            <a:spLocks noGrp="1"/>
          </p:cNvSpPr>
          <p:nvPr>
            <p:ph type="title"/>
          </p:nvPr>
        </p:nvSpPr>
        <p:spPr>
          <a:xfrm>
            <a:off x="387774" y="259080"/>
            <a:ext cx="8596668" cy="1320800"/>
          </a:xfrm>
        </p:spPr>
        <p:txBody>
          <a:bodyPr/>
          <a:lstStyle/>
          <a:p>
            <a:r>
              <a:rPr lang="en-US" sz="2800" b="1" dirty="0">
                <a:solidFill>
                  <a:srgbClr val="FFFFFF"/>
                </a:solidFill>
              </a:rPr>
              <a:t>		    	 Stopping the System</a:t>
            </a:r>
          </a:p>
        </p:txBody>
      </p:sp>
      <p:sp>
        <p:nvSpPr>
          <p:cNvPr id="3" name="Content Placeholder 2">
            <a:extLst>
              <a:ext uri="{FF2B5EF4-FFF2-40B4-BE49-F238E27FC236}">
                <a16:creationId xmlns:a16="http://schemas.microsoft.com/office/drawing/2014/main" id="{4E6B7FCE-FE3A-0B71-1291-94883B55BC2F}"/>
              </a:ext>
            </a:extLst>
          </p:cNvPr>
          <p:cNvSpPr>
            <a:spLocks noGrp="1"/>
          </p:cNvSpPr>
          <p:nvPr>
            <p:ph idx="1"/>
          </p:nvPr>
        </p:nvSpPr>
        <p:spPr>
          <a:xfrm>
            <a:off x="1255521" y="2102395"/>
            <a:ext cx="10585026" cy="3880773"/>
          </a:xfrm>
        </p:spPr>
        <p:txBody>
          <a:bodyPr>
            <a:noAutofit/>
          </a:bodyPr>
          <a:lstStyle/>
          <a:p>
            <a:r>
              <a:rPr lang="en-US" sz="1600" dirty="0">
                <a:solidFill>
                  <a:srgbClr val="E6E6E6"/>
                </a:solidFill>
              </a:rPr>
              <a:t>Besides the various </a:t>
            </a:r>
            <a:r>
              <a:rPr lang="en-US" sz="1600" dirty="0" err="1">
                <a:solidFill>
                  <a:srgbClr val="E6E6E6"/>
                </a:solidFill>
              </a:rPr>
              <a:t>SysVinit</a:t>
            </a:r>
            <a:r>
              <a:rPr lang="en-US" sz="1600" dirty="0">
                <a:solidFill>
                  <a:srgbClr val="E6E6E6"/>
                </a:solidFill>
              </a:rPr>
              <a:t> and systemd commands you can use to shut down or reboot a system, there are a few additional utilities you can employ to enact these tasks no matter what system initialization your system uses: </a:t>
            </a:r>
          </a:p>
          <a:p>
            <a:r>
              <a:rPr lang="en-US" sz="1600" dirty="0">
                <a:solidFill>
                  <a:srgbClr val="E6E6E6"/>
                </a:solidFill>
              </a:rPr>
              <a:t>■ halt : Stops all processes and shuts down the CPU.</a:t>
            </a:r>
          </a:p>
          <a:p>
            <a:r>
              <a:rPr lang="en-US" sz="1600" dirty="0">
                <a:solidFill>
                  <a:srgbClr val="E6E6E6"/>
                </a:solidFill>
              </a:rPr>
              <a:t> ■ </a:t>
            </a:r>
            <a:r>
              <a:rPr lang="en-US" sz="1600" dirty="0" err="1">
                <a:solidFill>
                  <a:srgbClr val="E6E6E6"/>
                </a:solidFill>
              </a:rPr>
              <a:t>poweroff</a:t>
            </a:r>
            <a:r>
              <a:rPr lang="en-US" sz="1600" dirty="0">
                <a:solidFill>
                  <a:srgbClr val="E6E6E6"/>
                </a:solidFill>
              </a:rPr>
              <a:t> : Stops all processes, shuts down the CPU, and sends signals to the hardware to power down.</a:t>
            </a:r>
          </a:p>
          <a:p>
            <a:r>
              <a:rPr lang="en-US" sz="1600" dirty="0">
                <a:solidFill>
                  <a:srgbClr val="E6E6E6"/>
                </a:solidFill>
              </a:rPr>
              <a:t> ■ reboot : Stops all processes, shuts down the CPU, and then restarts the system</a:t>
            </a:r>
          </a:p>
          <a:p>
            <a:r>
              <a:rPr lang="en-US" sz="1600" dirty="0">
                <a:solidFill>
                  <a:srgbClr val="E6E6E6"/>
                </a:solidFill>
              </a:rPr>
              <a:t>■ shutdown : Stops all processes, shuts down the CPU, and sends signals to the hardware to power down.</a:t>
            </a:r>
          </a:p>
        </p:txBody>
      </p:sp>
    </p:spTree>
    <p:extLst>
      <p:ext uri="{BB962C8B-B14F-4D97-AF65-F5344CB8AC3E}">
        <p14:creationId xmlns:p14="http://schemas.microsoft.com/office/powerpoint/2010/main" val="304799732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1235E-A519-1123-2661-955594ED74AC}"/>
              </a:ext>
            </a:extLst>
          </p:cNvPr>
          <p:cNvSpPr>
            <a:spLocks noGrp="1"/>
          </p:cNvSpPr>
          <p:nvPr>
            <p:ph type="title"/>
          </p:nvPr>
        </p:nvSpPr>
        <p:spPr>
          <a:xfrm>
            <a:off x="556036" y="150639"/>
            <a:ext cx="8596668" cy="1320800"/>
          </a:xfrm>
        </p:spPr>
        <p:txBody>
          <a:bodyPr/>
          <a:lstStyle/>
          <a:p>
            <a:r>
              <a:rPr lang="en-US" sz="2800" b="1" dirty="0">
                <a:solidFill>
                  <a:srgbClr val="FFFFFF"/>
                </a:solidFill>
              </a:rPr>
              <a:t>                  upgrade kernel</a:t>
            </a:r>
          </a:p>
        </p:txBody>
      </p:sp>
      <p:sp>
        <p:nvSpPr>
          <p:cNvPr id="3" name="Content Placeholder 2">
            <a:extLst>
              <a:ext uri="{FF2B5EF4-FFF2-40B4-BE49-F238E27FC236}">
                <a16:creationId xmlns:a16="http://schemas.microsoft.com/office/drawing/2014/main" id="{84DA5686-F5DC-4925-DF80-123E3319E247}"/>
              </a:ext>
            </a:extLst>
          </p:cNvPr>
          <p:cNvSpPr>
            <a:spLocks noGrp="1"/>
          </p:cNvSpPr>
          <p:nvPr>
            <p:ph idx="1"/>
          </p:nvPr>
        </p:nvSpPr>
        <p:spPr>
          <a:xfrm>
            <a:off x="1750355" y="2087260"/>
            <a:ext cx="9655386" cy="3880773"/>
          </a:xfrm>
        </p:spPr>
        <p:txBody>
          <a:bodyPr>
            <a:noAutofit/>
          </a:bodyPr>
          <a:lstStyle/>
          <a:p>
            <a:r>
              <a:rPr lang="en-US" sz="1600" dirty="0">
                <a:solidFill>
                  <a:srgbClr val="E6E6E6"/>
                </a:solidFill>
              </a:rPr>
              <a:t>1-step one </a:t>
            </a:r>
            <a:r>
              <a:rPr lang="en-US" sz="1600" dirty="0" err="1">
                <a:solidFill>
                  <a:srgbClr val="E6E6E6"/>
                </a:solidFill>
              </a:rPr>
              <a:t>uname</a:t>
            </a:r>
            <a:r>
              <a:rPr lang="en-US" sz="1600" dirty="0">
                <a:solidFill>
                  <a:srgbClr val="E6E6E6"/>
                </a:solidFill>
              </a:rPr>
              <a:t> –a</a:t>
            </a:r>
          </a:p>
          <a:p>
            <a:r>
              <a:rPr lang="en-US" sz="1600" dirty="0">
                <a:solidFill>
                  <a:srgbClr val="E6E6E6"/>
                </a:solidFill>
              </a:rPr>
              <a:t>2- apt update</a:t>
            </a:r>
          </a:p>
          <a:p>
            <a:r>
              <a:rPr lang="en-US" sz="1600" dirty="0">
                <a:solidFill>
                  <a:srgbClr val="E6E6E6"/>
                </a:solidFill>
              </a:rPr>
              <a:t>3- </a:t>
            </a:r>
            <a:r>
              <a:rPr lang="pt-BR" sz="1600" dirty="0">
                <a:solidFill>
                  <a:srgbClr val="E6E6E6"/>
                </a:solidFill>
              </a:rPr>
              <a:t>sudo rpm --import https://www.elrepo.org/RPM-GPG-KEY-elrepo.org</a:t>
            </a:r>
            <a:endParaRPr lang="en-US" sz="2400" dirty="0"/>
          </a:p>
          <a:p>
            <a:r>
              <a:rPr lang="en-US" sz="1600" dirty="0">
                <a:solidFill>
                  <a:srgbClr val="E6E6E6"/>
                </a:solidFill>
              </a:rPr>
              <a:t>4- rpm -</a:t>
            </a:r>
            <a:r>
              <a:rPr lang="en-US" sz="1600" dirty="0" err="1">
                <a:solidFill>
                  <a:srgbClr val="E6E6E6"/>
                </a:solidFill>
              </a:rPr>
              <a:t>Uvh</a:t>
            </a:r>
            <a:r>
              <a:rPr lang="en-US" sz="1600" dirty="0">
                <a:solidFill>
                  <a:srgbClr val="E6E6E6"/>
                </a:solidFill>
              </a:rPr>
              <a:t> </a:t>
            </a:r>
            <a:r>
              <a:rPr lang="en-US" sz="1600" dirty="0">
                <a:solidFill>
                  <a:srgbClr val="E6E6E6"/>
                </a:solidFill>
                <a:hlinkClick r:id="rId2"/>
              </a:rPr>
              <a:t>https://www.elrepo.org/elrepo-release-7.0-3.el7.elrepo.noarch.rpm</a:t>
            </a:r>
            <a:endParaRPr lang="en-US" sz="2400" dirty="0"/>
          </a:p>
          <a:p>
            <a:r>
              <a:rPr lang="en-US" sz="1600" dirty="0">
                <a:solidFill>
                  <a:srgbClr val="E6E6E6"/>
                </a:solidFill>
              </a:rPr>
              <a:t>5- yum list available --</a:t>
            </a:r>
            <a:r>
              <a:rPr lang="en-US" sz="1600" dirty="0" err="1">
                <a:solidFill>
                  <a:srgbClr val="E6E6E6"/>
                </a:solidFill>
              </a:rPr>
              <a:t>disablerepo</a:t>
            </a:r>
            <a:r>
              <a:rPr lang="en-US" sz="1600" dirty="0">
                <a:solidFill>
                  <a:srgbClr val="E6E6E6"/>
                </a:solidFill>
              </a:rPr>
              <a:t>='*' --</a:t>
            </a:r>
            <a:r>
              <a:rPr lang="en-US" sz="1600" dirty="0" err="1">
                <a:solidFill>
                  <a:srgbClr val="E6E6E6"/>
                </a:solidFill>
              </a:rPr>
              <a:t>enablerepo</a:t>
            </a:r>
            <a:r>
              <a:rPr lang="en-US" sz="1600" dirty="0">
                <a:solidFill>
                  <a:srgbClr val="E6E6E6"/>
                </a:solidFill>
              </a:rPr>
              <a:t>=</a:t>
            </a:r>
            <a:r>
              <a:rPr lang="en-US" sz="1600" dirty="0" err="1">
                <a:solidFill>
                  <a:srgbClr val="E6E6E6"/>
                </a:solidFill>
              </a:rPr>
              <a:t>elrepo</a:t>
            </a:r>
            <a:r>
              <a:rPr lang="en-US" sz="1600" dirty="0">
                <a:solidFill>
                  <a:srgbClr val="E6E6E6"/>
                </a:solidFill>
              </a:rPr>
              <a:t>-kernel</a:t>
            </a:r>
          </a:p>
          <a:p>
            <a:r>
              <a:rPr lang="en-US" sz="1600" dirty="0">
                <a:solidFill>
                  <a:srgbClr val="E6E6E6"/>
                </a:solidFill>
              </a:rPr>
              <a:t>6-yum --</a:t>
            </a:r>
            <a:r>
              <a:rPr lang="en-US" sz="1600" dirty="0" err="1">
                <a:solidFill>
                  <a:srgbClr val="E6E6E6"/>
                </a:solidFill>
              </a:rPr>
              <a:t>enablerepo</a:t>
            </a:r>
            <a:r>
              <a:rPr lang="en-US" sz="1600" dirty="0">
                <a:solidFill>
                  <a:srgbClr val="E6E6E6"/>
                </a:solidFill>
              </a:rPr>
              <a:t>=</a:t>
            </a:r>
            <a:r>
              <a:rPr lang="en-US" sz="1600" dirty="0" err="1">
                <a:solidFill>
                  <a:srgbClr val="E6E6E6"/>
                </a:solidFill>
              </a:rPr>
              <a:t>elrepo</a:t>
            </a:r>
            <a:r>
              <a:rPr lang="en-US" sz="1600" dirty="0">
                <a:solidFill>
                  <a:srgbClr val="E6E6E6"/>
                </a:solidFill>
              </a:rPr>
              <a:t>-kernel install kernel-</a:t>
            </a:r>
            <a:r>
              <a:rPr lang="en-US" sz="1600" dirty="0" err="1">
                <a:solidFill>
                  <a:srgbClr val="E6E6E6"/>
                </a:solidFill>
              </a:rPr>
              <a:t>lt</a:t>
            </a:r>
            <a:endParaRPr lang="en-US" sz="2400" dirty="0"/>
          </a:p>
          <a:p>
            <a:r>
              <a:rPr lang="en-US" sz="1600" dirty="0">
                <a:solidFill>
                  <a:srgbClr val="E6E6E6"/>
                </a:solidFill>
              </a:rPr>
              <a:t>7-reboot</a:t>
            </a:r>
          </a:p>
        </p:txBody>
      </p:sp>
    </p:spTree>
    <p:extLst>
      <p:ext uri="{BB962C8B-B14F-4D97-AF65-F5344CB8AC3E}">
        <p14:creationId xmlns:p14="http://schemas.microsoft.com/office/powerpoint/2010/main" val="8743056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268A6-05BB-9FBC-382C-5856FE898D15}"/>
              </a:ext>
            </a:extLst>
          </p:cNvPr>
          <p:cNvSpPr>
            <a:spLocks noGrp="1"/>
          </p:cNvSpPr>
          <p:nvPr>
            <p:ph type="title"/>
          </p:nvPr>
        </p:nvSpPr>
        <p:spPr>
          <a:xfrm>
            <a:off x="494454" y="550141"/>
            <a:ext cx="8596668" cy="1320800"/>
          </a:xfrm>
        </p:spPr>
        <p:txBody>
          <a:bodyPr/>
          <a:lstStyle/>
          <a:p>
            <a:r>
              <a:rPr lang="en-US" sz="2800" b="1" dirty="0">
                <a:solidFill>
                  <a:srgbClr val="FFFFFF"/>
                </a:solidFill>
              </a:rPr>
              <a:t>                    virtualization</a:t>
            </a:r>
          </a:p>
        </p:txBody>
      </p:sp>
      <p:sp>
        <p:nvSpPr>
          <p:cNvPr id="3" name="Content Placeholder 2">
            <a:extLst>
              <a:ext uri="{FF2B5EF4-FFF2-40B4-BE49-F238E27FC236}">
                <a16:creationId xmlns:a16="http://schemas.microsoft.com/office/drawing/2014/main" id="{109449F0-A6FB-9BB0-E532-67D4830BD07E}"/>
              </a:ext>
            </a:extLst>
          </p:cNvPr>
          <p:cNvSpPr>
            <a:spLocks noGrp="1"/>
          </p:cNvSpPr>
          <p:nvPr>
            <p:ph idx="1"/>
          </p:nvPr>
        </p:nvSpPr>
        <p:spPr>
          <a:xfrm>
            <a:off x="494454" y="1870941"/>
            <a:ext cx="10341186" cy="3880773"/>
          </a:xfrm>
        </p:spPr>
        <p:txBody>
          <a:bodyPr>
            <a:normAutofit/>
          </a:bodyPr>
          <a:lstStyle/>
          <a:p>
            <a:r>
              <a:rPr lang="en-US" sz="1600" dirty="0">
                <a:solidFill>
                  <a:srgbClr val="E6E6E6"/>
                </a:solidFill>
              </a:rPr>
              <a:t>Virtual machines (VMs) are simulated computer systems that appear and act as physical machines to their users. The process of creating these virtual machines is called virtualization .</a:t>
            </a:r>
          </a:p>
          <a:p>
            <a:endParaRPr lang="en-US" sz="2400" dirty="0"/>
          </a:p>
        </p:txBody>
      </p:sp>
      <p:pic>
        <p:nvPicPr>
          <p:cNvPr id="5" name="Picture 4">
            <a:extLst>
              <a:ext uri="{FF2B5EF4-FFF2-40B4-BE49-F238E27FC236}">
                <a16:creationId xmlns:a16="http://schemas.microsoft.com/office/drawing/2014/main" id="{F58D360B-9BE0-F076-C1DA-5B49ADBF5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1119" y="4266009"/>
            <a:ext cx="3551011" cy="2220009"/>
          </a:xfrm>
          <a:prstGeom prst="rect">
            <a:avLst/>
          </a:prstGeom>
        </p:spPr>
      </p:pic>
    </p:spTree>
    <p:extLst>
      <p:ext uri="{BB962C8B-B14F-4D97-AF65-F5344CB8AC3E}">
        <p14:creationId xmlns:p14="http://schemas.microsoft.com/office/powerpoint/2010/main" val="417817675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FE11-5752-3212-07A7-A37F600E8372}"/>
              </a:ext>
            </a:extLst>
          </p:cNvPr>
          <p:cNvSpPr>
            <a:spLocks noGrp="1"/>
          </p:cNvSpPr>
          <p:nvPr>
            <p:ph type="title"/>
          </p:nvPr>
        </p:nvSpPr>
        <p:spPr>
          <a:xfrm>
            <a:off x="1589556" y="143069"/>
            <a:ext cx="8596668" cy="1320800"/>
          </a:xfrm>
        </p:spPr>
        <p:txBody>
          <a:bodyPr>
            <a:normAutofit/>
          </a:bodyPr>
          <a:lstStyle/>
          <a:p>
            <a:r>
              <a:rPr lang="en-US" sz="2800" b="1" dirty="0">
                <a:solidFill>
                  <a:srgbClr val="FFFFFF"/>
                </a:solidFill>
              </a:rPr>
              <a:t>               Understanding Containers</a:t>
            </a:r>
          </a:p>
        </p:txBody>
      </p:sp>
      <p:sp>
        <p:nvSpPr>
          <p:cNvPr id="3" name="Content Placeholder 2">
            <a:extLst>
              <a:ext uri="{FF2B5EF4-FFF2-40B4-BE49-F238E27FC236}">
                <a16:creationId xmlns:a16="http://schemas.microsoft.com/office/drawing/2014/main" id="{5181E991-B6CA-0767-52D9-702E60C63252}"/>
              </a:ext>
            </a:extLst>
          </p:cNvPr>
          <p:cNvSpPr>
            <a:spLocks noGrp="1"/>
          </p:cNvSpPr>
          <p:nvPr>
            <p:ph idx="1"/>
          </p:nvPr>
        </p:nvSpPr>
        <p:spPr>
          <a:xfrm>
            <a:off x="1365621" y="1137297"/>
            <a:ext cx="10234506" cy="3880773"/>
          </a:xfrm>
        </p:spPr>
        <p:txBody>
          <a:bodyPr>
            <a:normAutofit/>
          </a:bodyPr>
          <a:lstStyle/>
          <a:p>
            <a:r>
              <a:rPr lang="en-US" sz="1600" dirty="0">
                <a:solidFill>
                  <a:srgbClr val="E6E6E6"/>
                </a:solidFill>
              </a:rPr>
              <a:t>Containers are virtual entities, but they are different from virtual machines and serve distinct purposes. Whereas a VM provides an entire guest operating system, a container’s focus is typically on a single app, application stack, or environment. Instead of a hypervisor, a container is managed by a container engine.</a:t>
            </a:r>
          </a:p>
          <a:p>
            <a:endParaRPr lang="en-US" sz="2400" dirty="0"/>
          </a:p>
        </p:txBody>
      </p:sp>
      <p:pic>
        <p:nvPicPr>
          <p:cNvPr id="5" name="Picture 4">
            <a:extLst>
              <a:ext uri="{FF2B5EF4-FFF2-40B4-BE49-F238E27FC236}">
                <a16:creationId xmlns:a16="http://schemas.microsoft.com/office/drawing/2014/main" id="{1D34F419-6A45-C998-4E25-BB3162B353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5403" y="4070041"/>
            <a:ext cx="4874941" cy="2644890"/>
          </a:xfrm>
          <a:prstGeom prst="rect">
            <a:avLst/>
          </a:prstGeom>
        </p:spPr>
      </p:pic>
    </p:spTree>
    <p:extLst>
      <p:ext uri="{BB962C8B-B14F-4D97-AF65-F5344CB8AC3E}">
        <p14:creationId xmlns:p14="http://schemas.microsoft.com/office/powerpoint/2010/main" val="28064426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5F2EC-27A3-CFBB-E4F4-80CC0830ECBF}"/>
              </a:ext>
            </a:extLst>
          </p:cNvPr>
          <p:cNvSpPr>
            <a:spLocks noGrp="1"/>
          </p:cNvSpPr>
          <p:nvPr>
            <p:ph type="title"/>
          </p:nvPr>
        </p:nvSpPr>
        <p:spPr>
          <a:xfrm>
            <a:off x="742648" y="402150"/>
            <a:ext cx="8596668" cy="1320800"/>
          </a:xfrm>
        </p:spPr>
        <p:txBody>
          <a:bodyPr>
            <a:normAutofit/>
          </a:bodyPr>
          <a:lstStyle/>
          <a:p>
            <a:r>
              <a:rPr lang="fa-IR" sz="2800" b="1" dirty="0">
                <a:solidFill>
                  <a:srgbClr val="FFFFFF"/>
                </a:solidFill>
              </a:rPr>
              <a:t>            </a:t>
            </a:r>
            <a:r>
              <a:rPr lang="en-US" sz="2800" b="1" dirty="0">
                <a:solidFill>
                  <a:srgbClr val="FFFFFF"/>
                </a:solidFill>
              </a:rPr>
              <a:t>Setting the Time and Date</a:t>
            </a:r>
          </a:p>
        </p:txBody>
      </p:sp>
      <p:sp>
        <p:nvSpPr>
          <p:cNvPr id="3" name="Content Placeholder 2">
            <a:extLst>
              <a:ext uri="{FF2B5EF4-FFF2-40B4-BE49-F238E27FC236}">
                <a16:creationId xmlns:a16="http://schemas.microsoft.com/office/drawing/2014/main" id="{F5365AA0-EE0F-D1C0-D866-B60E3D4C4785}"/>
              </a:ext>
            </a:extLst>
          </p:cNvPr>
          <p:cNvSpPr>
            <a:spLocks noGrp="1"/>
          </p:cNvSpPr>
          <p:nvPr>
            <p:ph idx="1"/>
          </p:nvPr>
        </p:nvSpPr>
        <p:spPr>
          <a:xfrm>
            <a:off x="1787676" y="2077512"/>
            <a:ext cx="9685866" cy="3880773"/>
          </a:xfrm>
        </p:spPr>
        <p:txBody>
          <a:bodyPr>
            <a:noAutofit/>
          </a:bodyPr>
          <a:lstStyle/>
          <a:p>
            <a:r>
              <a:rPr lang="en-US" sz="1600" dirty="0" err="1">
                <a:solidFill>
                  <a:srgbClr val="E6E6E6"/>
                </a:solidFill>
              </a:rPr>
              <a:t>Timedatectl</a:t>
            </a:r>
            <a:r>
              <a:rPr lang="en-US" sz="1600" dirty="0">
                <a:solidFill>
                  <a:srgbClr val="E6E6E6"/>
                </a:solidFill>
              </a:rPr>
              <a:t>                      DST  daylight saving time</a:t>
            </a:r>
            <a:endParaRPr lang="fa-IR" sz="2400" dirty="0"/>
          </a:p>
          <a:p>
            <a:endParaRPr lang="fa-IR" sz="2400" dirty="0"/>
          </a:p>
          <a:p>
            <a:r>
              <a:rPr lang="en-US" sz="1600" dirty="0" err="1">
                <a:solidFill>
                  <a:srgbClr val="E6E6E6"/>
                </a:solidFill>
              </a:rPr>
              <a:t>timedatectl</a:t>
            </a:r>
            <a:r>
              <a:rPr lang="en-US" sz="1600" dirty="0">
                <a:solidFill>
                  <a:srgbClr val="E6E6E6"/>
                </a:solidFill>
              </a:rPr>
              <a:t> set-time "20</a:t>
            </a:r>
            <a:r>
              <a:rPr lang="fa-IR" sz="1600" dirty="0">
                <a:solidFill>
                  <a:srgbClr val="E6E6E6"/>
                </a:solidFill>
              </a:rPr>
              <a:t>23</a:t>
            </a:r>
            <a:r>
              <a:rPr lang="en-US" sz="1600" dirty="0">
                <a:solidFill>
                  <a:srgbClr val="E6E6E6"/>
                </a:solidFill>
              </a:rPr>
              <a:t>-08-02 06:15:00“</a:t>
            </a:r>
          </a:p>
          <a:p>
            <a:endParaRPr lang="en-US" sz="2400" dirty="0"/>
          </a:p>
          <a:p>
            <a:r>
              <a:rPr lang="en-US" sz="1600" dirty="0">
                <a:solidFill>
                  <a:srgbClr val="E6E6E6"/>
                </a:solidFill>
              </a:rPr>
              <a:t>Disable </a:t>
            </a:r>
            <a:r>
              <a:rPr lang="en-US" sz="1600" dirty="0" err="1">
                <a:solidFill>
                  <a:srgbClr val="E6E6E6"/>
                </a:solidFill>
              </a:rPr>
              <a:t>ntp</a:t>
            </a:r>
            <a:r>
              <a:rPr lang="en-US" sz="1600" dirty="0">
                <a:solidFill>
                  <a:srgbClr val="E6E6E6"/>
                </a:solidFill>
              </a:rPr>
              <a:t>     </a:t>
            </a:r>
            <a:r>
              <a:rPr lang="en-US" sz="1600" dirty="0" err="1">
                <a:solidFill>
                  <a:srgbClr val="E6E6E6"/>
                </a:solidFill>
              </a:rPr>
              <a:t>timedatectl</a:t>
            </a:r>
            <a:r>
              <a:rPr lang="en-US" sz="1600" dirty="0">
                <a:solidFill>
                  <a:srgbClr val="E6E6E6"/>
                </a:solidFill>
              </a:rPr>
              <a:t> set-</a:t>
            </a:r>
            <a:r>
              <a:rPr lang="en-US" sz="1600" dirty="0" err="1">
                <a:solidFill>
                  <a:srgbClr val="E6E6E6"/>
                </a:solidFill>
              </a:rPr>
              <a:t>ntp</a:t>
            </a:r>
            <a:r>
              <a:rPr lang="en-US" sz="1600" dirty="0">
                <a:solidFill>
                  <a:srgbClr val="E6E6E6"/>
                </a:solidFill>
              </a:rPr>
              <a:t> false</a:t>
            </a:r>
            <a:endParaRPr lang="fa-IR" sz="2400" dirty="0"/>
          </a:p>
          <a:p>
            <a:endParaRPr lang="fa-IR" sz="2400" dirty="0"/>
          </a:p>
          <a:p>
            <a:r>
              <a:rPr lang="en-US" sz="1600" dirty="0" err="1">
                <a:solidFill>
                  <a:srgbClr val="E6E6E6"/>
                </a:solidFill>
              </a:rPr>
              <a:t>Hwclock</a:t>
            </a:r>
            <a:r>
              <a:rPr lang="en-US" sz="1600" dirty="0">
                <a:solidFill>
                  <a:srgbClr val="E6E6E6"/>
                </a:solidFill>
              </a:rPr>
              <a:t>   -s  h to s      -w  s to h  hardware clock in </a:t>
            </a:r>
            <a:r>
              <a:rPr lang="en-US" sz="1600" dirty="0" err="1">
                <a:solidFill>
                  <a:srgbClr val="E6E6E6"/>
                </a:solidFill>
              </a:rPr>
              <a:t>cmos</a:t>
            </a:r>
            <a:r>
              <a:rPr lang="en-US" sz="1600" dirty="0">
                <a:solidFill>
                  <a:srgbClr val="E6E6E6"/>
                </a:solidFill>
              </a:rPr>
              <a:t> battery</a:t>
            </a:r>
          </a:p>
          <a:p>
            <a:endParaRPr lang="en-US" sz="2400" dirty="0"/>
          </a:p>
          <a:p>
            <a:r>
              <a:rPr lang="en-US" sz="1600" dirty="0">
                <a:solidFill>
                  <a:srgbClr val="E6E6E6"/>
                </a:solidFill>
              </a:rPr>
              <a:t>Date            software clock   </a:t>
            </a:r>
          </a:p>
        </p:txBody>
      </p:sp>
    </p:spTree>
    <p:extLst>
      <p:ext uri="{BB962C8B-B14F-4D97-AF65-F5344CB8AC3E}">
        <p14:creationId xmlns:p14="http://schemas.microsoft.com/office/powerpoint/2010/main" val="1861797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3E6B-F1D4-2D03-EC60-CF39427A9610}"/>
              </a:ext>
            </a:extLst>
          </p:cNvPr>
          <p:cNvSpPr>
            <a:spLocks noGrp="1"/>
          </p:cNvSpPr>
          <p:nvPr>
            <p:ph type="title"/>
          </p:nvPr>
        </p:nvSpPr>
        <p:spPr>
          <a:xfrm>
            <a:off x="985245" y="107718"/>
            <a:ext cx="8596668" cy="1320800"/>
          </a:xfrm>
        </p:spPr>
        <p:txBody>
          <a:bodyPr/>
          <a:lstStyle/>
          <a:p>
            <a:r>
              <a:rPr lang="en-US" sz="2800" b="1" dirty="0">
                <a:solidFill>
                  <a:srgbClr val="FFFFFF"/>
                </a:solidFill>
              </a:rPr>
              <a:t>                    </a:t>
            </a:r>
            <a:r>
              <a:rPr lang="en-US" sz="2800" b="1" dirty="0" err="1">
                <a:solidFill>
                  <a:srgbClr val="FFFFFF"/>
                </a:solidFill>
              </a:rPr>
              <a:t>ntp</a:t>
            </a:r>
            <a:r>
              <a:rPr lang="en-US" sz="2800" b="1" dirty="0">
                <a:solidFill>
                  <a:srgbClr val="FFFFFF"/>
                </a:solidFill>
              </a:rPr>
              <a:t> server</a:t>
            </a:r>
          </a:p>
        </p:txBody>
      </p:sp>
      <p:sp>
        <p:nvSpPr>
          <p:cNvPr id="3" name="Content Placeholder 2">
            <a:extLst>
              <a:ext uri="{FF2B5EF4-FFF2-40B4-BE49-F238E27FC236}">
                <a16:creationId xmlns:a16="http://schemas.microsoft.com/office/drawing/2014/main" id="{4CB347A5-9356-2F29-B627-92C53DD8A856}"/>
              </a:ext>
            </a:extLst>
          </p:cNvPr>
          <p:cNvSpPr>
            <a:spLocks noGrp="1"/>
          </p:cNvSpPr>
          <p:nvPr>
            <p:ph idx="1"/>
          </p:nvPr>
        </p:nvSpPr>
        <p:spPr>
          <a:xfrm>
            <a:off x="1731693" y="2209109"/>
            <a:ext cx="10264986" cy="3880773"/>
          </a:xfrm>
        </p:spPr>
        <p:txBody>
          <a:bodyPr>
            <a:noAutofit/>
          </a:bodyPr>
          <a:lstStyle/>
          <a:p>
            <a:r>
              <a:rPr lang="en-US" sz="1600" dirty="0">
                <a:solidFill>
                  <a:srgbClr val="E6E6E6"/>
                </a:solidFill>
              </a:rPr>
              <a:t>Atomic clock                        stratum0</a:t>
            </a:r>
          </a:p>
          <a:p>
            <a:endParaRPr lang="en-US" sz="2400" dirty="0"/>
          </a:p>
          <a:p>
            <a:r>
              <a:rPr lang="en-US" sz="1600" dirty="0">
                <a:solidFill>
                  <a:srgbClr val="E6E6E6"/>
                </a:solidFill>
              </a:rPr>
              <a:t>Stratum1      directly connect to stratum0</a:t>
            </a:r>
          </a:p>
          <a:p>
            <a:endParaRPr lang="en-US" sz="2400" dirty="0"/>
          </a:p>
          <a:p>
            <a:endParaRPr lang="en-US" sz="2400" dirty="0"/>
          </a:p>
          <a:p>
            <a:r>
              <a:rPr lang="en-US" sz="1600" dirty="0">
                <a:solidFill>
                  <a:srgbClr val="E6E6E6"/>
                </a:solidFill>
              </a:rPr>
              <a:t>Stratum 15   read time from stratum 14 </a:t>
            </a:r>
          </a:p>
          <a:p>
            <a:endParaRPr lang="en-US" sz="2400" dirty="0"/>
          </a:p>
          <a:p>
            <a:r>
              <a:rPr lang="en-US" sz="1600" dirty="0">
                <a:solidFill>
                  <a:srgbClr val="E6E6E6"/>
                </a:solidFill>
              </a:rPr>
              <a:t>ntppool.org                yum install </a:t>
            </a:r>
            <a:r>
              <a:rPr lang="en-US" sz="1600" dirty="0" err="1">
                <a:solidFill>
                  <a:srgbClr val="E6E6E6"/>
                </a:solidFill>
              </a:rPr>
              <a:t>ntp</a:t>
            </a:r>
            <a:r>
              <a:rPr lang="en-US" sz="1600" dirty="0">
                <a:solidFill>
                  <a:srgbClr val="E6E6E6"/>
                </a:solidFill>
              </a:rPr>
              <a:t>             /</a:t>
            </a:r>
            <a:r>
              <a:rPr lang="en-US" sz="1600" dirty="0" err="1">
                <a:solidFill>
                  <a:srgbClr val="E6E6E6"/>
                </a:solidFill>
              </a:rPr>
              <a:t>etc</a:t>
            </a:r>
            <a:r>
              <a:rPr lang="en-US" sz="1600" dirty="0">
                <a:solidFill>
                  <a:srgbClr val="E6E6E6"/>
                </a:solidFill>
              </a:rPr>
              <a:t>/</a:t>
            </a:r>
            <a:r>
              <a:rPr lang="en-US" sz="1600" dirty="0" err="1">
                <a:solidFill>
                  <a:srgbClr val="E6E6E6"/>
                </a:solidFill>
              </a:rPr>
              <a:t>ntp.conf</a:t>
            </a:r>
            <a:r>
              <a:rPr lang="en-US" sz="1600" dirty="0">
                <a:solidFill>
                  <a:srgbClr val="E6E6E6"/>
                </a:solidFill>
              </a:rPr>
              <a:t>    </a:t>
            </a:r>
            <a:r>
              <a:rPr lang="en-US" sz="1600" dirty="0" err="1">
                <a:solidFill>
                  <a:srgbClr val="E6E6E6"/>
                </a:solidFill>
              </a:rPr>
              <a:t>ntpstat</a:t>
            </a:r>
            <a:endParaRPr lang="en-US" sz="2400" dirty="0"/>
          </a:p>
          <a:p>
            <a:r>
              <a:rPr lang="en-US" sz="1600" dirty="0" err="1">
                <a:solidFill>
                  <a:srgbClr val="E6E6E6"/>
                </a:solidFill>
              </a:rPr>
              <a:t>ntpq</a:t>
            </a:r>
            <a:r>
              <a:rPr lang="en-US" sz="1600" dirty="0">
                <a:solidFill>
                  <a:srgbClr val="E6E6E6"/>
                </a:solidFill>
              </a:rPr>
              <a:t>  -p         123 port </a:t>
            </a:r>
            <a:r>
              <a:rPr lang="en-US" sz="1600" dirty="0" err="1">
                <a:solidFill>
                  <a:srgbClr val="E6E6E6"/>
                </a:solidFill>
              </a:rPr>
              <a:t>udp</a:t>
            </a:r>
            <a:endParaRPr lang="en-US" sz="2400" dirty="0"/>
          </a:p>
          <a:p>
            <a:endParaRPr lang="en-US" sz="2400" dirty="0"/>
          </a:p>
        </p:txBody>
      </p:sp>
    </p:spTree>
    <p:extLst>
      <p:ext uri="{BB962C8B-B14F-4D97-AF65-F5344CB8AC3E}">
        <p14:creationId xmlns:p14="http://schemas.microsoft.com/office/powerpoint/2010/main" val="201072481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10A5E-C505-58F9-4EC5-2ADA4C127E97}"/>
              </a:ext>
            </a:extLst>
          </p:cNvPr>
          <p:cNvSpPr>
            <a:spLocks noGrp="1"/>
          </p:cNvSpPr>
          <p:nvPr>
            <p:ph type="title"/>
          </p:nvPr>
        </p:nvSpPr>
        <p:spPr>
          <a:xfrm>
            <a:off x="174414" y="361027"/>
            <a:ext cx="8596668" cy="1320800"/>
          </a:xfrm>
        </p:spPr>
        <p:txBody>
          <a:bodyPr/>
          <a:lstStyle/>
          <a:p>
            <a:r>
              <a:rPr lang="en-US" sz="2800" b="1" dirty="0">
                <a:solidFill>
                  <a:srgbClr val="FFFFFF"/>
                </a:solidFill>
              </a:rPr>
              <a:t>                          cups</a:t>
            </a:r>
          </a:p>
        </p:txBody>
      </p:sp>
      <p:sp>
        <p:nvSpPr>
          <p:cNvPr id="3" name="Content Placeholder 2">
            <a:extLst>
              <a:ext uri="{FF2B5EF4-FFF2-40B4-BE49-F238E27FC236}">
                <a16:creationId xmlns:a16="http://schemas.microsoft.com/office/drawing/2014/main" id="{D01557BB-D53E-4225-84A1-623C07AFFFD9}"/>
              </a:ext>
            </a:extLst>
          </p:cNvPr>
          <p:cNvSpPr>
            <a:spLocks noGrp="1"/>
          </p:cNvSpPr>
          <p:nvPr>
            <p:ph idx="1"/>
          </p:nvPr>
        </p:nvSpPr>
        <p:spPr>
          <a:xfrm>
            <a:off x="1499361" y="2375021"/>
            <a:ext cx="10036386" cy="3880773"/>
          </a:xfrm>
        </p:spPr>
        <p:txBody>
          <a:bodyPr>
            <a:noAutofit/>
          </a:bodyPr>
          <a:lstStyle/>
          <a:p>
            <a:r>
              <a:rPr lang="en-US" sz="1600" dirty="0">
                <a:solidFill>
                  <a:srgbClr val="E6E6E6"/>
                </a:solidFill>
              </a:rPr>
              <a:t>Fortunately, the Common Unix Printing System (CUPS) solves many of those problems for us. CUPS provides a common interface for working with any type of printer on your Linux system. It accepts print jobs using the PostScript document format and sends them to printers using a print queue system.</a:t>
            </a:r>
          </a:p>
          <a:p>
            <a:endParaRPr lang="en-US" sz="2000" dirty="0"/>
          </a:p>
          <a:p>
            <a:r>
              <a:rPr lang="en-US" sz="1600" dirty="0">
                <a:solidFill>
                  <a:srgbClr val="E6E6E6"/>
                </a:solidFill>
              </a:rPr>
              <a:t>/</a:t>
            </a:r>
            <a:r>
              <a:rPr lang="en-US" sz="1600" dirty="0" err="1">
                <a:solidFill>
                  <a:srgbClr val="E6E6E6"/>
                </a:solidFill>
              </a:rPr>
              <a:t>etc</a:t>
            </a:r>
            <a:r>
              <a:rPr lang="en-US" sz="1600" dirty="0">
                <a:solidFill>
                  <a:srgbClr val="E6E6E6"/>
                </a:solidFill>
              </a:rPr>
              <a:t>/cups                             </a:t>
            </a:r>
            <a:r>
              <a:rPr lang="en-US" sz="1600" dirty="0" err="1">
                <a:solidFill>
                  <a:srgbClr val="E6E6E6"/>
                </a:solidFill>
              </a:rPr>
              <a:t>lpr</a:t>
            </a:r>
            <a:r>
              <a:rPr lang="en-US" sz="1600" dirty="0">
                <a:solidFill>
                  <a:srgbClr val="E6E6E6"/>
                </a:solidFill>
              </a:rPr>
              <a:t>  -P EPSON_ET_3750_Series   file.txt</a:t>
            </a:r>
          </a:p>
          <a:p>
            <a:r>
              <a:rPr lang="en-US" sz="1600" dirty="0" err="1">
                <a:solidFill>
                  <a:srgbClr val="E6E6E6"/>
                </a:solidFill>
              </a:rPr>
              <a:t>cupsctl</a:t>
            </a:r>
            <a:r>
              <a:rPr lang="en-US" sz="1600" dirty="0">
                <a:solidFill>
                  <a:srgbClr val="E6E6E6"/>
                </a:solidFill>
              </a:rPr>
              <a:t> --remote-admin --remote-any --share-printers</a:t>
            </a:r>
          </a:p>
          <a:p>
            <a:pPr marL="0" indent="0">
              <a:buNone/>
            </a:pPr>
            <a:r>
              <a:rPr lang="en-US" sz="1600" dirty="0">
                <a:solidFill>
                  <a:srgbClr val="E6E6E6"/>
                </a:solidFill>
              </a:rPr>
              <a:t> </a:t>
            </a:r>
          </a:p>
          <a:p>
            <a:r>
              <a:rPr lang="en-US" sz="1600" dirty="0">
                <a:solidFill>
                  <a:srgbClr val="E6E6E6"/>
                </a:solidFill>
              </a:rPr>
              <a:t>The CUPS web interface allows you to define new printers, modify existing printers, and check on the status of print jobs sent to each printer. Not only does CUPS recognize directly connected printers, but you can also configure network printers using several standard network printing protocols, such as the Internet Printing Protocol (IPP) or the Microsoft Server Message Block (SMB) protocol</a:t>
            </a:r>
          </a:p>
        </p:txBody>
      </p:sp>
    </p:spTree>
    <p:extLst>
      <p:ext uri="{BB962C8B-B14F-4D97-AF65-F5344CB8AC3E}">
        <p14:creationId xmlns:p14="http://schemas.microsoft.com/office/powerpoint/2010/main" val="306288130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8718-C4D9-B6C1-995B-DFB027DBB065}"/>
              </a:ext>
            </a:extLst>
          </p:cNvPr>
          <p:cNvSpPr>
            <a:spLocks noGrp="1"/>
          </p:cNvSpPr>
          <p:nvPr>
            <p:ph type="title"/>
          </p:nvPr>
        </p:nvSpPr>
        <p:spPr>
          <a:xfrm>
            <a:off x="191489" y="133244"/>
            <a:ext cx="10515600" cy="1325563"/>
          </a:xfrm>
        </p:spPr>
        <p:txBody>
          <a:bodyPr/>
          <a:lstStyle/>
          <a:p>
            <a:r>
              <a:rPr lang="fa-IR" sz="2800" b="1" dirty="0">
                <a:solidFill>
                  <a:srgbClr val="FFFFFF"/>
                </a:solidFill>
              </a:rPr>
              <a:t>                 </a:t>
            </a:r>
            <a:r>
              <a:rPr lang="en-US" sz="2800" b="1" dirty="0">
                <a:solidFill>
                  <a:srgbClr val="FFFFFF"/>
                </a:solidFill>
              </a:rPr>
              <a:t>Managing Email </a:t>
            </a:r>
          </a:p>
        </p:txBody>
      </p:sp>
      <p:pic>
        <p:nvPicPr>
          <p:cNvPr id="5" name="Content Placeholder 4">
            <a:extLst>
              <a:ext uri="{FF2B5EF4-FFF2-40B4-BE49-F238E27FC236}">
                <a16:creationId xmlns:a16="http://schemas.microsoft.com/office/drawing/2014/main" id="{38F5462C-7181-4E01-1330-0568713200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7257" y="1002944"/>
            <a:ext cx="6731346" cy="2414037"/>
          </a:xfrm>
        </p:spPr>
      </p:pic>
      <p:sp>
        <p:nvSpPr>
          <p:cNvPr id="7" name="TextBox 6">
            <a:extLst>
              <a:ext uri="{FF2B5EF4-FFF2-40B4-BE49-F238E27FC236}">
                <a16:creationId xmlns:a16="http://schemas.microsoft.com/office/drawing/2014/main" id="{E59CC72C-01DE-41D9-8722-A237CE98081D}"/>
              </a:ext>
            </a:extLst>
          </p:cNvPr>
          <p:cNvSpPr txBox="1"/>
          <p:nvPr/>
        </p:nvSpPr>
        <p:spPr>
          <a:xfrm>
            <a:off x="191489" y="3623899"/>
            <a:ext cx="10062882" cy="2862322"/>
          </a:xfrm>
          <a:prstGeom prst="rect">
            <a:avLst/>
          </a:prstGeom>
          <a:noFill/>
        </p:spPr>
        <p:txBody>
          <a:bodyPr wrap="square">
            <a:spAutoFit/>
          </a:bodyPr>
          <a:lstStyle/>
          <a:p>
            <a:r>
              <a:rPr lang="en-US" sz="1600" dirty="0">
                <a:solidFill>
                  <a:srgbClr val="E6E6E6"/>
                </a:solidFill>
              </a:rPr>
              <a:t>The mail transfer agent (MTA) sends incoming emails (and outgoing emails being delivered locally) to a mail delivery agent (MDA) or local user’s inbox. For outbound messages being transferred to a remote system, the agent establishes a communication link with another MTA program on the remote host to transfer the email.</a:t>
            </a:r>
          </a:p>
          <a:p>
            <a:r>
              <a:rPr lang="en-US" sz="1600" dirty="0">
                <a:solidFill>
                  <a:srgbClr val="E6E6E6"/>
                </a:solidFill>
              </a:rPr>
              <a:t> ■ The mail delivery agent (MDA) is a program that delivers messages to a local user’s inbox.</a:t>
            </a:r>
          </a:p>
          <a:p>
            <a:r>
              <a:rPr lang="en-US" sz="1600" dirty="0">
                <a:solidFill>
                  <a:srgbClr val="E6E6E6"/>
                </a:solidFill>
              </a:rPr>
              <a:t> ■ The mail user agent (MUA) is an interface for users to read messages stored in their mailboxes. MUAs do not receive messages; they only display messages that are already in the user’s mailbox. The lines between these three functions are often fuzzy. Some Linux email packages combine functionality for the MTA and MDA functions, whereas others combine the MDA and MUA functions</a:t>
            </a:r>
          </a:p>
        </p:txBody>
      </p:sp>
    </p:spTree>
    <p:extLst>
      <p:ext uri="{BB962C8B-B14F-4D97-AF65-F5344CB8AC3E}">
        <p14:creationId xmlns:p14="http://schemas.microsoft.com/office/powerpoint/2010/main" val="373715072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E5096-233A-06C5-DA0B-0D513F28CAD0}"/>
              </a:ext>
            </a:extLst>
          </p:cNvPr>
          <p:cNvSpPr>
            <a:spLocks noGrp="1"/>
          </p:cNvSpPr>
          <p:nvPr>
            <p:ph type="title"/>
          </p:nvPr>
        </p:nvSpPr>
        <p:spPr>
          <a:xfrm>
            <a:off x="0" y="0"/>
            <a:ext cx="10018713" cy="1752599"/>
          </a:xfrm>
        </p:spPr>
        <p:txBody>
          <a:bodyPr>
            <a:normAutofit/>
          </a:bodyPr>
          <a:lstStyle/>
          <a:p>
            <a:r>
              <a:rPr lang="en-US" sz="2800" b="1" dirty="0">
                <a:solidFill>
                  <a:srgbClr val="FFFFFF"/>
                </a:solidFill>
              </a:rPr>
              <a:t>                choosing  email  software</a:t>
            </a:r>
          </a:p>
        </p:txBody>
      </p:sp>
      <p:sp>
        <p:nvSpPr>
          <p:cNvPr id="3" name="Content Placeholder 2">
            <a:extLst>
              <a:ext uri="{FF2B5EF4-FFF2-40B4-BE49-F238E27FC236}">
                <a16:creationId xmlns:a16="http://schemas.microsoft.com/office/drawing/2014/main" id="{16E9EAAB-17F4-6F96-09E9-91634CCDF142}"/>
              </a:ext>
            </a:extLst>
          </p:cNvPr>
          <p:cNvSpPr>
            <a:spLocks noGrp="1"/>
          </p:cNvSpPr>
          <p:nvPr>
            <p:ph idx="1"/>
          </p:nvPr>
        </p:nvSpPr>
        <p:spPr/>
        <p:txBody>
          <a:bodyPr>
            <a:normAutofit fontScale="92500" lnSpcReduction="10000"/>
          </a:bodyPr>
          <a:lstStyle/>
          <a:p>
            <a:r>
              <a:rPr lang="en-US" sz="1600" dirty="0" err="1">
                <a:solidFill>
                  <a:srgbClr val="E6E6E6"/>
                </a:solidFill>
              </a:rPr>
              <a:t>Sendmail</a:t>
            </a:r>
            <a:r>
              <a:rPr lang="en-US" sz="1600" dirty="0">
                <a:solidFill>
                  <a:srgbClr val="E6E6E6"/>
                </a:solidFill>
              </a:rPr>
              <a:t> </a:t>
            </a:r>
          </a:p>
          <a:p>
            <a:endParaRPr lang="en-US" sz="2400" dirty="0"/>
          </a:p>
          <a:p>
            <a:pPr marL="0" indent="0">
              <a:buNone/>
            </a:pPr>
            <a:endParaRPr lang="en-US" sz="2400" dirty="0"/>
          </a:p>
          <a:p>
            <a:r>
              <a:rPr lang="en-US" sz="1600" dirty="0">
                <a:solidFill>
                  <a:srgbClr val="E6E6E6"/>
                </a:solidFill>
              </a:rPr>
              <a:t>Postfix</a:t>
            </a:r>
          </a:p>
          <a:p>
            <a:endParaRPr lang="en-US" sz="2400" dirty="0"/>
          </a:p>
          <a:p>
            <a:pPr marL="0" indent="0">
              <a:buNone/>
            </a:pPr>
            <a:endParaRPr lang="en-US" sz="2400" dirty="0"/>
          </a:p>
          <a:p>
            <a:r>
              <a:rPr lang="en-US" sz="1600" dirty="0">
                <a:solidFill>
                  <a:srgbClr val="E6E6E6"/>
                </a:solidFill>
              </a:rPr>
              <a:t>Exim</a:t>
            </a:r>
          </a:p>
        </p:txBody>
      </p:sp>
    </p:spTree>
    <p:extLst>
      <p:ext uri="{BB962C8B-B14F-4D97-AF65-F5344CB8AC3E}">
        <p14:creationId xmlns:p14="http://schemas.microsoft.com/office/powerpoint/2010/main" val="119557656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630E6-E20D-8A2F-F8BA-B73FB5CD55BF}"/>
              </a:ext>
            </a:extLst>
          </p:cNvPr>
          <p:cNvSpPr>
            <a:spLocks noGrp="1"/>
          </p:cNvSpPr>
          <p:nvPr>
            <p:ph type="title"/>
          </p:nvPr>
        </p:nvSpPr>
        <p:spPr>
          <a:xfrm>
            <a:off x="1680255" y="89473"/>
            <a:ext cx="7006546" cy="1393370"/>
          </a:xfrm>
        </p:spPr>
        <p:txBody>
          <a:bodyPr/>
          <a:lstStyle/>
          <a:p>
            <a:r>
              <a:rPr lang="en-US" sz="2800" b="1" dirty="0">
                <a:solidFill>
                  <a:srgbClr val="FFFFFF"/>
                </a:solidFill>
              </a:rPr>
              <a:t>                           mail</a:t>
            </a:r>
          </a:p>
        </p:txBody>
      </p:sp>
      <p:sp>
        <p:nvSpPr>
          <p:cNvPr id="3" name="Content Placeholder 2">
            <a:extLst>
              <a:ext uri="{FF2B5EF4-FFF2-40B4-BE49-F238E27FC236}">
                <a16:creationId xmlns:a16="http://schemas.microsoft.com/office/drawing/2014/main" id="{8925CADC-6BD8-3DF5-236E-5E5A585CA568}"/>
              </a:ext>
            </a:extLst>
          </p:cNvPr>
          <p:cNvSpPr>
            <a:spLocks noGrp="1"/>
          </p:cNvSpPr>
          <p:nvPr>
            <p:ph idx="1"/>
          </p:nvPr>
        </p:nvSpPr>
        <p:spPr>
          <a:xfrm>
            <a:off x="1680255" y="2303036"/>
            <a:ext cx="10051626" cy="3880773"/>
          </a:xfrm>
        </p:spPr>
        <p:txBody>
          <a:bodyPr>
            <a:noAutofit/>
          </a:bodyPr>
          <a:lstStyle/>
          <a:p>
            <a:r>
              <a:rPr lang="en-US" sz="1600" dirty="0">
                <a:solidFill>
                  <a:srgbClr val="E6E6E6"/>
                </a:solidFill>
              </a:rPr>
              <a:t>Using mail to send an email message</a:t>
            </a:r>
          </a:p>
          <a:p>
            <a:endParaRPr lang="en-US" sz="2400" dirty="0"/>
          </a:p>
          <a:p>
            <a:pPr marL="0" indent="0">
              <a:buNone/>
            </a:pPr>
            <a:endParaRPr lang="en-US" sz="2400" dirty="0"/>
          </a:p>
          <a:p>
            <a:r>
              <a:rPr lang="en-US" sz="1600" dirty="0">
                <a:solidFill>
                  <a:srgbClr val="E6E6E6"/>
                </a:solidFill>
              </a:rPr>
              <a:t>/var/spool/mail/</a:t>
            </a:r>
          </a:p>
          <a:p>
            <a:endParaRPr lang="en-US" sz="2400" dirty="0"/>
          </a:p>
          <a:p>
            <a:r>
              <a:rPr lang="en-US" sz="1600" dirty="0">
                <a:solidFill>
                  <a:srgbClr val="E6E6E6"/>
                </a:solidFill>
              </a:rPr>
              <a:t>Using </a:t>
            </a:r>
            <a:r>
              <a:rPr lang="en-US" sz="1600" dirty="0" err="1">
                <a:solidFill>
                  <a:srgbClr val="E6E6E6"/>
                </a:solidFill>
              </a:rPr>
              <a:t>mailq</a:t>
            </a:r>
            <a:r>
              <a:rPr lang="en-US" sz="1600" dirty="0">
                <a:solidFill>
                  <a:srgbClr val="E6E6E6"/>
                </a:solidFill>
              </a:rPr>
              <a:t> and </a:t>
            </a:r>
            <a:r>
              <a:rPr lang="en-US" sz="1600" dirty="0" err="1">
                <a:solidFill>
                  <a:srgbClr val="E6E6E6"/>
                </a:solidFill>
              </a:rPr>
              <a:t>sendmail</a:t>
            </a:r>
            <a:r>
              <a:rPr lang="en-US" sz="1600" dirty="0">
                <a:solidFill>
                  <a:srgbClr val="E6E6E6"/>
                </a:solidFill>
              </a:rPr>
              <a:t> -bp to view the local email queue </a:t>
            </a:r>
          </a:p>
          <a:p>
            <a:pPr marL="0" indent="0">
              <a:buNone/>
            </a:pPr>
            <a:r>
              <a:rPr lang="en-US" sz="1600" dirty="0">
                <a:solidFill>
                  <a:srgbClr val="E6E6E6"/>
                </a:solidFill>
              </a:rPr>
              <a:t>mail -s "Test of Mail Queue" </a:t>
            </a:r>
            <a:r>
              <a:rPr lang="en-US" sz="1600" dirty="0">
                <a:solidFill>
                  <a:srgbClr val="E6E6E6"/>
                </a:solidFill>
                <a:hlinkClick r:id="rId2"/>
              </a:rPr>
              <a:t>aghamohammadiiman@gmail.com</a:t>
            </a:r>
            <a:r>
              <a:rPr lang="en-US" sz="1600" dirty="0">
                <a:solidFill>
                  <a:srgbClr val="E6E6E6"/>
                </a:solidFill>
              </a:rPr>
              <a:t>  if you have mail server</a:t>
            </a:r>
          </a:p>
          <a:p>
            <a:pPr marL="0" indent="0">
              <a:buNone/>
            </a:pPr>
            <a:endParaRPr lang="en-US" sz="2400" dirty="0"/>
          </a:p>
        </p:txBody>
      </p:sp>
    </p:spTree>
    <p:extLst>
      <p:ext uri="{BB962C8B-B14F-4D97-AF65-F5344CB8AC3E}">
        <p14:creationId xmlns:p14="http://schemas.microsoft.com/office/powerpoint/2010/main" val="42482382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6EB4-456B-8C7C-8054-20055C57618E}"/>
              </a:ext>
            </a:extLst>
          </p:cNvPr>
          <p:cNvSpPr>
            <a:spLocks noGrp="1"/>
          </p:cNvSpPr>
          <p:nvPr>
            <p:ph type="title"/>
          </p:nvPr>
        </p:nvSpPr>
        <p:spPr>
          <a:xfrm>
            <a:off x="1772816" y="167813"/>
            <a:ext cx="8033657" cy="1320800"/>
          </a:xfrm>
        </p:spPr>
        <p:txBody>
          <a:bodyPr>
            <a:normAutofit/>
          </a:bodyPr>
          <a:lstStyle/>
          <a:p>
            <a:r>
              <a:rPr lang="en-US" sz="2800" b="1" dirty="0">
                <a:solidFill>
                  <a:srgbClr val="FFFFFF"/>
                </a:solidFill>
              </a:rPr>
              <a:t>           Using Log and Journal Files</a:t>
            </a:r>
          </a:p>
        </p:txBody>
      </p:sp>
      <p:sp>
        <p:nvSpPr>
          <p:cNvPr id="3" name="Content Placeholder 2">
            <a:extLst>
              <a:ext uri="{FF2B5EF4-FFF2-40B4-BE49-F238E27FC236}">
                <a16:creationId xmlns:a16="http://schemas.microsoft.com/office/drawing/2014/main" id="{D9AC52DE-C3BB-B0BF-7303-DF89C1833217}"/>
              </a:ext>
            </a:extLst>
          </p:cNvPr>
          <p:cNvSpPr>
            <a:spLocks noGrp="1"/>
          </p:cNvSpPr>
          <p:nvPr>
            <p:ph idx="1"/>
          </p:nvPr>
        </p:nvSpPr>
        <p:spPr>
          <a:xfrm>
            <a:off x="1240971" y="1675225"/>
            <a:ext cx="11275042" cy="3880773"/>
          </a:xfrm>
        </p:spPr>
        <p:txBody>
          <a:bodyPr>
            <a:noAutofit/>
          </a:bodyPr>
          <a:lstStyle/>
          <a:p>
            <a:r>
              <a:rPr lang="en-US" sz="1600" dirty="0">
                <a:solidFill>
                  <a:srgbClr val="E6E6E6"/>
                </a:solidFill>
              </a:rPr>
              <a:t>Lots of things happen on a Linux system while it’s running. Part of your job as a Linux administrator is to know everything that is happening and to watch for when things go wrong</a:t>
            </a:r>
          </a:p>
          <a:p>
            <a:pPr marL="0" indent="0">
              <a:buNone/>
            </a:pPr>
            <a:endParaRPr lang="en-US" sz="2800" dirty="0"/>
          </a:p>
          <a:p>
            <a:endParaRPr lang="en-US" sz="2800" dirty="0"/>
          </a:p>
          <a:p>
            <a:r>
              <a:rPr lang="en-US" sz="1600" dirty="0">
                <a:solidFill>
                  <a:srgbClr val="E6E6E6"/>
                </a:solidFill>
              </a:rPr>
              <a:t>examining the syslog Protocol</a:t>
            </a:r>
          </a:p>
          <a:p>
            <a:r>
              <a:rPr lang="en-US" sz="1600" dirty="0">
                <a:solidFill>
                  <a:srgbClr val="E6E6E6"/>
                </a:solidFill>
              </a:rPr>
              <a:t>Severity log </a:t>
            </a:r>
          </a:p>
        </p:txBody>
      </p:sp>
      <p:pic>
        <p:nvPicPr>
          <p:cNvPr id="5" name="Picture 4">
            <a:extLst>
              <a:ext uri="{FF2B5EF4-FFF2-40B4-BE49-F238E27FC236}">
                <a16:creationId xmlns:a16="http://schemas.microsoft.com/office/drawing/2014/main" id="{CFF823AF-3706-2DB0-BF92-42296D4C9B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1117" y="3710842"/>
            <a:ext cx="5585650" cy="2589302"/>
          </a:xfrm>
          <a:prstGeom prst="rect">
            <a:avLst/>
          </a:prstGeom>
        </p:spPr>
      </p:pic>
    </p:spTree>
    <p:extLst>
      <p:ext uri="{BB962C8B-B14F-4D97-AF65-F5344CB8AC3E}">
        <p14:creationId xmlns:p14="http://schemas.microsoft.com/office/powerpoint/2010/main" val="345467359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09A71-5881-4805-5708-FA35AEEBA7A7}"/>
              </a:ext>
            </a:extLst>
          </p:cNvPr>
          <p:cNvSpPr>
            <a:spLocks noGrp="1"/>
          </p:cNvSpPr>
          <p:nvPr>
            <p:ph type="title"/>
          </p:nvPr>
        </p:nvSpPr>
        <p:spPr>
          <a:xfrm>
            <a:off x="852284" y="174688"/>
            <a:ext cx="8596668" cy="1320800"/>
          </a:xfrm>
        </p:spPr>
        <p:txBody>
          <a:bodyPr/>
          <a:lstStyle/>
          <a:p>
            <a:r>
              <a:rPr lang="en-US" sz="2800" b="1" dirty="0">
                <a:solidFill>
                  <a:srgbClr val="FFFFFF"/>
                </a:solidFill>
              </a:rPr>
              <a:t>                            syslog</a:t>
            </a:r>
          </a:p>
        </p:txBody>
      </p:sp>
      <p:sp>
        <p:nvSpPr>
          <p:cNvPr id="3" name="Content Placeholder 2">
            <a:extLst>
              <a:ext uri="{FF2B5EF4-FFF2-40B4-BE49-F238E27FC236}">
                <a16:creationId xmlns:a16="http://schemas.microsoft.com/office/drawing/2014/main" id="{F8723D94-B633-6C7F-0EB6-FF4EA7192C91}"/>
              </a:ext>
            </a:extLst>
          </p:cNvPr>
          <p:cNvSpPr>
            <a:spLocks noGrp="1"/>
          </p:cNvSpPr>
          <p:nvPr>
            <p:ph idx="1"/>
          </p:nvPr>
        </p:nvSpPr>
        <p:spPr>
          <a:xfrm>
            <a:off x="1643052" y="2045994"/>
            <a:ext cx="10164838" cy="3880773"/>
          </a:xfrm>
        </p:spPr>
        <p:txBody>
          <a:bodyPr>
            <a:normAutofit/>
          </a:bodyPr>
          <a:lstStyle/>
          <a:p>
            <a:r>
              <a:rPr lang="en-US" sz="1600" dirty="0">
                <a:solidFill>
                  <a:srgbClr val="E6E6E6"/>
                </a:solidFill>
              </a:rPr>
              <a:t>In the mid-1980s Eric Allman defined a protocol for logging events from his </a:t>
            </a:r>
            <a:r>
              <a:rPr lang="en-US" sz="1600" dirty="0" err="1">
                <a:solidFill>
                  <a:srgbClr val="E6E6E6"/>
                </a:solidFill>
              </a:rPr>
              <a:t>Sendmail</a:t>
            </a:r>
            <a:r>
              <a:rPr lang="en-US" sz="1600" dirty="0">
                <a:solidFill>
                  <a:srgbClr val="E6E6E6"/>
                </a:solidFill>
              </a:rPr>
              <a:t> mail application called syslog. The syslog protocol quickly became a de facto standard for logging both system and application events in Unix, and it made its way to the Linux world.</a:t>
            </a:r>
          </a:p>
          <a:p>
            <a:endParaRPr lang="en-US" sz="2400" dirty="0"/>
          </a:p>
          <a:p>
            <a:r>
              <a:rPr lang="en-US" sz="1600" dirty="0">
                <a:solidFill>
                  <a:srgbClr val="E6E6E6"/>
                </a:solidFill>
              </a:rPr>
              <a:t>Syslog facility value   user kernel cups mail  auth </a:t>
            </a:r>
            <a:r>
              <a:rPr lang="en-US" sz="1600" dirty="0" err="1">
                <a:solidFill>
                  <a:srgbClr val="E6E6E6"/>
                </a:solidFill>
              </a:rPr>
              <a:t>cron</a:t>
            </a:r>
            <a:r>
              <a:rPr lang="en-US" sz="1600" dirty="0">
                <a:solidFill>
                  <a:srgbClr val="E6E6E6"/>
                </a:solidFill>
              </a:rPr>
              <a:t>(task schedular) </a:t>
            </a:r>
            <a:r>
              <a:rPr lang="en-US" sz="1600" dirty="0" err="1">
                <a:solidFill>
                  <a:srgbClr val="E6E6E6"/>
                </a:solidFill>
              </a:rPr>
              <a:t>Deamon</a:t>
            </a:r>
            <a:r>
              <a:rPr lang="en-US" sz="1600" dirty="0">
                <a:solidFill>
                  <a:srgbClr val="E6E6E6"/>
                </a:solidFill>
              </a:rPr>
              <a:t>(app run in background)</a:t>
            </a:r>
          </a:p>
        </p:txBody>
      </p:sp>
    </p:spTree>
    <p:extLst>
      <p:ext uri="{BB962C8B-B14F-4D97-AF65-F5344CB8AC3E}">
        <p14:creationId xmlns:p14="http://schemas.microsoft.com/office/powerpoint/2010/main" val="409440674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639DC-99E0-D1D9-CE8A-5C3024294F8A}"/>
              </a:ext>
            </a:extLst>
          </p:cNvPr>
          <p:cNvSpPr>
            <a:spLocks noGrp="1"/>
          </p:cNvSpPr>
          <p:nvPr>
            <p:ph type="title"/>
          </p:nvPr>
        </p:nvSpPr>
        <p:spPr>
          <a:xfrm>
            <a:off x="1268964" y="49763"/>
            <a:ext cx="8596668" cy="1320800"/>
          </a:xfrm>
        </p:spPr>
        <p:txBody>
          <a:bodyPr>
            <a:normAutofit/>
          </a:bodyPr>
          <a:lstStyle/>
          <a:p>
            <a:r>
              <a:rPr lang="en-US" sz="2800" b="1" dirty="0">
                <a:solidFill>
                  <a:srgbClr val="FFFFFF"/>
                </a:solidFill>
              </a:rPr>
              <a:t>                type of logging tools</a:t>
            </a:r>
          </a:p>
        </p:txBody>
      </p:sp>
      <p:sp>
        <p:nvSpPr>
          <p:cNvPr id="3" name="Content Placeholder 2">
            <a:extLst>
              <a:ext uri="{FF2B5EF4-FFF2-40B4-BE49-F238E27FC236}">
                <a16:creationId xmlns:a16="http://schemas.microsoft.com/office/drawing/2014/main" id="{FE53E378-6BD1-CD80-A89B-9147DEEBF295}"/>
              </a:ext>
            </a:extLst>
          </p:cNvPr>
          <p:cNvSpPr>
            <a:spLocks noGrp="1"/>
          </p:cNvSpPr>
          <p:nvPr>
            <p:ph idx="1"/>
          </p:nvPr>
        </p:nvSpPr>
        <p:spPr>
          <a:xfrm>
            <a:off x="1371599" y="1701119"/>
            <a:ext cx="10891158" cy="4351338"/>
          </a:xfrm>
        </p:spPr>
        <p:txBody>
          <a:bodyPr>
            <a:noAutofit/>
          </a:bodyPr>
          <a:lstStyle/>
          <a:p>
            <a:pPr marL="0" indent="0">
              <a:buNone/>
            </a:pPr>
            <a:endParaRPr lang="en-US" sz="2400" dirty="0"/>
          </a:p>
          <a:p>
            <a:r>
              <a:rPr lang="en-US" sz="1600" dirty="0">
                <a:solidFill>
                  <a:srgbClr val="E6E6E6"/>
                </a:solidFill>
              </a:rPr>
              <a:t>■ </a:t>
            </a:r>
            <a:r>
              <a:rPr lang="en-US" sz="1600" dirty="0" err="1">
                <a:solidFill>
                  <a:srgbClr val="E6E6E6"/>
                </a:solidFill>
              </a:rPr>
              <a:t>syslogd</a:t>
            </a:r>
            <a:r>
              <a:rPr lang="en-US" sz="1600" dirty="0">
                <a:solidFill>
                  <a:srgbClr val="E6E6E6"/>
                </a:solidFill>
              </a:rPr>
              <a:t>-ng: Added advanced features, such as message filtering and the ability to send messages to remote hosts. </a:t>
            </a:r>
          </a:p>
          <a:p>
            <a:r>
              <a:rPr lang="en-US" sz="1600" dirty="0">
                <a:solidFill>
                  <a:srgbClr val="E6E6E6"/>
                </a:solidFill>
              </a:rPr>
              <a:t>■ </a:t>
            </a:r>
            <a:r>
              <a:rPr lang="en-US" sz="1600" dirty="0" err="1">
                <a:solidFill>
                  <a:srgbClr val="E6E6E6"/>
                </a:solidFill>
              </a:rPr>
              <a:t>rsyslog</a:t>
            </a:r>
            <a:r>
              <a:rPr lang="en-US" sz="1600" dirty="0">
                <a:solidFill>
                  <a:srgbClr val="E6E6E6"/>
                </a:solidFill>
              </a:rPr>
              <a:t>: The project claims the “r” stands for “rocket fast.” Speed is the focus of the </a:t>
            </a:r>
            <a:r>
              <a:rPr lang="en-US" sz="1600" dirty="0" err="1">
                <a:solidFill>
                  <a:srgbClr val="E6E6E6"/>
                </a:solidFill>
              </a:rPr>
              <a:t>rsyslog</a:t>
            </a:r>
            <a:r>
              <a:rPr lang="en-US" sz="1600" dirty="0">
                <a:solidFill>
                  <a:srgbClr val="E6E6E6"/>
                </a:solidFill>
              </a:rPr>
              <a:t> project, and the </a:t>
            </a:r>
            <a:r>
              <a:rPr lang="en-US" sz="1600" dirty="0" err="1">
                <a:solidFill>
                  <a:srgbClr val="E6E6E6"/>
                </a:solidFill>
              </a:rPr>
              <a:t>rsyslogd</a:t>
            </a:r>
            <a:r>
              <a:rPr lang="en-US" sz="1600" dirty="0">
                <a:solidFill>
                  <a:srgbClr val="E6E6E6"/>
                </a:solidFill>
              </a:rPr>
              <a:t> application has quickly become the standard logging package for many Linux distributions. </a:t>
            </a:r>
          </a:p>
          <a:p>
            <a:r>
              <a:rPr lang="en-US" sz="1600" dirty="0">
                <a:solidFill>
                  <a:srgbClr val="E6E6E6"/>
                </a:solidFill>
              </a:rPr>
              <a:t>■ systemd-</a:t>
            </a:r>
            <a:r>
              <a:rPr lang="en-US" sz="1600" dirty="0" err="1">
                <a:solidFill>
                  <a:srgbClr val="E6E6E6"/>
                </a:solidFill>
              </a:rPr>
              <a:t>journald</a:t>
            </a:r>
            <a:r>
              <a:rPr lang="en-US" sz="1600" dirty="0">
                <a:solidFill>
                  <a:srgbClr val="E6E6E6"/>
                </a:solidFill>
              </a:rPr>
              <a:t>: Part of the systemd application for system startup and initialization (see Chapter 5), many Linux distributions are now using this for logging. It does not follow the syslog protocol but instead uses a completely different way of reporting and storing system and application events.</a:t>
            </a:r>
          </a:p>
        </p:txBody>
      </p:sp>
    </p:spTree>
    <p:extLst>
      <p:ext uri="{BB962C8B-B14F-4D97-AF65-F5344CB8AC3E}">
        <p14:creationId xmlns:p14="http://schemas.microsoft.com/office/powerpoint/2010/main" val="203223411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1EA24-9293-2809-1A1D-EAE0E70D4D12}"/>
              </a:ext>
            </a:extLst>
          </p:cNvPr>
          <p:cNvSpPr>
            <a:spLocks noGrp="1"/>
          </p:cNvSpPr>
          <p:nvPr>
            <p:ph type="title"/>
          </p:nvPr>
        </p:nvSpPr>
        <p:spPr>
          <a:xfrm>
            <a:off x="699797" y="-142169"/>
            <a:ext cx="8596668" cy="1320800"/>
          </a:xfrm>
        </p:spPr>
        <p:txBody>
          <a:bodyPr/>
          <a:lstStyle/>
          <a:p>
            <a:r>
              <a:rPr lang="en-US" sz="2800" b="1" dirty="0">
                <a:solidFill>
                  <a:srgbClr val="FFFFFF"/>
                </a:solidFill>
              </a:rPr>
              <a:t>				           </a:t>
            </a:r>
            <a:r>
              <a:rPr lang="en-US" sz="2800" b="1" dirty="0" err="1">
                <a:solidFill>
                  <a:srgbClr val="FFFFFF"/>
                </a:solidFill>
              </a:rPr>
              <a:t>rsyslog</a:t>
            </a:r>
            <a:endParaRPr lang="en-US" dirty="0"/>
          </a:p>
        </p:txBody>
      </p:sp>
      <p:sp>
        <p:nvSpPr>
          <p:cNvPr id="3" name="Content Placeholder 2">
            <a:extLst>
              <a:ext uri="{FF2B5EF4-FFF2-40B4-BE49-F238E27FC236}">
                <a16:creationId xmlns:a16="http://schemas.microsoft.com/office/drawing/2014/main" id="{EEFAAC43-4002-3144-5AA6-124BFBC3AB75}"/>
              </a:ext>
            </a:extLst>
          </p:cNvPr>
          <p:cNvSpPr>
            <a:spLocks noGrp="1"/>
          </p:cNvSpPr>
          <p:nvPr>
            <p:ph idx="1"/>
          </p:nvPr>
        </p:nvSpPr>
        <p:spPr>
          <a:xfrm>
            <a:off x="1642186" y="2337698"/>
            <a:ext cx="10433957" cy="3880773"/>
          </a:xfrm>
        </p:spPr>
        <p:txBody>
          <a:bodyPr>
            <a:noAutofit/>
          </a:bodyPr>
          <a:lstStyle/>
          <a:p>
            <a:r>
              <a:rPr lang="en-US" sz="1600" dirty="0">
                <a:solidFill>
                  <a:srgbClr val="E6E6E6"/>
                </a:solidFill>
              </a:rPr>
              <a:t>/</a:t>
            </a:r>
            <a:r>
              <a:rPr lang="en-US" sz="1600" dirty="0" err="1">
                <a:solidFill>
                  <a:srgbClr val="E6E6E6"/>
                </a:solidFill>
              </a:rPr>
              <a:t>etc</a:t>
            </a:r>
            <a:r>
              <a:rPr lang="en-US" sz="1600" dirty="0">
                <a:solidFill>
                  <a:srgbClr val="E6E6E6"/>
                </a:solidFill>
              </a:rPr>
              <a:t>/</a:t>
            </a:r>
            <a:r>
              <a:rPr lang="en-US" sz="1600" dirty="0" err="1">
                <a:solidFill>
                  <a:srgbClr val="E6E6E6"/>
                </a:solidFill>
              </a:rPr>
              <a:t>rsyslog.conf</a:t>
            </a:r>
            <a:r>
              <a:rPr lang="en-US" sz="1600" dirty="0">
                <a:solidFill>
                  <a:srgbClr val="E6E6E6"/>
                </a:solidFill>
              </a:rPr>
              <a:t>                   </a:t>
            </a:r>
            <a:r>
              <a:rPr lang="en-US" sz="1600" dirty="0" err="1">
                <a:solidFill>
                  <a:srgbClr val="E6E6E6"/>
                </a:solidFill>
              </a:rPr>
              <a:t>facility.severity</a:t>
            </a:r>
            <a:r>
              <a:rPr lang="en-US" sz="1600" dirty="0">
                <a:solidFill>
                  <a:srgbClr val="E6E6E6"/>
                </a:solidFill>
              </a:rPr>
              <a:t>     </a:t>
            </a:r>
          </a:p>
          <a:p>
            <a:endParaRPr lang="en-US" sz="2400" dirty="0"/>
          </a:p>
          <a:p>
            <a:r>
              <a:rPr lang="en-US" sz="1600" dirty="0">
                <a:solidFill>
                  <a:srgbClr val="E6E6E6"/>
                </a:solidFill>
              </a:rPr>
              <a:t>/var/log/messages don’t store log about </a:t>
            </a:r>
            <a:r>
              <a:rPr lang="en-US" sz="1600" dirty="0" err="1">
                <a:solidFill>
                  <a:srgbClr val="E6E6E6"/>
                </a:solidFill>
              </a:rPr>
              <a:t>cron,mail</a:t>
            </a:r>
            <a:r>
              <a:rPr lang="en-US" sz="1600" dirty="0">
                <a:solidFill>
                  <a:srgbClr val="E6E6E6"/>
                </a:solidFill>
              </a:rPr>
              <a:t> and auth</a:t>
            </a:r>
          </a:p>
          <a:p>
            <a:endParaRPr lang="en-US" sz="2400" dirty="0"/>
          </a:p>
          <a:p>
            <a:r>
              <a:rPr lang="en-US" sz="1600" dirty="0">
                <a:solidFill>
                  <a:srgbClr val="E6E6E6"/>
                </a:solidFill>
              </a:rPr>
              <a:t>/var/log/secure  log about authentication  for example false password</a:t>
            </a:r>
          </a:p>
          <a:p>
            <a:endParaRPr lang="en-US" sz="2400" dirty="0"/>
          </a:p>
          <a:p>
            <a:r>
              <a:rPr lang="en-US" sz="1600" dirty="0">
                <a:solidFill>
                  <a:srgbClr val="E6E6E6"/>
                </a:solidFill>
              </a:rPr>
              <a:t>remote-host     </a:t>
            </a:r>
          </a:p>
          <a:p>
            <a:r>
              <a:rPr lang="en-US" sz="1600" dirty="0" err="1">
                <a:solidFill>
                  <a:srgbClr val="E6E6E6"/>
                </a:solidFill>
              </a:rPr>
              <a:t>Logrotate</a:t>
            </a:r>
            <a:r>
              <a:rPr lang="en-US" sz="1600" dirty="0">
                <a:solidFill>
                  <a:srgbClr val="E6E6E6"/>
                </a:solidFill>
              </a:rPr>
              <a:t> policy for how much time log exist   /</a:t>
            </a:r>
            <a:r>
              <a:rPr lang="en-US" sz="1600" dirty="0" err="1">
                <a:solidFill>
                  <a:srgbClr val="E6E6E6"/>
                </a:solidFill>
              </a:rPr>
              <a:t>etc</a:t>
            </a:r>
            <a:r>
              <a:rPr lang="en-US" sz="1600" dirty="0">
                <a:solidFill>
                  <a:srgbClr val="E6E6E6"/>
                </a:solidFill>
              </a:rPr>
              <a:t>/</a:t>
            </a:r>
            <a:r>
              <a:rPr lang="en-US" sz="1600" dirty="0" err="1">
                <a:solidFill>
                  <a:srgbClr val="E6E6E6"/>
                </a:solidFill>
              </a:rPr>
              <a:t>logrotate.d</a:t>
            </a:r>
            <a:r>
              <a:rPr lang="en-US" sz="1600" dirty="0">
                <a:solidFill>
                  <a:srgbClr val="E6E6E6"/>
                </a:solidFill>
              </a:rPr>
              <a:t>/</a:t>
            </a:r>
          </a:p>
          <a:p>
            <a:r>
              <a:rPr lang="en-US" sz="1600" dirty="0">
                <a:solidFill>
                  <a:srgbClr val="E6E6E6"/>
                </a:solidFill>
              </a:rPr>
              <a:t>/</a:t>
            </a:r>
            <a:r>
              <a:rPr lang="en-US" sz="1600" dirty="0" err="1">
                <a:solidFill>
                  <a:srgbClr val="E6E6E6"/>
                </a:solidFill>
              </a:rPr>
              <a:t>etc</a:t>
            </a:r>
            <a:r>
              <a:rPr lang="en-US" sz="1600" dirty="0">
                <a:solidFill>
                  <a:srgbClr val="E6E6E6"/>
                </a:solidFill>
              </a:rPr>
              <a:t>/</a:t>
            </a:r>
            <a:r>
              <a:rPr lang="en-US" sz="1600" dirty="0" err="1">
                <a:solidFill>
                  <a:srgbClr val="E6E6E6"/>
                </a:solidFill>
              </a:rPr>
              <a:t>logrotate.conf</a:t>
            </a:r>
            <a:r>
              <a:rPr lang="en-US" sz="1600" dirty="0">
                <a:solidFill>
                  <a:srgbClr val="E6E6E6"/>
                </a:solidFill>
              </a:rPr>
              <a:t>             logger create log in messages show</a:t>
            </a:r>
          </a:p>
          <a:p>
            <a:endParaRPr lang="en-US" sz="2400" dirty="0"/>
          </a:p>
          <a:p>
            <a:endParaRPr lang="en-US" sz="2400" dirty="0"/>
          </a:p>
        </p:txBody>
      </p:sp>
    </p:spTree>
    <p:extLst>
      <p:ext uri="{BB962C8B-B14F-4D97-AF65-F5344CB8AC3E}">
        <p14:creationId xmlns:p14="http://schemas.microsoft.com/office/powerpoint/2010/main" val="318130016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D7880-801E-5A4F-67E2-30E624E5D94D}"/>
              </a:ext>
            </a:extLst>
          </p:cNvPr>
          <p:cNvSpPr>
            <a:spLocks noGrp="1"/>
          </p:cNvSpPr>
          <p:nvPr>
            <p:ph type="title"/>
          </p:nvPr>
        </p:nvSpPr>
        <p:spPr>
          <a:xfrm>
            <a:off x="4582075" y="203309"/>
            <a:ext cx="3283631" cy="311019"/>
          </a:xfrm>
        </p:spPr>
        <p:txBody>
          <a:bodyPr>
            <a:normAutofit fontScale="90000"/>
          </a:bodyPr>
          <a:lstStyle/>
          <a:p>
            <a:r>
              <a:rPr lang="en-US" sz="2800" b="1" dirty="0">
                <a:solidFill>
                  <a:srgbClr val="FFFFFF"/>
                </a:solidFill>
              </a:rPr>
              <a:t>                            networking</a:t>
            </a:r>
          </a:p>
        </p:txBody>
      </p:sp>
      <p:sp>
        <p:nvSpPr>
          <p:cNvPr id="3" name="Content Placeholder 2">
            <a:extLst>
              <a:ext uri="{FF2B5EF4-FFF2-40B4-BE49-F238E27FC236}">
                <a16:creationId xmlns:a16="http://schemas.microsoft.com/office/drawing/2014/main" id="{8D9B1DEB-AE03-3B63-D388-0CAA3022D59D}"/>
              </a:ext>
            </a:extLst>
          </p:cNvPr>
          <p:cNvSpPr>
            <a:spLocks noGrp="1"/>
          </p:cNvSpPr>
          <p:nvPr>
            <p:ph idx="1"/>
          </p:nvPr>
        </p:nvSpPr>
        <p:spPr>
          <a:xfrm>
            <a:off x="1917441" y="783772"/>
            <a:ext cx="10274559" cy="6253474"/>
          </a:xfrm>
        </p:spPr>
        <p:txBody>
          <a:bodyPr>
            <a:normAutofit fontScale="32500" lnSpcReduction="20000"/>
          </a:bodyPr>
          <a:lstStyle/>
          <a:p>
            <a:r>
              <a:rPr lang="en-US" sz="1600" dirty="0">
                <a:solidFill>
                  <a:srgbClr val="E6E6E6"/>
                </a:solidFill>
              </a:rPr>
              <a:t>Type ----</a:t>
            </a:r>
            <a:r>
              <a:rPr lang="en-US" sz="1600" dirty="0">
                <a:solidFill>
                  <a:srgbClr val="E6E6E6"/>
                </a:solidFill>
                <a:sym typeface="Wingdings" panose="05000000000000000000" pitchFamily="2" charset="2"/>
              </a:rPr>
              <a:t> ethernet serial </a:t>
            </a:r>
            <a:r>
              <a:rPr lang="en-US" sz="1600" dirty="0" err="1">
                <a:solidFill>
                  <a:srgbClr val="E6E6E6"/>
                </a:solidFill>
                <a:sym typeface="Wingdings" panose="05000000000000000000" pitchFamily="2" charset="2"/>
              </a:rPr>
              <a:t>wl</a:t>
            </a:r>
            <a:r>
              <a:rPr lang="en-US" sz="1600" dirty="0">
                <a:solidFill>
                  <a:srgbClr val="E6E6E6"/>
                </a:solidFill>
                <a:sym typeface="Wingdings" panose="05000000000000000000" pitchFamily="2" charset="2"/>
              </a:rPr>
              <a:t>              </a:t>
            </a:r>
            <a:r>
              <a:rPr lang="en-US" sz="1600" dirty="0" err="1">
                <a:solidFill>
                  <a:srgbClr val="E6E6E6"/>
                </a:solidFill>
                <a:sym typeface="Wingdings" panose="05000000000000000000" pitchFamily="2" charset="2"/>
              </a:rPr>
              <a:t>ip</a:t>
            </a:r>
            <a:r>
              <a:rPr lang="en-US" sz="1600" dirty="0">
                <a:solidFill>
                  <a:srgbClr val="E6E6E6"/>
                </a:solidFill>
                <a:sym typeface="Wingdings" panose="05000000000000000000" pitchFamily="2" charset="2"/>
              </a:rPr>
              <a:t> a   </a:t>
            </a:r>
            <a:r>
              <a:rPr lang="en-US" sz="1600" dirty="0" err="1">
                <a:solidFill>
                  <a:srgbClr val="E6E6E6"/>
                </a:solidFill>
                <a:sym typeface="Wingdings" panose="05000000000000000000" pitchFamily="2" charset="2"/>
              </a:rPr>
              <a:t>ip</a:t>
            </a:r>
            <a:r>
              <a:rPr lang="en-US" sz="1600" dirty="0">
                <a:solidFill>
                  <a:srgbClr val="E6E6E6"/>
                </a:solidFill>
                <a:sym typeface="Wingdings" panose="05000000000000000000" pitchFamily="2" charset="2"/>
              </a:rPr>
              <a:t> r s      </a:t>
            </a:r>
            <a:r>
              <a:rPr lang="en-US" sz="1600" dirty="0" err="1">
                <a:solidFill>
                  <a:srgbClr val="E6E6E6"/>
                </a:solidFill>
                <a:sym typeface="Wingdings" panose="05000000000000000000" pitchFamily="2" charset="2"/>
              </a:rPr>
              <a:t>ifup</a:t>
            </a:r>
            <a:r>
              <a:rPr lang="en-US" sz="1600" dirty="0">
                <a:solidFill>
                  <a:srgbClr val="E6E6E6"/>
                </a:solidFill>
                <a:sym typeface="Wingdings" panose="05000000000000000000" pitchFamily="2" charset="2"/>
              </a:rPr>
              <a:t> ens160 </a:t>
            </a:r>
          </a:p>
          <a:p>
            <a:pPr marL="0" indent="0">
              <a:buNone/>
            </a:pPr>
            <a:r>
              <a:rPr lang="en-US" sz="1600" dirty="0" err="1">
                <a:solidFill>
                  <a:srgbClr val="E6E6E6"/>
                </a:solidFill>
                <a:sym typeface="Wingdings" panose="05000000000000000000" pitchFamily="2" charset="2"/>
              </a:rPr>
              <a:t>ifdown</a:t>
            </a:r>
            <a:r>
              <a:rPr lang="en-US" sz="1600" dirty="0">
                <a:solidFill>
                  <a:srgbClr val="E6E6E6"/>
                </a:solidFill>
                <a:sym typeface="Wingdings" panose="05000000000000000000" pitchFamily="2" charset="2"/>
              </a:rPr>
              <a:t> ens160 </a:t>
            </a:r>
          </a:p>
          <a:p>
            <a:pPr marL="0" indent="0">
              <a:buNone/>
            </a:pPr>
            <a:r>
              <a:rPr lang="en-US" sz="1600" dirty="0" err="1">
                <a:solidFill>
                  <a:srgbClr val="E6E6E6"/>
                </a:solidFill>
                <a:sym typeface="Wingdings" panose="05000000000000000000" pitchFamily="2" charset="2"/>
              </a:rPr>
              <a:t>dhclient</a:t>
            </a:r>
            <a:r>
              <a:rPr lang="en-US" sz="1600" dirty="0">
                <a:solidFill>
                  <a:srgbClr val="E6E6E6"/>
                </a:solidFill>
                <a:sym typeface="Wingdings" panose="05000000000000000000" pitchFamily="2" charset="2"/>
              </a:rPr>
              <a:t>   get </a:t>
            </a:r>
            <a:r>
              <a:rPr lang="en-US" sz="1600" dirty="0" err="1">
                <a:solidFill>
                  <a:srgbClr val="E6E6E6"/>
                </a:solidFill>
                <a:sym typeface="Wingdings" panose="05000000000000000000" pitchFamily="2" charset="2"/>
              </a:rPr>
              <a:t>ip</a:t>
            </a:r>
            <a:r>
              <a:rPr lang="en-US" sz="1600" dirty="0">
                <a:solidFill>
                  <a:srgbClr val="E6E6E6"/>
                </a:solidFill>
                <a:sym typeface="Wingdings" panose="05000000000000000000" pitchFamily="2" charset="2"/>
              </a:rPr>
              <a:t> from </a:t>
            </a:r>
            <a:r>
              <a:rPr lang="en-US" sz="1600" dirty="0" err="1">
                <a:solidFill>
                  <a:srgbClr val="E6E6E6"/>
                </a:solidFill>
                <a:sym typeface="Wingdings" panose="05000000000000000000" pitchFamily="2" charset="2"/>
              </a:rPr>
              <a:t>dhcp</a:t>
            </a:r>
            <a:endParaRPr lang="en-US" sz="4400" dirty="0">
              <a:sym typeface="Wingdings" panose="05000000000000000000" pitchFamily="2" charset="2"/>
            </a:endParaRPr>
          </a:p>
          <a:p>
            <a:pPr marL="0" indent="0">
              <a:buNone/>
            </a:pPr>
            <a:r>
              <a:rPr lang="en-US" sz="1600" dirty="0">
                <a:solidFill>
                  <a:srgbClr val="E6E6E6"/>
                </a:solidFill>
                <a:sym typeface="Wingdings" panose="05000000000000000000" pitchFamily="2" charset="2"/>
              </a:rPr>
              <a:t>netstat  -</a:t>
            </a:r>
            <a:r>
              <a:rPr lang="en-US" sz="1600" dirty="0" err="1">
                <a:solidFill>
                  <a:srgbClr val="E6E6E6"/>
                </a:solidFill>
                <a:sym typeface="Wingdings" panose="05000000000000000000" pitchFamily="2" charset="2"/>
              </a:rPr>
              <a:t>ntpln</a:t>
            </a:r>
            <a:r>
              <a:rPr lang="en-US" sz="1600" dirty="0">
                <a:solidFill>
                  <a:srgbClr val="E6E6E6"/>
                </a:solidFill>
                <a:sym typeface="Wingdings" panose="05000000000000000000" pitchFamily="2" charset="2"/>
              </a:rPr>
              <a:t>  -tuna    ss –</a:t>
            </a:r>
            <a:r>
              <a:rPr lang="en-US" sz="1600" dirty="0" err="1">
                <a:solidFill>
                  <a:srgbClr val="E6E6E6"/>
                </a:solidFill>
                <a:sym typeface="Wingdings" panose="05000000000000000000" pitchFamily="2" charset="2"/>
              </a:rPr>
              <a:t>ntpln</a:t>
            </a:r>
            <a:r>
              <a:rPr lang="en-US" sz="1600" dirty="0">
                <a:solidFill>
                  <a:srgbClr val="E6E6E6"/>
                </a:solidFill>
                <a:sym typeface="Wingdings" panose="05000000000000000000" pitchFamily="2" charset="2"/>
              </a:rPr>
              <a:t>                                                                               yum install bind-utils             for </a:t>
            </a:r>
            <a:r>
              <a:rPr lang="en-US" sz="1600" dirty="0" err="1">
                <a:solidFill>
                  <a:srgbClr val="E6E6E6"/>
                </a:solidFill>
                <a:sym typeface="Wingdings" panose="05000000000000000000" pitchFamily="2" charset="2"/>
              </a:rPr>
              <a:t>dns</a:t>
            </a:r>
            <a:r>
              <a:rPr lang="en-US" sz="1600" dirty="0">
                <a:solidFill>
                  <a:srgbClr val="E6E6E6"/>
                </a:solidFill>
                <a:sym typeface="Wingdings" panose="05000000000000000000" pitchFamily="2" charset="2"/>
              </a:rPr>
              <a:t> tools</a:t>
            </a:r>
          </a:p>
          <a:p>
            <a:pPr marL="0" indent="0">
              <a:buNone/>
            </a:pPr>
            <a:r>
              <a:rPr lang="en-US" sz="1600" dirty="0">
                <a:solidFill>
                  <a:srgbClr val="E6E6E6"/>
                </a:solidFill>
                <a:sym typeface="Wingdings" panose="05000000000000000000" pitchFamily="2" charset="2"/>
              </a:rPr>
              <a:t>                                                                                                                               yum install net-tools           network tools</a:t>
            </a:r>
          </a:p>
          <a:p>
            <a:pPr marL="0" indent="0">
              <a:buNone/>
            </a:pPr>
            <a:r>
              <a:rPr lang="en-US" sz="1600" dirty="0">
                <a:solidFill>
                  <a:srgbClr val="E6E6E6"/>
                </a:solidFill>
                <a:sym typeface="Wingdings" panose="05000000000000000000" pitchFamily="2" charset="2"/>
              </a:rPr>
              <a:t>telnet      </a:t>
            </a:r>
            <a:r>
              <a:rPr lang="en-US" sz="1600" dirty="0" err="1">
                <a:solidFill>
                  <a:srgbClr val="E6E6E6"/>
                </a:solidFill>
                <a:sym typeface="Wingdings" panose="05000000000000000000" pitchFamily="2" charset="2"/>
              </a:rPr>
              <a:t>tracroute</a:t>
            </a:r>
            <a:endParaRPr lang="en-US" sz="4400" dirty="0">
              <a:sym typeface="Wingdings" panose="05000000000000000000" pitchFamily="2" charset="2"/>
            </a:endParaRPr>
          </a:p>
          <a:p>
            <a:pPr marL="0" indent="0">
              <a:buNone/>
            </a:pPr>
            <a:r>
              <a:rPr lang="en-US" sz="1600" dirty="0" err="1">
                <a:solidFill>
                  <a:srgbClr val="E6E6E6"/>
                </a:solidFill>
                <a:sym typeface="Wingdings" panose="05000000000000000000" pitchFamily="2" charset="2"/>
              </a:rPr>
              <a:t>ip</a:t>
            </a:r>
            <a:r>
              <a:rPr lang="en-US" sz="1600" dirty="0">
                <a:solidFill>
                  <a:srgbClr val="E6E6E6"/>
                </a:solidFill>
                <a:sym typeface="Wingdings" panose="05000000000000000000" pitchFamily="2" charset="2"/>
              </a:rPr>
              <a:t> route        show routing in </a:t>
            </a:r>
            <a:r>
              <a:rPr lang="en-US" sz="1600" dirty="0" err="1">
                <a:solidFill>
                  <a:srgbClr val="E6E6E6"/>
                </a:solidFill>
                <a:sym typeface="Wingdings" panose="05000000000000000000" pitchFamily="2" charset="2"/>
              </a:rPr>
              <a:t>linux</a:t>
            </a:r>
            <a:r>
              <a:rPr lang="en-US" sz="1600" dirty="0">
                <a:solidFill>
                  <a:srgbClr val="E6E6E6"/>
                </a:solidFill>
                <a:sym typeface="Wingdings" panose="05000000000000000000" pitchFamily="2" charset="2"/>
              </a:rPr>
              <a:t>                                                                             /</a:t>
            </a:r>
            <a:r>
              <a:rPr lang="en-US" sz="1600" dirty="0" err="1">
                <a:solidFill>
                  <a:srgbClr val="E6E6E6"/>
                </a:solidFill>
                <a:sym typeface="Wingdings" panose="05000000000000000000" pitchFamily="2" charset="2"/>
              </a:rPr>
              <a:t>etc</a:t>
            </a:r>
            <a:r>
              <a:rPr lang="en-US" sz="1600" dirty="0">
                <a:solidFill>
                  <a:srgbClr val="E6E6E6"/>
                </a:solidFill>
                <a:sym typeface="Wingdings" panose="05000000000000000000" pitchFamily="2" charset="2"/>
              </a:rPr>
              <a:t>/hosts   for recognize machine in </a:t>
            </a:r>
            <a:r>
              <a:rPr lang="en-US" sz="1600" dirty="0" err="1">
                <a:solidFill>
                  <a:srgbClr val="E6E6E6"/>
                </a:solidFill>
                <a:sym typeface="Wingdings" panose="05000000000000000000" pitchFamily="2" charset="2"/>
              </a:rPr>
              <a:t>linux</a:t>
            </a:r>
            <a:endParaRPr lang="en-US" sz="4400" dirty="0">
              <a:sym typeface="Wingdings" panose="05000000000000000000" pitchFamily="2" charset="2"/>
            </a:endParaRPr>
          </a:p>
          <a:p>
            <a:pPr marL="0" indent="0">
              <a:buNone/>
            </a:pPr>
            <a:r>
              <a:rPr lang="sv-SE" sz="1600" dirty="0">
                <a:solidFill>
                  <a:srgbClr val="E6E6E6"/>
                </a:solidFill>
                <a:sym typeface="Wingdings" panose="05000000000000000000" pitchFamily="2" charset="2"/>
              </a:rPr>
              <a:t>ip  route add 8.8.8.8/32  via 192.168.60.254 dev ens160</a:t>
            </a:r>
          </a:p>
          <a:p>
            <a:pPr marL="0" indent="0">
              <a:buNone/>
            </a:pPr>
            <a:r>
              <a:rPr lang="en-US" sz="1600" dirty="0" err="1">
                <a:solidFill>
                  <a:srgbClr val="E6E6E6"/>
                </a:solidFill>
                <a:sym typeface="Wingdings" panose="05000000000000000000" pitchFamily="2" charset="2"/>
              </a:rPr>
              <a:t>ip</a:t>
            </a:r>
            <a:r>
              <a:rPr lang="en-US" sz="1600" dirty="0">
                <a:solidFill>
                  <a:srgbClr val="E6E6E6"/>
                </a:solidFill>
                <a:sym typeface="Wingdings" panose="05000000000000000000" pitchFamily="2" charset="2"/>
              </a:rPr>
              <a:t>   route del  8.8.8.8/32 via 192.168.60.254 dev ens160</a:t>
            </a:r>
          </a:p>
          <a:p>
            <a:r>
              <a:rPr lang="en-US" sz="1600" dirty="0">
                <a:solidFill>
                  <a:srgbClr val="E6E6E6"/>
                </a:solidFill>
                <a:sym typeface="Wingdings" panose="05000000000000000000" pitchFamily="2" charset="2"/>
              </a:rPr>
              <a:t>Hostname   show hostname                                                                                dig   for showing </a:t>
            </a:r>
            <a:r>
              <a:rPr lang="en-US" sz="1600" dirty="0" err="1">
                <a:solidFill>
                  <a:srgbClr val="E6E6E6"/>
                </a:solidFill>
                <a:sym typeface="Wingdings" panose="05000000000000000000" pitchFamily="2" charset="2"/>
              </a:rPr>
              <a:t>dns</a:t>
            </a:r>
            <a:r>
              <a:rPr lang="en-US" sz="1600" dirty="0">
                <a:solidFill>
                  <a:srgbClr val="E6E6E6"/>
                </a:solidFill>
                <a:sym typeface="Wingdings" panose="05000000000000000000" pitchFamily="2" charset="2"/>
              </a:rPr>
              <a:t> record</a:t>
            </a:r>
          </a:p>
          <a:p>
            <a:r>
              <a:rPr lang="en-US" sz="1600" dirty="0" err="1">
                <a:solidFill>
                  <a:srgbClr val="E6E6E6"/>
                </a:solidFill>
                <a:sym typeface="Wingdings" panose="05000000000000000000" pitchFamily="2" charset="2"/>
              </a:rPr>
              <a:t>Scp</a:t>
            </a:r>
            <a:r>
              <a:rPr lang="en-US" sz="1600" dirty="0">
                <a:solidFill>
                  <a:srgbClr val="E6E6E6"/>
                </a:solidFill>
                <a:sym typeface="Wingdings" panose="05000000000000000000" pitchFamily="2" charset="2"/>
              </a:rPr>
              <a:t> for transfer data      </a:t>
            </a:r>
            <a:r>
              <a:rPr lang="en-US" sz="1600" dirty="0" err="1">
                <a:solidFill>
                  <a:srgbClr val="E6E6E6"/>
                </a:solidFill>
                <a:sym typeface="Wingdings" panose="05000000000000000000" pitchFamily="2" charset="2"/>
              </a:rPr>
              <a:t>scp</a:t>
            </a:r>
            <a:r>
              <a:rPr lang="en-US" sz="1600" dirty="0">
                <a:solidFill>
                  <a:srgbClr val="E6E6E6"/>
                </a:solidFill>
                <a:sym typeface="Wingdings" panose="05000000000000000000" pitchFamily="2" charset="2"/>
              </a:rPr>
              <a:t> file.txt  </a:t>
            </a:r>
            <a:r>
              <a:rPr lang="en-US" sz="1600" dirty="0">
                <a:solidFill>
                  <a:srgbClr val="E6E6E6"/>
                </a:solidFill>
                <a:sym typeface="Wingdings" panose="05000000000000000000" pitchFamily="2" charset="2"/>
                <a:hlinkClick r:id="rId2"/>
              </a:rPr>
              <a:t>root@192.168.60.154:/home</a:t>
            </a:r>
            <a:r>
              <a:rPr lang="en-US" sz="1600" dirty="0">
                <a:solidFill>
                  <a:srgbClr val="E6E6E6"/>
                </a:solidFill>
                <a:sym typeface="Wingdings" panose="05000000000000000000" pitchFamily="2" charset="2"/>
              </a:rPr>
              <a:t>          </a:t>
            </a:r>
            <a:r>
              <a:rPr lang="en-US" sz="1600" dirty="0" err="1">
                <a:solidFill>
                  <a:srgbClr val="E6E6E6"/>
                </a:solidFill>
                <a:sym typeface="Wingdings" panose="05000000000000000000" pitchFamily="2" charset="2"/>
              </a:rPr>
              <a:t>user@ip</a:t>
            </a:r>
            <a:r>
              <a:rPr lang="en-US" sz="1600" dirty="0">
                <a:solidFill>
                  <a:srgbClr val="E6E6E6"/>
                </a:solidFill>
                <a:sym typeface="Wingdings" panose="05000000000000000000" pitchFamily="2" charset="2"/>
              </a:rPr>
              <a:t>:/path</a:t>
            </a:r>
          </a:p>
          <a:p>
            <a:r>
              <a:rPr lang="en-US" sz="1600" dirty="0" err="1">
                <a:solidFill>
                  <a:srgbClr val="E6E6E6"/>
                </a:solidFill>
                <a:sym typeface="Wingdings" panose="05000000000000000000" pitchFamily="2" charset="2"/>
              </a:rPr>
              <a:t>Hostnamectl</a:t>
            </a:r>
            <a:r>
              <a:rPr lang="en-US" sz="1600" dirty="0">
                <a:solidFill>
                  <a:srgbClr val="E6E6E6"/>
                </a:solidFill>
                <a:sym typeface="Wingdings" panose="05000000000000000000" pitchFamily="2" charset="2"/>
              </a:rPr>
              <a:t> set-hostname name</a:t>
            </a:r>
          </a:p>
          <a:p>
            <a:r>
              <a:rPr lang="en-US" sz="1600" dirty="0">
                <a:solidFill>
                  <a:srgbClr val="E6E6E6"/>
                </a:solidFill>
                <a:sym typeface="Wingdings" panose="05000000000000000000" pitchFamily="2" charset="2"/>
              </a:rPr>
              <a:t>ETHERNET WL </a:t>
            </a:r>
          </a:p>
          <a:p>
            <a:r>
              <a:rPr lang="en-US" sz="1600" dirty="0">
                <a:solidFill>
                  <a:srgbClr val="E6E6E6"/>
                </a:solidFill>
                <a:sym typeface="Wingdings" panose="05000000000000000000" pitchFamily="2" charset="2"/>
              </a:rPr>
              <a:t>BOOTPROTO----   </a:t>
            </a:r>
            <a:r>
              <a:rPr lang="en-US" sz="1600" dirty="0" err="1">
                <a:solidFill>
                  <a:srgbClr val="E6E6E6"/>
                </a:solidFill>
                <a:sym typeface="Wingdings" panose="05000000000000000000" pitchFamily="2" charset="2"/>
              </a:rPr>
              <a:t>dhcp</a:t>
            </a:r>
            <a:r>
              <a:rPr lang="en-US" sz="1600" dirty="0">
                <a:solidFill>
                  <a:srgbClr val="E6E6E6"/>
                </a:solidFill>
                <a:sym typeface="Wingdings" panose="05000000000000000000" pitchFamily="2" charset="2"/>
              </a:rPr>
              <a:t>  static  none</a:t>
            </a:r>
          </a:p>
          <a:p>
            <a:endParaRPr lang="en-US" sz="4400" dirty="0">
              <a:sym typeface="Wingdings" panose="05000000000000000000" pitchFamily="2" charset="2"/>
            </a:endParaRPr>
          </a:p>
          <a:p>
            <a:r>
              <a:rPr lang="en-US" sz="1600" dirty="0" err="1">
                <a:solidFill>
                  <a:srgbClr val="E6E6E6"/>
                </a:solidFill>
                <a:sym typeface="Wingdings" panose="05000000000000000000" pitchFamily="2" charset="2"/>
              </a:rPr>
              <a:t>Defaultroute</a:t>
            </a:r>
            <a:r>
              <a:rPr lang="en-US" sz="1600" dirty="0">
                <a:solidFill>
                  <a:srgbClr val="E6E6E6"/>
                </a:solidFill>
                <a:sym typeface="Wingdings" panose="05000000000000000000" pitchFamily="2" charset="2"/>
              </a:rPr>
              <a:t>------   gateway</a:t>
            </a:r>
          </a:p>
          <a:p>
            <a:endParaRPr lang="en-US" sz="4400" dirty="0">
              <a:sym typeface="Wingdings" panose="05000000000000000000" pitchFamily="2" charset="2"/>
            </a:endParaRPr>
          </a:p>
          <a:p>
            <a:r>
              <a:rPr lang="en-US" sz="1600" dirty="0" err="1">
                <a:solidFill>
                  <a:srgbClr val="E6E6E6"/>
                </a:solidFill>
                <a:sym typeface="Wingdings" panose="05000000000000000000" pitchFamily="2" charset="2"/>
              </a:rPr>
              <a:t>Onboot</a:t>
            </a:r>
            <a:r>
              <a:rPr lang="en-US" sz="1600" dirty="0">
                <a:solidFill>
                  <a:srgbClr val="E6E6E6"/>
                </a:solidFill>
                <a:sym typeface="Wingdings" panose="05000000000000000000" pitchFamily="2" charset="2"/>
              </a:rPr>
              <a:t>-----  </a:t>
            </a:r>
            <a:r>
              <a:rPr lang="en-US" sz="1600" dirty="0" err="1">
                <a:solidFill>
                  <a:srgbClr val="E6E6E6"/>
                </a:solidFill>
                <a:sym typeface="Wingdings" panose="05000000000000000000" pitchFamily="2" charset="2"/>
              </a:rPr>
              <a:t>autho</a:t>
            </a:r>
            <a:r>
              <a:rPr lang="en-US" sz="1600" dirty="0">
                <a:solidFill>
                  <a:srgbClr val="E6E6E6"/>
                </a:solidFill>
                <a:sym typeface="Wingdings" panose="05000000000000000000" pitchFamily="2" charset="2"/>
              </a:rPr>
              <a:t>  start   yes         </a:t>
            </a:r>
            <a:r>
              <a:rPr lang="en-US" sz="1600" dirty="0" err="1">
                <a:solidFill>
                  <a:srgbClr val="E6E6E6"/>
                </a:solidFill>
                <a:sym typeface="Wingdings" panose="05000000000000000000" pitchFamily="2" charset="2"/>
              </a:rPr>
              <a:t>nslookup</a:t>
            </a:r>
            <a:endParaRPr lang="en-US" sz="4400" dirty="0">
              <a:sym typeface="Wingdings" panose="05000000000000000000" pitchFamily="2" charset="2"/>
            </a:endParaRPr>
          </a:p>
          <a:p>
            <a:pPr marL="0" indent="0">
              <a:buNone/>
            </a:pPr>
            <a:r>
              <a:rPr lang="en-US" sz="1600" dirty="0" err="1">
                <a:solidFill>
                  <a:srgbClr val="E6E6E6"/>
                </a:solidFill>
                <a:sym typeface="Wingdings" panose="05000000000000000000" pitchFamily="2" charset="2"/>
              </a:rPr>
              <a:t>Ifdown</a:t>
            </a:r>
            <a:r>
              <a:rPr lang="en-US" sz="1600" dirty="0">
                <a:solidFill>
                  <a:srgbClr val="E6E6E6"/>
                </a:solidFill>
                <a:sym typeface="Wingdings" panose="05000000000000000000" pitchFamily="2" charset="2"/>
              </a:rPr>
              <a:t> ens160 ; </a:t>
            </a:r>
            <a:r>
              <a:rPr lang="en-US" sz="1600" dirty="0" err="1">
                <a:solidFill>
                  <a:srgbClr val="E6E6E6"/>
                </a:solidFill>
                <a:sym typeface="Wingdings" panose="05000000000000000000" pitchFamily="2" charset="2"/>
              </a:rPr>
              <a:t>ifup</a:t>
            </a:r>
            <a:r>
              <a:rPr lang="en-US" sz="1600" dirty="0">
                <a:solidFill>
                  <a:srgbClr val="E6E6E6"/>
                </a:solidFill>
                <a:sym typeface="Wingdings" panose="05000000000000000000" pitchFamily="2" charset="2"/>
              </a:rPr>
              <a:t> ens160                </a:t>
            </a:r>
            <a:r>
              <a:rPr lang="en-US" sz="1600" dirty="0" err="1">
                <a:solidFill>
                  <a:srgbClr val="E6E6E6"/>
                </a:solidFill>
                <a:sym typeface="Wingdings" panose="05000000000000000000" pitchFamily="2" charset="2"/>
              </a:rPr>
              <a:t>ip</a:t>
            </a:r>
            <a:r>
              <a:rPr lang="en-US" sz="1600" dirty="0">
                <a:solidFill>
                  <a:srgbClr val="E6E6E6"/>
                </a:solidFill>
                <a:sym typeface="Wingdings" panose="05000000000000000000" pitchFamily="2" charset="2"/>
              </a:rPr>
              <a:t> route   </a:t>
            </a:r>
            <a:r>
              <a:rPr lang="en-US" sz="1600" dirty="0" err="1">
                <a:solidFill>
                  <a:srgbClr val="E6E6E6"/>
                </a:solidFill>
                <a:sym typeface="Wingdings" panose="05000000000000000000" pitchFamily="2" charset="2"/>
              </a:rPr>
              <a:t>ip</a:t>
            </a:r>
            <a:r>
              <a:rPr lang="en-US" sz="1600" dirty="0">
                <a:solidFill>
                  <a:srgbClr val="E6E6E6"/>
                </a:solidFill>
                <a:sym typeface="Wingdings" panose="05000000000000000000" pitchFamily="2" charset="2"/>
              </a:rPr>
              <a:t> neighbor       /</a:t>
            </a:r>
            <a:r>
              <a:rPr lang="en-US" sz="1600" dirty="0" err="1">
                <a:solidFill>
                  <a:srgbClr val="E6E6E6"/>
                </a:solidFill>
                <a:sym typeface="Wingdings" panose="05000000000000000000" pitchFamily="2" charset="2"/>
              </a:rPr>
              <a:t>etc</a:t>
            </a:r>
            <a:r>
              <a:rPr lang="en-US" sz="1600" dirty="0">
                <a:solidFill>
                  <a:srgbClr val="E6E6E6"/>
                </a:solidFill>
                <a:sym typeface="Wingdings" panose="05000000000000000000" pitchFamily="2" charset="2"/>
              </a:rPr>
              <a:t>/</a:t>
            </a:r>
            <a:r>
              <a:rPr lang="en-US" sz="1600" dirty="0" err="1">
                <a:solidFill>
                  <a:srgbClr val="E6E6E6"/>
                </a:solidFill>
                <a:sym typeface="Wingdings" panose="05000000000000000000" pitchFamily="2" charset="2"/>
              </a:rPr>
              <a:t>resolv.conf</a:t>
            </a:r>
            <a:r>
              <a:rPr lang="en-US" sz="1600" dirty="0">
                <a:solidFill>
                  <a:srgbClr val="E6E6E6"/>
                </a:solidFill>
                <a:sym typeface="Wingdings" panose="05000000000000000000" pitchFamily="2" charset="2"/>
              </a:rPr>
              <a:t>  for setting </a:t>
            </a:r>
            <a:r>
              <a:rPr lang="en-US" sz="1600" dirty="0" err="1">
                <a:solidFill>
                  <a:srgbClr val="E6E6E6"/>
                </a:solidFill>
                <a:sym typeface="Wingdings" panose="05000000000000000000" pitchFamily="2" charset="2"/>
              </a:rPr>
              <a:t>dns</a:t>
            </a:r>
            <a:r>
              <a:rPr lang="en-US" sz="1600" dirty="0">
                <a:solidFill>
                  <a:srgbClr val="E6E6E6"/>
                </a:solidFill>
                <a:sym typeface="Wingdings" panose="05000000000000000000" pitchFamily="2" charset="2"/>
              </a:rPr>
              <a:t>        </a:t>
            </a:r>
          </a:p>
          <a:p>
            <a:pPr marL="0" indent="0">
              <a:buNone/>
            </a:pPr>
            <a:endParaRPr lang="en-US" dirty="0"/>
          </a:p>
        </p:txBody>
      </p:sp>
    </p:spTree>
    <p:extLst>
      <p:ext uri="{BB962C8B-B14F-4D97-AF65-F5344CB8AC3E}">
        <p14:creationId xmlns:p14="http://schemas.microsoft.com/office/powerpoint/2010/main" val="19769705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37065-7BE2-4CD6-B812-DAAF34311A2B}"/>
              </a:ext>
            </a:extLst>
          </p:cNvPr>
          <p:cNvSpPr>
            <a:spLocks noGrp="1"/>
          </p:cNvSpPr>
          <p:nvPr>
            <p:ph type="title"/>
          </p:nvPr>
        </p:nvSpPr>
        <p:spPr>
          <a:xfrm>
            <a:off x="1083216" y="199815"/>
            <a:ext cx="8596668" cy="1320800"/>
          </a:xfrm>
        </p:spPr>
        <p:txBody>
          <a:bodyPr>
            <a:normAutofit/>
          </a:bodyPr>
          <a:lstStyle/>
          <a:p>
            <a:r>
              <a:rPr lang="en-US" sz="2800" b="1" dirty="0">
                <a:solidFill>
                  <a:srgbClr val="FFFFFF"/>
                </a:solidFill>
              </a:rPr>
              <a:t>                 install graphical</a:t>
            </a:r>
            <a:endParaRPr lang="fa-IR" dirty="0"/>
          </a:p>
        </p:txBody>
      </p:sp>
      <p:sp>
        <p:nvSpPr>
          <p:cNvPr id="3" name="Content Placeholder 2">
            <a:extLst>
              <a:ext uri="{FF2B5EF4-FFF2-40B4-BE49-F238E27FC236}">
                <a16:creationId xmlns:a16="http://schemas.microsoft.com/office/drawing/2014/main" id="{FB2BC56F-D959-431B-BC61-611F3652BA7C}"/>
              </a:ext>
            </a:extLst>
          </p:cNvPr>
          <p:cNvSpPr>
            <a:spLocks noGrp="1"/>
          </p:cNvSpPr>
          <p:nvPr>
            <p:ph idx="1"/>
          </p:nvPr>
        </p:nvSpPr>
        <p:spPr>
          <a:xfrm>
            <a:off x="1797666" y="2117012"/>
            <a:ext cx="8596668" cy="3880773"/>
          </a:xfrm>
        </p:spPr>
        <p:txBody>
          <a:bodyPr>
            <a:normAutofit/>
          </a:bodyPr>
          <a:lstStyle/>
          <a:p>
            <a:r>
              <a:rPr lang="en-US" sz="1600" dirty="0">
                <a:solidFill>
                  <a:srgbClr val="E6E6E6"/>
                </a:solidFill>
              </a:rPr>
              <a:t>1-yum update</a:t>
            </a:r>
          </a:p>
          <a:p>
            <a:endParaRPr lang="en-US" sz="2400" dirty="0"/>
          </a:p>
          <a:p>
            <a:r>
              <a:rPr lang="en-US" sz="1600" dirty="0">
                <a:solidFill>
                  <a:srgbClr val="E6E6E6"/>
                </a:solidFill>
              </a:rPr>
              <a:t>2-yum </a:t>
            </a:r>
            <a:r>
              <a:rPr lang="en-US" sz="1600" dirty="0" err="1">
                <a:solidFill>
                  <a:srgbClr val="E6E6E6"/>
                </a:solidFill>
              </a:rPr>
              <a:t>grouplist</a:t>
            </a:r>
            <a:endParaRPr lang="en-US" sz="2400" dirty="0"/>
          </a:p>
          <a:p>
            <a:endParaRPr lang="en-US" sz="2400" dirty="0"/>
          </a:p>
          <a:p>
            <a:r>
              <a:rPr lang="en-US" sz="1600" dirty="0">
                <a:solidFill>
                  <a:srgbClr val="E6E6E6"/>
                </a:solidFill>
              </a:rPr>
              <a:t>3-yum </a:t>
            </a:r>
            <a:r>
              <a:rPr lang="en-US" sz="1600" dirty="0" err="1">
                <a:solidFill>
                  <a:srgbClr val="E6E6E6"/>
                </a:solidFill>
              </a:rPr>
              <a:t>groupinstall</a:t>
            </a:r>
            <a:r>
              <a:rPr lang="en-US" sz="1600" dirty="0">
                <a:solidFill>
                  <a:srgbClr val="E6E6E6"/>
                </a:solidFill>
              </a:rPr>
              <a:t> “GNOME Desktop” “</a:t>
            </a:r>
            <a:r>
              <a:rPr lang="en-US" sz="1600" dirty="0" err="1">
                <a:solidFill>
                  <a:srgbClr val="E6E6E6"/>
                </a:solidFill>
              </a:rPr>
              <a:t>Grapical</a:t>
            </a:r>
            <a:r>
              <a:rPr lang="en-US" sz="1600" dirty="0">
                <a:solidFill>
                  <a:srgbClr val="E6E6E6"/>
                </a:solidFill>
              </a:rPr>
              <a:t> Administration Tools”</a:t>
            </a:r>
          </a:p>
          <a:p>
            <a:pPr marL="0" indent="0">
              <a:buNone/>
            </a:pPr>
            <a:endParaRPr lang="en-US" sz="2400" dirty="0"/>
          </a:p>
        </p:txBody>
      </p:sp>
    </p:spTree>
    <p:extLst>
      <p:ext uri="{BB962C8B-B14F-4D97-AF65-F5344CB8AC3E}">
        <p14:creationId xmlns:p14="http://schemas.microsoft.com/office/powerpoint/2010/main" val="415570444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E338B-3393-B93A-ED41-48E94D70FBE7}"/>
              </a:ext>
            </a:extLst>
          </p:cNvPr>
          <p:cNvSpPr>
            <a:spLocks noGrp="1"/>
          </p:cNvSpPr>
          <p:nvPr>
            <p:ph type="title"/>
          </p:nvPr>
        </p:nvSpPr>
        <p:spPr>
          <a:xfrm>
            <a:off x="2521014" y="0"/>
            <a:ext cx="5139418" cy="1320800"/>
          </a:xfrm>
        </p:spPr>
        <p:txBody>
          <a:bodyPr/>
          <a:lstStyle/>
          <a:p>
            <a:r>
              <a:rPr lang="en-US" sz="2800" b="1" dirty="0">
                <a:solidFill>
                  <a:srgbClr val="FFFFFF"/>
                </a:solidFill>
              </a:rPr>
              <a:t>                        bash script</a:t>
            </a:r>
          </a:p>
        </p:txBody>
      </p:sp>
      <p:sp>
        <p:nvSpPr>
          <p:cNvPr id="3" name="Content Placeholder 2">
            <a:extLst>
              <a:ext uri="{FF2B5EF4-FFF2-40B4-BE49-F238E27FC236}">
                <a16:creationId xmlns:a16="http://schemas.microsoft.com/office/drawing/2014/main" id="{44251352-4307-2CCB-331F-B74CC0A64D4B}"/>
              </a:ext>
            </a:extLst>
          </p:cNvPr>
          <p:cNvSpPr>
            <a:spLocks noGrp="1"/>
          </p:cNvSpPr>
          <p:nvPr>
            <p:ph idx="1"/>
          </p:nvPr>
        </p:nvSpPr>
        <p:spPr>
          <a:xfrm>
            <a:off x="1912775" y="2687978"/>
            <a:ext cx="10132180" cy="3880773"/>
          </a:xfrm>
        </p:spPr>
        <p:txBody>
          <a:bodyPr>
            <a:noAutofit/>
          </a:bodyPr>
          <a:lstStyle/>
          <a:p>
            <a:r>
              <a:rPr lang="en-US" sz="1600" dirty="0">
                <a:solidFill>
                  <a:srgbClr val="E6E6E6"/>
                </a:solidFill>
              </a:rPr>
              <a:t>Env local and global</a:t>
            </a:r>
          </a:p>
          <a:p>
            <a:endParaRPr lang="en-US" sz="2400" dirty="0"/>
          </a:p>
          <a:p>
            <a:r>
              <a:rPr lang="en-US" sz="1600" dirty="0">
                <a:solidFill>
                  <a:srgbClr val="E6E6E6"/>
                </a:solidFill>
              </a:rPr>
              <a:t>Global with export in current session and all bash  and permanent in .</a:t>
            </a:r>
            <a:r>
              <a:rPr lang="en-US" sz="1600" dirty="0" err="1">
                <a:solidFill>
                  <a:srgbClr val="E6E6E6"/>
                </a:solidFill>
              </a:rPr>
              <a:t>bash_profile</a:t>
            </a:r>
            <a:r>
              <a:rPr lang="en-US" sz="1600" dirty="0">
                <a:solidFill>
                  <a:srgbClr val="E6E6E6"/>
                </a:solidFill>
              </a:rPr>
              <a:t> means all session and bash for </a:t>
            </a:r>
            <a:r>
              <a:rPr lang="en-US" sz="1600" dirty="0" err="1">
                <a:solidFill>
                  <a:srgbClr val="E6E6E6"/>
                </a:solidFill>
              </a:rPr>
              <a:t>specefice</a:t>
            </a:r>
            <a:r>
              <a:rPr lang="en-US" sz="1600" dirty="0">
                <a:solidFill>
                  <a:srgbClr val="E6E6E6"/>
                </a:solidFill>
              </a:rPr>
              <a:t> user</a:t>
            </a:r>
          </a:p>
          <a:p>
            <a:endParaRPr lang="en-US" sz="2400" dirty="0"/>
          </a:p>
          <a:p>
            <a:r>
              <a:rPr lang="en-US" sz="1600" dirty="0" err="1">
                <a:solidFill>
                  <a:srgbClr val="E6E6E6"/>
                </a:solidFill>
              </a:rPr>
              <a:t>Profile.d</a:t>
            </a:r>
            <a:r>
              <a:rPr lang="en-US" sz="1600" dirty="0">
                <a:solidFill>
                  <a:srgbClr val="E6E6E6"/>
                </a:solidFill>
              </a:rPr>
              <a:t> </a:t>
            </a:r>
          </a:p>
          <a:p>
            <a:endParaRPr lang="en-US" sz="2400" dirty="0"/>
          </a:p>
          <a:p>
            <a:r>
              <a:rPr lang="en-US" sz="1600" dirty="0" err="1">
                <a:solidFill>
                  <a:srgbClr val="E6E6E6"/>
                </a:solidFill>
              </a:rPr>
              <a:t>date;who</a:t>
            </a:r>
            <a:r>
              <a:rPr lang="en-US" sz="1600" dirty="0">
                <a:solidFill>
                  <a:srgbClr val="E6E6E6"/>
                </a:solidFill>
              </a:rPr>
              <a:t>                   echo $PATH </a:t>
            </a:r>
          </a:p>
          <a:p>
            <a:r>
              <a:rPr lang="en-US" sz="1600" dirty="0">
                <a:solidFill>
                  <a:srgbClr val="E6E6E6"/>
                </a:solidFill>
              </a:rPr>
              <a:t>In bash script you should global env </a:t>
            </a:r>
          </a:p>
          <a:p>
            <a:endParaRPr lang="en-US" sz="2400" dirty="0"/>
          </a:p>
          <a:p>
            <a:endParaRPr lang="en-US" sz="2400" dirty="0"/>
          </a:p>
        </p:txBody>
      </p:sp>
    </p:spTree>
    <p:extLst>
      <p:ext uri="{BB962C8B-B14F-4D97-AF65-F5344CB8AC3E}">
        <p14:creationId xmlns:p14="http://schemas.microsoft.com/office/powerpoint/2010/main" val="407805660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E901A-5772-4213-B804-7E9796075761}"/>
              </a:ext>
            </a:extLst>
          </p:cNvPr>
          <p:cNvSpPr>
            <a:spLocks noGrp="1"/>
          </p:cNvSpPr>
          <p:nvPr>
            <p:ph type="title"/>
          </p:nvPr>
        </p:nvSpPr>
        <p:spPr>
          <a:xfrm>
            <a:off x="559837" y="227045"/>
            <a:ext cx="8596668" cy="1320800"/>
          </a:xfrm>
        </p:spPr>
        <p:txBody>
          <a:bodyPr/>
          <a:lstStyle/>
          <a:p>
            <a:r>
              <a:rPr lang="en-US" sz="2800" b="1" dirty="0">
                <a:solidFill>
                  <a:srgbClr val="FFFFFF"/>
                </a:solidFill>
              </a:rPr>
              <a:t>                           bash script</a:t>
            </a:r>
            <a:endParaRPr lang="fa-IR" dirty="0"/>
          </a:p>
        </p:txBody>
      </p:sp>
      <p:sp>
        <p:nvSpPr>
          <p:cNvPr id="3" name="Content Placeholder 2">
            <a:extLst>
              <a:ext uri="{FF2B5EF4-FFF2-40B4-BE49-F238E27FC236}">
                <a16:creationId xmlns:a16="http://schemas.microsoft.com/office/drawing/2014/main" id="{2B041035-04AB-4B9B-AB03-677A1CEFF45D}"/>
              </a:ext>
            </a:extLst>
          </p:cNvPr>
          <p:cNvSpPr>
            <a:spLocks noGrp="1"/>
          </p:cNvSpPr>
          <p:nvPr>
            <p:ph idx="1"/>
          </p:nvPr>
        </p:nvSpPr>
        <p:spPr>
          <a:xfrm>
            <a:off x="1343607" y="1809102"/>
            <a:ext cx="10099523" cy="3880773"/>
          </a:xfrm>
        </p:spPr>
        <p:txBody>
          <a:bodyPr>
            <a:normAutofit/>
          </a:bodyPr>
          <a:lstStyle/>
          <a:p>
            <a:r>
              <a:rPr lang="en-US" sz="1600" dirty="0">
                <a:solidFill>
                  <a:srgbClr val="E6E6E6"/>
                </a:solidFill>
              </a:rPr>
              <a:t>aliases: A </a:t>
            </a:r>
            <a:r>
              <a:rPr lang="en-US" sz="1600" i="1" dirty="0">
                <a:solidFill>
                  <a:srgbClr val="E6E6E6"/>
                </a:solidFill>
              </a:rPr>
              <a:t>command alias </a:t>
            </a:r>
            <a:r>
              <a:rPr lang="en-US" sz="1600" dirty="0">
                <a:solidFill>
                  <a:srgbClr val="E6E6E6"/>
                </a:solidFill>
              </a:rPr>
              <a:t>allows you to create an alias name for common commands</a:t>
            </a:r>
          </a:p>
          <a:p>
            <a:r>
              <a:rPr lang="en-US" sz="1600" dirty="0">
                <a:solidFill>
                  <a:srgbClr val="E6E6E6"/>
                </a:solidFill>
              </a:rPr>
              <a:t>(along with their parameters) to help keep your typing to a minimum</a:t>
            </a:r>
          </a:p>
          <a:p>
            <a:r>
              <a:rPr lang="en-US" sz="1600" b="1" dirty="0">
                <a:solidFill>
                  <a:srgbClr val="E6E6E6"/>
                </a:solidFill>
              </a:rPr>
              <a:t>alias -p  active </a:t>
            </a:r>
            <a:r>
              <a:rPr lang="en-US" sz="1600" b="1" dirty="0" err="1">
                <a:solidFill>
                  <a:srgbClr val="E6E6E6"/>
                </a:solidFill>
              </a:rPr>
              <a:t>alises</a:t>
            </a:r>
            <a:r>
              <a:rPr lang="en-US" sz="1600" b="1" dirty="0">
                <a:solidFill>
                  <a:srgbClr val="E6E6E6"/>
                </a:solidFill>
              </a:rPr>
              <a:t> in </a:t>
            </a:r>
            <a:r>
              <a:rPr lang="en-US" sz="1600" b="1" dirty="0" err="1">
                <a:solidFill>
                  <a:srgbClr val="E6E6E6"/>
                </a:solidFill>
              </a:rPr>
              <a:t>linux</a:t>
            </a:r>
            <a:endParaRPr lang="en-US" sz="2400" b="1" dirty="0"/>
          </a:p>
          <a:p>
            <a:r>
              <a:rPr lang="en-US" sz="1600" b="1" dirty="0">
                <a:solidFill>
                  <a:srgbClr val="E6E6E6"/>
                </a:solidFill>
              </a:rPr>
              <a:t>alias  </a:t>
            </a:r>
            <a:r>
              <a:rPr lang="en-US" sz="1600" b="1" dirty="0" err="1">
                <a:solidFill>
                  <a:srgbClr val="E6E6E6"/>
                </a:solidFill>
              </a:rPr>
              <a:t>mk</a:t>
            </a:r>
            <a:r>
              <a:rPr lang="en-US" sz="1600" b="1" dirty="0">
                <a:solidFill>
                  <a:srgbClr val="E6E6E6"/>
                </a:solidFill>
              </a:rPr>
              <a:t>=‘</a:t>
            </a:r>
            <a:r>
              <a:rPr lang="en-US" sz="1600" b="1" dirty="0" err="1">
                <a:solidFill>
                  <a:srgbClr val="E6E6E6"/>
                </a:solidFill>
              </a:rPr>
              <a:t>mkdir</a:t>
            </a:r>
            <a:r>
              <a:rPr lang="en-US" sz="1600" b="1" dirty="0">
                <a:solidFill>
                  <a:srgbClr val="E6E6E6"/>
                </a:solidFill>
              </a:rPr>
              <a:t>’  for create   </a:t>
            </a:r>
            <a:r>
              <a:rPr lang="en-US" sz="1600" b="1" dirty="0" err="1">
                <a:solidFill>
                  <a:srgbClr val="E6E6E6"/>
                </a:solidFill>
              </a:rPr>
              <a:t>unalise</a:t>
            </a:r>
            <a:r>
              <a:rPr lang="en-US" sz="1600" b="1" dirty="0">
                <a:solidFill>
                  <a:srgbClr val="E6E6E6"/>
                </a:solidFill>
              </a:rPr>
              <a:t>  for deleting</a:t>
            </a:r>
          </a:p>
          <a:p>
            <a:r>
              <a:rPr lang="en-US" sz="1600" dirty="0">
                <a:solidFill>
                  <a:srgbClr val="E6E6E6"/>
                </a:solidFill>
              </a:rPr>
              <a:t>Command aliases act like local environment variables. They’re valid only for the shell</a:t>
            </a:r>
          </a:p>
        </p:txBody>
      </p:sp>
    </p:spTree>
    <p:extLst>
      <p:ext uri="{BB962C8B-B14F-4D97-AF65-F5344CB8AC3E}">
        <p14:creationId xmlns:p14="http://schemas.microsoft.com/office/powerpoint/2010/main" val="113294901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1845" y="151657"/>
            <a:ext cx="8596668" cy="1320800"/>
          </a:xfrm>
        </p:spPr>
        <p:txBody>
          <a:bodyPr/>
          <a:lstStyle/>
          <a:p>
            <a:r>
              <a:rPr lang="en-US" sz="2800" b="1" dirty="0">
                <a:solidFill>
                  <a:srgbClr val="FFFFFF"/>
                </a:solidFill>
              </a:rPr>
              <a:t>                         basic bash</a:t>
            </a:r>
          </a:p>
        </p:txBody>
      </p:sp>
      <p:sp>
        <p:nvSpPr>
          <p:cNvPr id="3" name="Content Placeholder 2"/>
          <p:cNvSpPr>
            <a:spLocks noGrp="1"/>
          </p:cNvSpPr>
          <p:nvPr>
            <p:ph idx="1"/>
          </p:nvPr>
        </p:nvSpPr>
        <p:spPr>
          <a:xfrm>
            <a:off x="1735494" y="2050954"/>
            <a:ext cx="10050537" cy="3880773"/>
          </a:xfrm>
        </p:spPr>
        <p:txBody>
          <a:bodyPr>
            <a:noAutofit/>
          </a:bodyPr>
          <a:lstStyle/>
          <a:p>
            <a:r>
              <a:rPr lang="en-US" sz="1600" dirty="0">
                <a:solidFill>
                  <a:srgbClr val="E6E6E6"/>
                </a:solidFill>
              </a:rPr>
              <a:t>first line in the file must specify the Linux shell required to run the script.</a:t>
            </a:r>
          </a:p>
          <a:p>
            <a:endParaRPr lang="en-US" sz="2400" dirty="0"/>
          </a:p>
          <a:p>
            <a:r>
              <a:rPr lang="en-US" sz="1600" dirty="0">
                <a:solidFill>
                  <a:srgbClr val="E6E6E6"/>
                </a:solidFill>
              </a:rPr>
              <a:t>The Linux world calls the combination of the pound sign and the exclamation symbol</a:t>
            </a:r>
          </a:p>
          <a:p>
            <a:r>
              <a:rPr lang="en-US" sz="1600" dirty="0">
                <a:solidFill>
                  <a:srgbClr val="E6E6E6"/>
                </a:solidFill>
              </a:rPr>
              <a:t>( #! ) the </a:t>
            </a:r>
            <a:r>
              <a:rPr lang="en-US" sz="1600" i="1" dirty="0">
                <a:solidFill>
                  <a:srgbClr val="E6E6E6"/>
                </a:solidFill>
              </a:rPr>
              <a:t>shebang </a:t>
            </a:r>
            <a:r>
              <a:rPr lang="en-US" sz="1600" dirty="0">
                <a:solidFill>
                  <a:srgbClr val="E6E6E6"/>
                </a:solidFill>
              </a:rPr>
              <a:t>. It signals to the operating system which shell to use to run the shell script</a:t>
            </a:r>
          </a:p>
          <a:p>
            <a:r>
              <a:rPr lang="en-US" sz="1600" dirty="0">
                <a:solidFill>
                  <a:srgbClr val="E6E6E6"/>
                </a:solidFill>
              </a:rPr>
              <a:t>Lines that start with # means comment and don’t affect in script</a:t>
            </a:r>
          </a:p>
        </p:txBody>
      </p:sp>
    </p:spTree>
    <p:extLst>
      <p:ext uri="{BB962C8B-B14F-4D97-AF65-F5344CB8AC3E}">
        <p14:creationId xmlns:p14="http://schemas.microsoft.com/office/powerpoint/2010/main" val="128131161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3812" y="160904"/>
            <a:ext cx="8596668" cy="1320800"/>
          </a:xfrm>
        </p:spPr>
        <p:txBody>
          <a:bodyPr/>
          <a:lstStyle/>
          <a:p>
            <a:r>
              <a:rPr lang="en-US" sz="2800" b="1" dirty="0">
                <a:solidFill>
                  <a:srgbClr val="FFFFFF"/>
                </a:solidFill>
              </a:rPr>
              <a:t>                      bash basic</a:t>
            </a:r>
          </a:p>
        </p:txBody>
      </p:sp>
      <p:sp>
        <p:nvSpPr>
          <p:cNvPr id="3" name="Content Placeholder 2"/>
          <p:cNvSpPr>
            <a:spLocks noGrp="1"/>
          </p:cNvSpPr>
          <p:nvPr>
            <p:ph idx="1"/>
          </p:nvPr>
        </p:nvSpPr>
        <p:spPr>
          <a:xfrm>
            <a:off x="1660849" y="2155923"/>
            <a:ext cx="8596668" cy="3880773"/>
          </a:xfrm>
        </p:spPr>
        <p:txBody>
          <a:bodyPr>
            <a:normAutofit/>
          </a:bodyPr>
          <a:lstStyle/>
          <a:p>
            <a:r>
              <a:rPr lang="en-US" sz="1600" b="1" dirty="0">
                <a:solidFill>
                  <a:srgbClr val="E6E6E6"/>
                </a:solidFill>
              </a:rPr>
              <a:t>cat test3.sh</a:t>
            </a:r>
          </a:p>
          <a:p>
            <a:r>
              <a:rPr lang="en-US" sz="1600" dirty="0">
                <a:solidFill>
                  <a:srgbClr val="E6E6E6"/>
                </a:solidFill>
              </a:rPr>
              <a:t>#!/bin/bash</a:t>
            </a:r>
          </a:p>
          <a:p>
            <a:r>
              <a:rPr lang="en-US" sz="1600" dirty="0">
                <a:solidFill>
                  <a:srgbClr val="E6E6E6"/>
                </a:solidFill>
              </a:rPr>
              <a:t># testing variables</a:t>
            </a:r>
          </a:p>
          <a:p>
            <a:r>
              <a:rPr lang="en-US" sz="1600" dirty="0">
                <a:solidFill>
                  <a:srgbClr val="E6E6E6"/>
                </a:solidFill>
              </a:rPr>
              <a:t>days=10</a:t>
            </a:r>
          </a:p>
          <a:p>
            <a:r>
              <a:rPr lang="en-US" sz="1600" dirty="0">
                <a:solidFill>
                  <a:srgbClr val="E6E6E6"/>
                </a:solidFill>
              </a:rPr>
              <a:t>guest=Katie</a:t>
            </a:r>
          </a:p>
          <a:p>
            <a:r>
              <a:rPr lang="en-US" sz="1600" dirty="0">
                <a:solidFill>
                  <a:srgbClr val="E6E6E6"/>
                </a:solidFill>
              </a:rPr>
              <a:t>echo $guest checked in $days </a:t>
            </a:r>
            <a:r>
              <a:rPr lang="en-US" sz="1600" dirty="0" err="1">
                <a:solidFill>
                  <a:srgbClr val="E6E6E6"/>
                </a:solidFill>
              </a:rPr>
              <a:t>days</a:t>
            </a:r>
            <a:r>
              <a:rPr lang="en-US" sz="1600" dirty="0">
                <a:solidFill>
                  <a:srgbClr val="E6E6E6"/>
                </a:solidFill>
              </a:rPr>
              <a:t> ago</a:t>
            </a:r>
          </a:p>
          <a:p>
            <a:pPr marL="0" indent="0">
              <a:buNone/>
            </a:pPr>
            <a:endParaRPr lang="en-US" sz="2400" dirty="0"/>
          </a:p>
        </p:txBody>
      </p:sp>
    </p:spTree>
    <p:extLst>
      <p:ext uri="{BB962C8B-B14F-4D97-AF65-F5344CB8AC3E}">
        <p14:creationId xmlns:p14="http://schemas.microsoft.com/office/powerpoint/2010/main" val="213170348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349932"/>
            <a:ext cx="8596668" cy="1320800"/>
          </a:xfrm>
        </p:spPr>
        <p:txBody>
          <a:bodyPr/>
          <a:lstStyle/>
          <a:p>
            <a:r>
              <a:rPr lang="en-US" sz="2800" b="1" dirty="0">
                <a:solidFill>
                  <a:srgbClr val="FFFFFF"/>
                </a:solidFill>
              </a:rPr>
              <a:t>                         argument</a:t>
            </a:r>
          </a:p>
        </p:txBody>
      </p:sp>
      <p:sp>
        <p:nvSpPr>
          <p:cNvPr id="3" name="Content Placeholder 2"/>
          <p:cNvSpPr>
            <a:spLocks noGrp="1"/>
          </p:cNvSpPr>
          <p:nvPr>
            <p:ph idx="1"/>
          </p:nvPr>
        </p:nvSpPr>
        <p:spPr>
          <a:xfrm>
            <a:off x="1754155" y="2099940"/>
            <a:ext cx="10205357" cy="3880773"/>
          </a:xfrm>
        </p:spPr>
        <p:txBody>
          <a:bodyPr>
            <a:noAutofit/>
          </a:bodyPr>
          <a:lstStyle/>
          <a:p>
            <a:r>
              <a:rPr lang="en-US" sz="1600" dirty="0">
                <a:solidFill>
                  <a:srgbClr val="E6E6E6"/>
                </a:solidFill>
              </a:rPr>
              <a:t>One of the most versatile features of shell scripts is the ability to pass data into the script</a:t>
            </a:r>
          </a:p>
          <a:p>
            <a:r>
              <a:rPr lang="en-US" sz="1600" dirty="0">
                <a:solidFill>
                  <a:srgbClr val="E6E6E6"/>
                </a:solidFill>
              </a:rPr>
              <a:t>when you run it. This allows you to customize the script with new data each time you run it</a:t>
            </a:r>
          </a:p>
          <a:p>
            <a:r>
              <a:rPr lang="en-US" sz="1600" b="1" dirty="0">
                <a:solidFill>
                  <a:srgbClr val="E6E6E6"/>
                </a:solidFill>
              </a:rPr>
              <a:t>cat test4.sh</a:t>
            </a:r>
          </a:p>
          <a:p>
            <a:r>
              <a:rPr lang="en-US" sz="1600" dirty="0">
                <a:solidFill>
                  <a:srgbClr val="E6E6E6"/>
                </a:solidFill>
              </a:rPr>
              <a:t>#!/bin/bash</a:t>
            </a:r>
          </a:p>
          <a:p>
            <a:r>
              <a:rPr lang="en-US" sz="1600" dirty="0">
                <a:solidFill>
                  <a:srgbClr val="E6E6E6"/>
                </a:solidFill>
              </a:rPr>
              <a:t># Testing command line arguments</a:t>
            </a:r>
          </a:p>
          <a:p>
            <a:r>
              <a:rPr lang="en-US" sz="1600" dirty="0">
                <a:solidFill>
                  <a:srgbClr val="E6E6E6"/>
                </a:solidFill>
              </a:rPr>
              <a:t>echo $1 checked in $2 days ago  in the $3</a:t>
            </a:r>
          </a:p>
          <a:p>
            <a:r>
              <a:rPr lang="en-US" sz="1600" dirty="0">
                <a:solidFill>
                  <a:srgbClr val="E6E6E6"/>
                </a:solidFill>
              </a:rPr>
              <a:t>./test4.sh   </a:t>
            </a:r>
            <a:r>
              <a:rPr lang="en-US" sz="1600" dirty="0" err="1">
                <a:solidFill>
                  <a:srgbClr val="E6E6E6"/>
                </a:solidFill>
              </a:rPr>
              <a:t>iman</a:t>
            </a:r>
            <a:r>
              <a:rPr lang="en-US" sz="1600" dirty="0">
                <a:solidFill>
                  <a:srgbClr val="E6E6E6"/>
                </a:solidFill>
              </a:rPr>
              <a:t>  10   afternoon</a:t>
            </a:r>
          </a:p>
        </p:txBody>
      </p:sp>
    </p:spTree>
    <p:extLst>
      <p:ext uri="{BB962C8B-B14F-4D97-AF65-F5344CB8AC3E}">
        <p14:creationId xmlns:p14="http://schemas.microsoft.com/office/powerpoint/2010/main" val="127026250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465267"/>
            <a:ext cx="8596668" cy="1320800"/>
          </a:xfrm>
        </p:spPr>
        <p:txBody>
          <a:bodyPr/>
          <a:lstStyle/>
          <a:p>
            <a:r>
              <a:rPr lang="en-US" sz="2800" b="1" dirty="0">
                <a:solidFill>
                  <a:srgbClr val="FFFFFF"/>
                </a:solidFill>
              </a:rPr>
              <a:t>                   Basic Reading</a:t>
            </a:r>
            <a:endParaRPr lang="en-US" dirty="0"/>
          </a:p>
        </p:txBody>
      </p:sp>
      <p:sp>
        <p:nvSpPr>
          <p:cNvPr id="3" name="Content Placeholder 2"/>
          <p:cNvSpPr>
            <a:spLocks noGrp="1"/>
          </p:cNvSpPr>
          <p:nvPr>
            <p:ph idx="1"/>
          </p:nvPr>
        </p:nvSpPr>
        <p:spPr>
          <a:xfrm>
            <a:off x="774441" y="1894695"/>
            <a:ext cx="11576957" cy="4351338"/>
          </a:xfrm>
        </p:spPr>
        <p:txBody>
          <a:bodyPr>
            <a:noAutofit/>
          </a:bodyPr>
          <a:lstStyle/>
          <a:p>
            <a:r>
              <a:rPr lang="en-US" sz="1600" dirty="0">
                <a:solidFill>
                  <a:srgbClr val="E6E6E6"/>
                </a:solidFill>
              </a:rPr>
              <a:t>cat test5.sh                                 </a:t>
            </a:r>
            <a:r>
              <a:rPr lang="en-US" sz="1600" dirty="0" err="1">
                <a:solidFill>
                  <a:srgbClr val="E6E6E6"/>
                </a:solidFill>
              </a:rPr>
              <a:t>bmi</a:t>
            </a:r>
            <a:endParaRPr lang="en-US" sz="2400" dirty="0"/>
          </a:p>
          <a:p>
            <a:r>
              <a:rPr lang="en-US" sz="1600" dirty="0">
                <a:solidFill>
                  <a:srgbClr val="E6E6E6"/>
                </a:solidFill>
              </a:rPr>
              <a:t>#!/bin/bash</a:t>
            </a:r>
          </a:p>
          <a:p>
            <a:r>
              <a:rPr lang="en-US" sz="1600" dirty="0">
                <a:solidFill>
                  <a:srgbClr val="E6E6E6"/>
                </a:solidFill>
              </a:rPr>
              <a:t>echo -n "what is </a:t>
            </a:r>
            <a:r>
              <a:rPr lang="en-US" sz="1600" dirty="0" err="1">
                <a:solidFill>
                  <a:srgbClr val="E6E6E6"/>
                </a:solidFill>
              </a:rPr>
              <a:t>yor</a:t>
            </a:r>
            <a:r>
              <a:rPr lang="en-US" sz="1600" dirty="0">
                <a:solidFill>
                  <a:srgbClr val="E6E6E6"/>
                </a:solidFill>
              </a:rPr>
              <a:t> name? “           echo –p(prompt) “how old are you?” old</a:t>
            </a:r>
          </a:p>
          <a:p>
            <a:r>
              <a:rPr lang="en-US" sz="1600" dirty="0">
                <a:solidFill>
                  <a:srgbClr val="E6E6E6"/>
                </a:solidFill>
              </a:rPr>
              <a:t>read name                                      days=$[ old * 365 ]</a:t>
            </a:r>
          </a:p>
          <a:p>
            <a:r>
              <a:rPr lang="en-US" sz="1600" dirty="0">
                <a:solidFill>
                  <a:srgbClr val="E6E6E6"/>
                </a:solidFill>
              </a:rPr>
              <a:t>echo "Hello $name, welcome to my program.“  echo "That makes you over</a:t>
            </a:r>
          </a:p>
          <a:p>
            <a:pPr marL="0" indent="0">
              <a:buNone/>
            </a:pPr>
            <a:r>
              <a:rPr lang="en-US" sz="1600" dirty="0">
                <a:solidFill>
                  <a:srgbClr val="E6E6E6"/>
                </a:solidFill>
              </a:rPr>
              <a:t> </a:t>
            </a:r>
          </a:p>
          <a:p>
            <a:pPr marL="0" indent="0">
              <a:buNone/>
            </a:pPr>
            <a:r>
              <a:rPr lang="en-US" sz="1600" dirty="0">
                <a:solidFill>
                  <a:srgbClr val="E6E6E6"/>
                </a:solidFill>
              </a:rPr>
              <a:t>                                                                            $days </a:t>
            </a:r>
            <a:r>
              <a:rPr lang="en-US" sz="1600" dirty="0" err="1">
                <a:solidFill>
                  <a:srgbClr val="E6E6E6"/>
                </a:solidFill>
              </a:rPr>
              <a:t>days</a:t>
            </a:r>
            <a:r>
              <a:rPr lang="en-US" sz="1600" dirty="0">
                <a:solidFill>
                  <a:srgbClr val="E6E6E6"/>
                </a:solidFill>
              </a:rPr>
              <a:t> old!“                                                           </a:t>
            </a:r>
          </a:p>
          <a:p>
            <a:r>
              <a:rPr lang="en-US" sz="1600" dirty="0">
                <a:solidFill>
                  <a:srgbClr val="E6E6E6"/>
                </a:solidFill>
              </a:rPr>
              <a:t>In fact, the read command includes the -p option, which allows you to specify a prompt</a:t>
            </a:r>
          </a:p>
          <a:p>
            <a:r>
              <a:rPr lang="en-US" sz="1600" dirty="0">
                <a:solidFill>
                  <a:srgbClr val="E6E6E6"/>
                </a:solidFill>
              </a:rPr>
              <a:t>directly in the read command line   if don’t use env store in REPLY</a:t>
            </a:r>
          </a:p>
        </p:txBody>
      </p:sp>
      <p:cxnSp>
        <p:nvCxnSpPr>
          <p:cNvPr id="5" name="Straight Arrow Connector 4"/>
          <p:cNvCxnSpPr/>
          <p:nvPr/>
        </p:nvCxnSpPr>
        <p:spPr>
          <a:xfrm>
            <a:off x="4897925" y="2027976"/>
            <a:ext cx="0" cy="1511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6871580" y="3899133"/>
            <a:ext cx="0" cy="8600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646472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4048" y="593272"/>
            <a:ext cx="8596668" cy="1320800"/>
          </a:xfrm>
        </p:spPr>
        <p:txBody>
          <a:bodyPr/>
          <a:lstStyle/>
          <a:p>
            <a:r>
              <a:rPr lang="en-US" sz="2800" b="1" dirty="0">
                <a:solidFill>
                  <a:srgbClr val="FFFFFF"/>
                </a:solidFill>
              </a:rPr>
              <a:t>                   Basic Reading</a:t>
            </a:r>
          </a:p>
        </p:txBody>
      </p:sp>
      <p:sp>
        <p:nvSpPr>
          <p:cNvPr id="3" name="Content Placeholder 2"/>
          <p:cNvSpPr>
            <a:spLocks noGrp="1"/>
          </p:cNvSpPr>
          <p:nvPr>
            <p:ph idx="1"/>
          </p:nvPr>
        </p:nvSpPr>
        <p:spPr>
          <a:xfrm>
            <a:off x="2034938" y="1747710"/>
            <a:ext cx="8596668" cy="3880773"/>
          </a:xfrm>
        </p:spPr>
        <p:txBody>
          <a:bodyPr>
            <a:normAutofit/>
          </a:bodyPr>
          <a:lstStyle/>
          <a:p>
            <a:r>
              <a:rPr lang="en-US" sz="1600" dirty="0">
                <a:solidFill>
                  <a:srgbClr val="E6E6E6"/>
                </a:solidFill>
              </a:rPr>
              <a:t>#!/bin/bash</a:t>
            </a:r>
          </a:p>
          <a:p>
            <a:r>
              <a:rPr lang="en-US" sz="1600" dirty="0">
                <a:solidFill>
                  <a:srgbClr val="E6E6E6"/>
                </a:solidFill>
              </a:rPr>
              <a:t>read -p "what is your name?" first last</a:t>
            </a:r>
          </a:p>
          <a:p>
            <a:r>
              <a:rPr lang="en-US" sz="1600" dirty="0">
                <a:solidFill>
                  <a:srgbClr val="E6E6E6"/>
                </a:solidFill>
              </a:rPr>
              <a:t>echo "checking data for $first and  $last"</a:t>
            </a:r>
          </a:p>
        </p:txBody>
      </p:sp>
    </p:spTree>
    <p:extLst>
      <p:ext uri="{BB962C8B-B14F-4D97-AF65-F5344CB8AC3E}">
        <p14:creationId xmlns:p14="http://schemas.microsoft.com/office/powerpoint/2010/main" val="23957639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5730" y="216403"/>
            <a:ext cx="7864841" cy="1060854"/>
          </a:xfrm>
        </p:spPr>
        <p:txBody>
          <a:bodyPr>
            <a:normAutofit/>
          </a:bodyPr>
          <a:lstStyle/>
          <a:p>
            <a:r>
              <a:rPr lang="en-US" sz="2800" b="1" dirty="0">
                <a:solidFill>
                  <a:srgbClr val="FFFFFF"/>
                </a:solidFill>
              </a:rPr>
              <a:t>               Advanced Shell Scripting</a:t>
            </a:r>
          </a:p>
        </p:txBody>
      </p:sp>
      <p:sp>
        <p:nvSpPr>
          <p:cNvPr id="3" name="Content Placeholder 2"/>
          <p:cNvSpPr>
            <a:spLocks noGrp="1"/>
          </p:cNvSpPr>
          <p:nvPr>
            <p:ph idx="1"/>
          </p:nvPr>
        </p:nvSpPr>
        <p:spPr>
          <a:xfrm>
            <a:off x="1797666" y="2107681"/>
            <a:ext cx="8596668" cy="3880773"/>
          </a:xfrm>
        </p:spPr>
        <p:txBody>
          <a:bodyPr>
            <a:noAutofit/>
          </a:bodyPr>
          <a:lstStyle/>
          <a:p>
            <a:r>
              <a:rPr lang="en-US" sz="1600" dirty="0">
                <a:solidFill>
                  <a:srgbClr val="E6E6E6"/>
                </a:solidFill>
              </a:rPr>
              <a:t>if in bash </a:t>
            </a:r>
            <a:r>
              <a:rPr lang="en-US" sz="1600" dirty="0" err="1">
                <a:solidFill>
                  <a:srgbClr val="E6E6E6"/>
                </a:solidFill>
              </a:rPr>
              <a:t>scripit</a:t>
            </a:r>
            <a:r>
              <a:rPr lang="en-US" sz="1600" dirty="0">
                <a:solidFill>
                  <a:srgbClr val="E6E6E6"/>
                </a:solidFill>
              </a:rPr>
              <a:t>  : statement </a:t>
            </a:r>
          </a:p>
          <a:p>
            <a:endParaRPr lang="en-US" sz="2400" dirty="0"/>
          </a:p>
          <a:p>
            <a:r>
              <a:rPr lang="en-US" sz="1600" dirty="0">
                <a:solidFill>
                  <a:srgbClr val="E6E6E6"/>
                </a:solidFill>
              </a:rPr>
              <a:t>if read -t 5 -p "Please enter your name: " name</a:t>
            </a:r>
          </a:p>
          <a:p>
            <a:r>
              <a:rPr lang="en-US" sz="1600" dirty="0" err="1">
                <a:solidFill>
                  <a:srgbClr val="E6E6E6"/>
                </a:solidFill>
              </a:rPr>
              <a:t>Paas</a:t>
            </a:r>
            <a:r>
              <a:rPr lang="en-US" sz="1600" dirty="0">
                <a:solidFill>
                  <a:srgbClr val="E6E6E6"/>
                </a:solidFill>
              </a:rPr>
              <a:t> to ****</a:t>
            </a:r>
          </a:p>
          <a:p>
            <a:r>
              <a:rPr lang="en-US" sz="1600" dirty="0">
                <a:solidFill>
                  <a:srgbClr val="E6E6E6"/>
                </a:solidFill>
              </a:rPr>
              <a:t>then</a:t>
            </a:r>
          </a:p>
          <a:p>
            <a:r>
              <a:rPr lang="en-US" sz="1600" dirty="0">
                <a:solidFill>
                  <a:srgbClr val="E6E6E6"/>
                </a:solidFill>
              </a:rPr>
              <a:t>echo "Hello $name, welcome to my script"</a:t>
            </a:r>
          </a:p>
          <a:p>
            <a:r>
              <a:rPr lang="en-US" sz="1600" dirty="0">
                <a:solidFill>
                  <a:srgbClr val="E6E6E6"/>
                </a:solidFill>
              </a:rPr>
              <a:t>else</a:t>
            </a:r>
          </a:p>
          <a:p>
            <a:r>
              <a:rPr lang="en-US" sz="1600" dirty="0">
                <a:solidFill>
                  <a:srgbClr val="E6E6E6"/>
                </a:solidFill>
              </a:rPr>
              <a:t>echo "Sorry, too slow!"</a:t>
            </a:r>
          </a:p>
          <a:p>
            <a:r>
              <a:rPr lang="en-US" sz="1600" dirty="0">
                <a:solidFill>
                  <a:srgbClr val="E6E6E6"/>
                </a:solidFill>
              </a:rPr>
              <a:t>fi</a:t>
            </a:r>
          </a:p>
        </p:txBody>
      </p:sp>
    </p:spTree>
    <p:extLst>
      <p:ext uri="{BB962C8B-B14F-4D97-AF65-F5344CB8AC3E}">
        <p14:creationId xmlns:p14="http://schemas.microsoft.com/office/powerpoint/2010/main" val="247210589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76669" y="0"/>
            <a:ext cx="6522098" cy="732833"/>
          </a:xfrm>
        </p:spPr>
        <p:txBody>
          <a:bodyPr>
            <a:normAutofit fontScale="90000"/>
          </a:bodyPr>
          <a:lstStyle/>
          <a:p>
            <a:r>
              <a:rPr lang="en-US" sz="2800" b="1" dirty="0">
                <a:solidFill>
                  <a:srgbClr val="FFFFFF"/>
                </a:solidFill>
              </a:rPr>
              <a:t> 			</a:t>
            </a:r>
            <a:br>
              <a:rPr lang="en-US" dirty="0"/>
            </a:br>
            <a:r>
              <a:rPr lang="en-US" sz="2800" b="1" dirty="0">
                <a:solidFill>
                  <a:srgbClr val="FFFFFF"/>
                </a:solidFill>
              </a:rPr>
              <a:t>                     	The Exit Status</a:t>
            </a:r>
            <a:endParaRPr lang="en-US" dirty="0"/>
          </a:p>
        </p:txBody>
      </p:sp>
      <p:sp>
        <p:nvSpPr>
          <p:cNvPr id="3" name="Content Placeholder 2"/>
          <p:cNvSpPr>
            <a:spLocks noGrp="1"/>
          </p:cNvSpPr>
          <p:nvPr>
            <p:ph idx="1"/>
          </p:nvPr>
        </p:nvSpPr>
        <p:spPr>
          <a:xfrm>
            <a:off x="1292377" y="2412344"/>
            <a:ext cx="10899623" cy="3880773"/>
          </a:xfrm>
        </p:spPr>
        <p:txBody>
          <a:bodyPr>
            <a:noAutofit/>
          </a:bodyPr>
          <a:lstStyle/>
          <a:p>
            <a:r>
              <a:rPr lang="en-US" sz="1600" dirty="0">
                <a:solidFill>
                  <a:srgbClr val="E6E6E6"/>
                </a:solidFill>
              </a:rPr>
              <a:t>Linux provides us with the special $? variable, which holds the exit status value from the last command that executed. To check the exit status of a command, you must view the $?</a:t>
            </a:r>
          </a:p>
          <a:p>
            <a:r>
              <a:rPr lang="en-US" sz="1600" dirty="0">
                <a:solidFill>
                  <a:srgbClr val="E6E6E6"/>
                </a:solidFill>
              </a:rPr>
              <a:t>variable immediately after the command ends. It changes values according to the exit status</a:t>
            </a:r>
          </a:p>
          <a:p>
            <a:r>
              <a:rPr lang="en-US" sz="1600" dirty="0">
                <a:solidFill>
                  <a:srgbClr val="E6E6E6"/>
                </a:solidFill>
              </a:rPr>
              <a:t>of the last command executed by the shell</a:t>
            </a:r>
          </a:p>
          <a:p>
            <a:r>
              <a:rPr lang="en-US" sz="1600" dirty="0">
                <a:solidFill>
                  <a:srgbClr val="E6E6E6"/>
                </a:solidFill>
              </a:rPr>
              <a:t>Exit code 0 command successfully run</a:t>
            </a:r>
          </a:p>
          <a:p>
            <a:r>
              <a:rPr lang="en-US" sz="1600" dirty="0">
                <a:solidFill>
                  <a:srgbClr val="E6E6E6"/>
                </a:solidFill>
              </a:rPr>
              <a:t>Exit code 127 command not found</a:t>
            </a:r>
          </a:p>
          <a:p>
            <a:r>
              <a:rPr lang="en-US" sz="1600" dirty="0">
                <a:solidFill>
                  <a:srgbClr val="E6E6E6"/>
                </a:solidFill>
              </a:rPr>
              <a:t>Exit code 130 cancel by </a:t>
            </a:r>
            <a:r>
              <a:rPr lang="en-US" sz="1600" dirty="0" err="1">
                <a:solidFill>
                  <a:srgbClr val="E6E6E6"/>
                </a:solidFill>
              </a:rPr>
              <a:t>crt</a:t>
            </a:r>
            <a:r>
              <a:rPr lang="en-US" sz="1600" dirty="0">
                <a:solidFill>
                  <a:srgbClr val="E6E6E6"/>
                </a:solidFill>
              </a:rPr>
              <a:t> +c</a:t>
            </a:r>
          </a:p>
          <a:p>
            <a:r>
              <a:rPr lang="en-US" sz="1600" dirty="0">
                <a:solidFill>
                  <a:srgbClr val="E6E6E6"/>
                </a:solidFill>
              </a:rPr>
              <a:t>Exit code 126 command don’t have permission</a:t>
            </a:r>
          </a:p>
          <a:p>
            <a:r>
              <a:rPr lang="en-US" sz="1600" dirty="0">
                <a:solidFill>
                  <a:srgbClr val="E6E6E6"/>
                </a:solidFill>
              </a:rPr>
              <a:t>Exit code 148 terminate by ctrl +z </a:t>
            </a:r>
          </a:p>
          <a:p>
            <a:endParaRPr lang="en-US" sz="2400" dirty="0"/>
          </a:p>
          <a:p>
            <a:pPr marL="0" indent="0">
              <a:buNone/>
            </a:pPr>
            <a:endParaRPr lang="en-US" sz="2400" dirty="0"/>
          </a:p>
        </p:txBody>
      </p:sp>
    </p:spTree>
    <p:extLst>
      <p:ext uri="{BB962C8B-B14F-4D97-AF65-F5344CB8AC3E}">
        <p14:creationId xmlns:p14="http://schemas.microsoft.com/office/powerpoint/2010/main" val="3527549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solidFill>
                  <a:srgbClr val="FFFFFF"/>
                </a:solidFill>
              </a:rPr>
              <a:t>                                   </a:t>
            </a:r>
          </a:p>
        </p:txBody>
      </p:sp>
      <p:sp>
        <p:nvSpPr>
          <p:cNvPr id="3" name="Content Placeholder 2"/>
          <p:cNvSpPr>
            <a:spLocks noGrp="1"/>
          </p:cNvSpPr>
          <p:nvPr>
            <p:ph idx="1"/>
          </p:nvPr>
        </p:nvSpPr>
        <p:spPr>
          <a:xfrm>
            <a:off x="2272555" y="1684556"/>
            <a:ext cx="9511695" cy="3880773"/>
          </a:xfrm>
        </p:spPr>
        <p:txBody>
          <a:bodyPr>
            <a:noAutofit/>
          </a:bodyPr>
          <a:lstStyle/>
          <a:p>
            <a:r>
              <a:rPr lang="en-US" sz="1600" dirty="0" err="1">
                <a:solidFill>
                  <a:srgbClr val="E6E6E6"/>
                </a:solidFill>
              </a:rPr>
              <a:t>backticks</a:t>
            </a:r>
            <a:r>
              <a:rPr lang="en-US" sz="1600" dirty="0">
                <a:solidFill>
                  <a:srgbClr val="E6E6E6"/>
                </a:solidFill>
              </a:rPr>
              <a:t> ` this sign when we user command as </a:t>
            </a:r>
            <a:r>
              <a:rPr lang="en-US" sz="1600" dirty="0" err="1">
                <a:solidFill>
                  <a:srgbClr val="E6E6E6"/>
                </a:solidFill>
              </a:rPr>
              <a:t>env</a:t>
            </a:r>
            <a:r>
              <a:rPr lang="en-US" sz="1600" dirty="0">
                <a:solidFill>
                  <a:srgbClr val="E6E6E6"/>
                </a:solidFill>
              </a:rPr>
              <a:t> for example</a:t>
            </a:r>
          </a:p>
          <a:p>
            <a:pPr marL="0" indent="0">
              <a:buNone/>
            </a:pPr>
            <a:r>
              <a:rPr lang="en-US" sz="1600" dirty="0">
                <a:solidFill>
                  <a:srgbClr val="E6E6E6"/>
                </a:solidFill>
              </a:rPr>
              <a:t>  </a:t>
            </a:r>
            <a:r>
              <a:rPr lang="en-US" sz="1600" dirty="0" err="1">
                <a:solidFill>
                  <a:srgbClr val="E6E6E6"/>
                </a:solidFill>
              </a:rPr>
              <a:t>var</a:t>
            </a:r>
            <a:r>
              <a:rPr lang="en-US" sz="1600" dirty="0">
                <a:solidFill>
                  <a:srgbClr val="E6E6E6"/>
                </a:solidFill>
              </a:rPr>
              <a:t>=`date`  echo $</a:t>
            </a:r>
            <a:r>
              <a:rPr lang="en-US" sz="1600" dirty="0" err="1">
                <a:solidFill>
                  <a:srgbClr val="E6E6E6"/>
                </a:solidFill>
              </a:rPr>
              <a:t>var</a:t>
            </a:r>
            <a:endParaRPr lang="en-US" sz="2400" dirty="0"/>
          </a:p>
          <a:p>
            <a:pPr marL="0" indent="0">
              <a:buNone/>
            </a:pPr>
            <a:r>
              <a:rPr lang="en-US" sz="1600" dirty="0">
                <a:solidFill>
                  <a:srgbClr val="E6E6E6"/>
                </a:solidFill>
              </a:rPr>
              <a:t>$ (date) = `date`</a:t>
            </a:r>
          </a:p>
          <a:p>
            <a:pPr marL="0" indent="0">
              <a:buNone/>
            </a:pPr>
            <a:endParaRPr lang="en-US" sz="2400" dirty="0"/>
          </a:p>
          <a:p>
            <a:pPr marL="0" indent="0">
              <a:buNone/>
            </a:pPr>
            <a:r>
              <a:rPr lang="en-US" sz="1600" dirty="0">
                <a:solidFill>
                  <a:srgbClr val="E6E6E6"/>
                </a:solidFill>
              </a:rPr>
              <a:t>Sample statement if </a:t>
            </a:r>
          </a:p>
          <a:p>
            <a:pPr marL="0" indent="0">
              <a:buNone/>
            </a:pPr>
            <a:r>
              <a:rPr lang="en-US" sz="1600" dirty="0">
                <a:solidFill>
                  <a:srgbClr val="E6E6E6"/>
                </a:solidFill>
              </a:rPr>
              <a:t>-</a:t>
            </a:r>
            <a:r>
              <a:rPr lang="en-US" sz="1600" dirty="0" err="1">
                <a:solidFill>
                  <a:srgbClr val="E6E6E6"/>
                </a:solidFill>
              </a:rPr>
              <a:t>lt</a:t>
            </a:r>
            <a:r>
              <a:rPr lang="en-US" sz="1600" dirty="0">
                <a:solidFill>
                  <a:srgbClr val="E6E6E6"/>
                </a:solidFill>
              </a:rPr>
              <a:t> less than                    -</a:t>
            </a:r>
            <a:r>
              <a:rPr lang="en-US" sz="1600" dirty="0" err="1">
                <a:solidFill>
                  <a:srgbClr val="E6E6E6"/>
                </a:solidFill>
              </a:rPr>
              <a:t>qe</a:t>
            </a:r>
            <a:r>
              <a:rPr lang="en-US" sz="1600" dirty="0">
                <a:solidFill>
                  <a:srgbClr val="E6E6E6"/>
                </a:solidFill>
              </a:rPr>
              <a:t> equal</a:t>
            </a:r>
          </a:p>
          <a:p>
            <a:pPr marL="0" indent="0">
              <a:buNone/>
            </a:pPr>
            <a:endParaRPr lang="en-US" sz="2400" dirty="0"/>
          </a:p>
          <a:p>
            <a:pPr marL="0" indent="0">
              <a:buNone/>
            </a:pPr>
            <a:r>
              <a:rPr lang="en-US" sz="1600" dirty="0">
                <a:solidFill>
                  <a:srgbClr val="E6E6E6"/>
                </a:solidFill>
              </a:rPr>
              <a:t>-</a:t>
            </a:r>
            <a:r>
              <a:rPr lang="en-US" sz="1600" dirty="0" err="1">
                <a:solidFill>
                  <a:srgbClr val="E6E6E6"/>
                </a:solidFill>
              </a:rPr>
              <a:t>ge</a:t>
            </a:r>
            <a:r>
              <a:rPr lang="en-US" sz="1600" dirty="0">
                <a:solidFill>
                  <a:srgbClr val="E6E6E6"/>
                </a:solidFill>
              </a:rPr>
              <a:t> greater than or equal</a:t>
            </a:r>
          </a:p>
          <a:p>
            <a:pPr marL="0" indent="0">
              <a:buNone/>
            </a:pPr>
            <a:r>
              <a:rPr lang="en-US" sz="1600" dirty="0">
                <a:solidFill>
                  <a:srgbClr val="E6E6E6"/>
                </a:solidFill>
              </a:rPr>
              <a:t>-</a:t>
            </a:r>
            <a:r>
              <a:rPr lang="en-US" sz="1600" dirty="0" err="1">
                <a:solidFill>
                  <a:srgbClr val="E6E6E6"/>
                </a:solidFill>
              </a:rPr>
              <a:t>gt</a:t>
            </a:r>
            <a:r>
              <a:rPr lang="en-US" sz="1600" dirty="0">
                <a:solidFill>
                  <a:srgbClr val="E6E6E6"/>
                </a:solidFill>
              </a:rPr>
              <a:t> greater than                         -ne  not equal</a:t>
            </a:r>
          </a:p>
        </p:txBody>
      </p:sp>
    </p:spTree>
    <p:extLst>
      <p:ext uri="{BB962C8B-B14F-4D97-AF65-F5344CB8AC3E}">
        <p14:creationId xmlns:p14="http://schemas.microsoft.com/office/powerpoint/2010/main" val="154903895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3420" y="167813"/>
            <a:ext cx="8596668" cy="1320800"/>
          </a:xfrm>
        </p:spPr>
        <p:txBody>
          <a:bodyPr/>
          <a:lstStyle/>
          <a:p>
            <a:r>
              <a:rPr lang="en-US" sz="2800" b="1" dirty="0">
                <a:solidFill>
                  <a:srgbClr val="FFFFFF"/>
                </a:solidFill>
              </a:rPr>
              <a:t>                       sample if</a:t>
            </a:r>
          </a:p>
        </p:txBody>
      </p:sp>
      <p:sp>
        <p:nvSpPr>
          <p:cNvPr id="3" name="Content Placeholder 2"/>
          <p:cNvSpPr>
            <a:spLocks noGrp="1"/>
          </p:cNvSpPr>
          <p:nvPr>
            <p:ph idx="1"/>
          </p:nvPr>
        </p:nvSpPr>
        <p:spPr>
          <a:xfrm>
            <a:off x="2461036" y="1488613"/>
            <a:ext cx="9730964" cy="4762896"/>
          </a:xfrm>
        </p:spPr>
        <p:txBody>
          <a:bodyPr>
            <a:noAutofit/>
          </a:bodyPr>
          <a:lstStyle/>
          <a:p>
            <a:r>
              <a:rPr lang="en-US" sz="1600" dirty="0">
                <a:solidFill>
                  <a:srgbClr val="E6E6E6"/>
                </a:solidFill>
              </a:rPr>
              <a:t>if [ $1 -</a:t>
            </a:r>
            <a:r>
              <a:rPr lang="en-US" sz="1600" dirty="0" err="1">
                <a:solidFill>
                  <a:srgbClr val="E6E6E6"/>
                </a:solidFill>
              </a:rPr>
              <a:t>eq</a:t>
            </a:r>
            <a:r>
              <a:rPr lang="en-US" sz="1600" dirty="0">
                <a:solidFill>
                  <a:srgbClr val="E6E6E6"/>
                </a:solidFill>
              </a:rPr>
              <a:t> $2 ]</a:t>
            </a:r>
          </a:p>
          <a:p>
            <a:r>
              <a:rPr lang="en-US" sz="1600" dirty="0">
                <a:solidFill>
                  <a:srgbClr val="E6E6E6"/>
                </a:solidFill>
              </a:rPr>
              <a:t>then</a:t>
            </a:r>
          </a:p>
          <a:p>
            <a:r>
              <a:rPr lang="en-US" sz="1600" dirty="0">
                <a:solidFill>
                  <a:srgbClr val="E6E6E6"/>
                </a:solidFill>
              </a:rPr>
              <a:t>echo "Both values are equal!"</a:t>
            </a:r>
          </a:p>
          <a:p>
            <a:r>
              <a:rPr lang="en-US" sz="1600" dirty="0">
                <a:solidFill>
                  <a:srgbClr val="E6E6E6"/>
                </a:solidFill>
              </a:rPr>
              <a:t>exit</a:t>
            </a:r>
          </a:p>
          <a:p>
            <a:r>
              <a:rPr lang="en-US" sz="1600" dirty="0">
                <a:solidFill>
                  <a:srgbClr val="E6E6E6"/>
                </a:solidFill>
              </a:rPr>
              <a:t>fi</a:t>
            </a:r>
          </a:p>
          <a:p>
            <a:r>
              <a:rPr lang="en-US" sz="1600" dirty="0">
                <a:solidFill>
                  <a:srgbClr val="E6E6E6"/>
                </a:solidFill>
              </a:rPr>
              <a:t>if [ $1 -</a:t>
            </a:r>
            <a:r>
              <a:rPr lang="en-US" sz="1600" dirty="0" err="1">
                <a:solidFill>
                  <a:srgbClr val="E6E6E6"/>
                </a:solidFill>
              </a:rPr>
              <a:t>gt</a:t>
            </a:r>
            <a:r>
              <a:rPr lang="en-US" sz="1600" dirty="0">
                <a:solidFill>
                  <a:srgbClr val="E6E6E6"/>
                </a:solidFill>
              </a:rPr>
              <a:t> $2 ]</a:t>
            </a:r>
          </a:p>
          <a:p>
            <a:r>
              <a:rPr lang="en-US" sz="1600" dirty="0">
                <a:solidFill>
                  <a:srgbClr val="E6E6E6"/>
                </a:solidFill>
              </a:rPr>
              <a:t>then</a:t>
            </a:r>
          </a:p>
          <a:p>
            <a:r>
              <a:rPr lang="en-US" sz="1600" dirty="0">
                <a:solidFill>
                  <a:srgbClr val="E6E6E6"/>
                </a:solidFill>
              </a:rPr>
              <a:t>echo "The first value is greater than the second"</a:t>
            </a:r>
          </a:p>
          <a:p>
            <a:r>
              <a:rPr lang="en-US" sz="1600" dirty="0">
                <a:solidFill>
                  <a:srgbClr val="E6E6E6"/>
                </a:solidFill>
              </a:rPr>
              <a:t>exit</a:t>
            </a:r>
          </a:p>
          <a:p>
            <a:r>
              <a:rPr lang="en-US" sz="1600" dirty="0">
                <a:solidFill>
                  <a:srgbClr val="E6E6E6"/>
                </a:solidFill>
              </a:rPr>
              <a:t>fi</a:t>
            </a:r>
          </a:p>
          <a:p>
            <a:r>
              <a:rPr lang="en-US" sz="1600" dirty="0">
                <a:solidFill>
                  <a:srgbClr val="E6E6E6"/>
                </a:solidFill>
              </a:rPr>
              <a:t>if [ $1 -</a:t>
            </a:r>
            <a:r>
              <a:rPr lang="en-US" sz="1600" dirty="0" err="1">
                <a:solidFill>
                  <a:srgbClr val="E6E6E6"/>
                </a:solidFill>
              </a:rPr>
              <a:t>lt</a:t>
            </a:r>
            <a:r>
              <a:rPr lang="en-US" sz="1600" dirty="0">
                <a:solidFill>
                  <a:srgbClr val="E6E6E6"/>
                </a:solidFill>
              </a:rPr>
              <a:t> $2 ]</a:t>
            </a:r>
          </a:p>
          <a:p>
            <a:r>
              <a:rPr lang="en-US" sz="1600" dirty="0">
                <a:solidFill>
                  <a:srgbClr val="E6E6E6"/>
                </a:solidFill>
              </a:rPr>
              <a:t>then</a:t>
            </a:r>
          </a:p>
          <a:p>
            <a:r>
              <a:rPr lang="en-US" sz="1600" dirty="0">
                <a:solidFill>
                  <a:srgbClr val="E6E6E6"/>
                </a:solidFill>
              </a:rPr>
              <a:t>echo "The first value is less than the second"</a:t>
            </a:r>
          </a:p>
          <a:p>
            <a:r>
              <a:rPr lang="en-US" sz="1600" dirty="0">
                <a:solidFill>
                  <a:srgbClr val="E6E6E6"/>
                </a:solidFill>
              </a:rPr>
              <a:t>exit</a:t>
            </a:r>
          </a:p>
          <a:p>
            <a:r>
              <a:rPr lang="en-US" sz="1600" dirty="0">
                <a:solidFill>
                  <a:srgbClr val="E6E6E6"/>
                </a:solidFill>
              </a:rPr>
              <a:t>fi</a:t>
            </a:r>
          </a:p>
        </p:txBody>
      </p:sp>
    </p:spTree>
    <p:extLst>
      <p:ext uri="{BB962C8B-B14F-4D97-AF65-F5344CB8AC3E}">
        <p14:creationId xmlns:p14="http://schemas.microsoft.com/office/powerpoint/2010/main" val="5239248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8C465-B3F0-8504-46E2-F77A226A466A}"/>
              </a:ext>
            </a:extLst>
          </p:cNvPr>
          <p:cNvSpPr>
            <a:spLocks noGrp="1"/>
          </p:cNvSpPr>
          <p:nvPr>
            <p:ph type="title"/>
          </p:nvPr>
        </p:nvSpPr>
        <p:spPr/>
        <p:txBody>
          <a:bodyPr/>
          <a:lstStyle/>
          <a:p>
            <a:r>
              <a:rPr lang="fa-IR" sz="2800" b="1" dirty="0">
                <a:solidFill>
                  <a:srgbClr val="FFFFFF"/>
                </a:solidFill>
              </a:rPr>
              <a:t>          </a:t>
            </a:r>
            <a:endParaRPr lang="en-US" dirty="0"/>
          </a:p>
        </p:txBody>
      </p:sp>
      <p:sp>
        <p:nvSpPr>
          <p:cNvPr id="3" name="Content Placeholder 2">
            <a:extLst>
              <a:ext uri="{FF2B5EF4-FFF2-40B4-BE49-F238E27FC236}">
                <a16:creationId xmlns:a16="http://schemas.microsoft.com/office/drawing/2014/main" id="{A8DFC22E-1A45-557A-D62C-10D1EB05585F}"/>
              </a:ext>
            </a:extLst>
          </p:cNvPr>
          <p:cNvSpPr>
            <a:spLocks noGrp="1"/>
          </p:cNvSpPr>
          <p:nvPr>
            <p:ph idx="1"/>
          </p:nvPr>
        </p:nvSpPr>
        <p:spPr>
          <a:xfrm>
            <a:off x="3005667" y="2819783"/>
            <a:ext cx="5793101" cy="1599819"/>
          </a:xfrm>
        </p:spPr>
        <p:txBody>
          <a:bodyPr>
            <a:noAutofit/>
          </a:bodyPr>
          <a:lstStyle/>
          <a:p>
            <a:r>
              <a:rPr lang="en-US" sz="1600" dirty="0">
                <a:solidFill>
                  <a:srgbClr val="E6E6E6"/>
                </a:solidFill>
              </a:rPr>
              <a:t>case variable in </a:t>
            </a:r>
            <a:endParaRPr lang="fa-IR" dirty="0"/>
          </a:p>
          <a:p>
            <a:r>
              <a:rPr lang="en-US" sz="1600" dirty="0">
                <a:solidFill>
                  <a:srgbClr val="E6E6E6"/>
                </a:solidFill>
              </a:rPr>
              <a:t>pattern1) commands1;; </a:t>
            </a:r>
            <a:endParaRPr lang="fa-IR" dirty="0"/>
          </a:p>
          <a:p>
            <a:r>
              <a:rPr lang="en-US" sz="1600" dirty="0">
                <a:solidFill>
                  <a:srgbClr val="E6E6E6"/>
                </a:solidFill>
              </a:rPr>
              <a:t>pattern2 | pattern3) commands2;;</a:t>
            </a:r>
            <a:endParaRPr lang="fa-IR" dirty="0"/>
          </a:p>
          <a:p>
            <a:r>
              <a:rPr lang="en-US" sz="1600" dirty="0">
                <a:solidFill>
                  <a:srgbClr val="E6E6E6"/>
                </a:solidFill>
              </a:rPr>
              <a:t> *) default commands;; </a:t>
            </a:r>
            <a:endParaRPr lang="fa-IR" dirty="0"/>
          </a:p>
          <a:p>
            <a:r>
              <a:rPr lang="en-US" sz="1600" dirty="0" err="1">
                <a:solidFill>
                  <a:srgbClr val="E6E6E6"/>
                </a:solidFill>
              </a:rPr>
              <a:t>esac</a:t>
            </a:r>
            <a:endParaRPr lang="en-US" dirty="0"/>
          </a:p>
          <a:p>
            <a:r>
              <a:rPr lang="en-US" sz="1600" dirty="0">
                <a:solidFill>
                  <a:srgbClr val="E6E6E6"/>
                </a:solidFill>
              </a:rPr>
              <a:t>#!/bin/bash</a:t>
            </a:r>
          </a:p>
          <a:p>
            <a:r>
              <a:rPr lang="en-US" sz="1600" dirty="0">
                <a:solidFill>
                  <a:srgbClr val="E6E6E6"/>
                </a:solidFill>
              </a:rPr>
              <a:t>case $USER in</a:t>
            </a:r>
          </a:p>
          <a:p>
            <a:r>
              <a:rPr lang="en-US" sz="1600" dirty="0">
                <a:solidFill>
                  <a:srgbClr val="E6E6E6"/>
                </a:solidFill>
              </a:rPr>
              <a:t>root | iman)</a:t>
            </a:r>
          </a:p>
          <a:p>
            <a:r>
              <a:rPr lang="en-US" sz="1600" dirty="0">
                <a:solidFill>
                  <a:srgbClr val="E6E6E6"/>
                </a:solidFill>
              </a:rPr>
              <a:t> echo "Welcome, $USER"</a:t>
            </a:r>
          </a:p>
          <a:p>
            <a:r>
              <a:rPr lang="en-US" sz="1600" dirty="0">
                <a:solidFill>
                  <a:srgbClr val="E6E6E6"/>
                </a:solidFill>
              </a:rPr>
              <a:t> echo "Please enjoy your visit";;</a:t>
            </a:r>
          </a:p>
          <a:p>
            <a:r>
              <a:rPr lang="en-US" sz="1600" dirty="0">
                <a:solidFill>
                  <a:srgbClr val="E6E6E6"/>
                </a:solidFill>
              </a:rPr>
              <a:t>*)</a:t>
            </a:r>
          </a:p>
          <a:p>
            <a:r>
              <a:rPr lang="en-US" sz="1600" dirty="0">
                <a:solidFill>
                  <a:srgbClr val="E6E6E6"/>
                </a:solidFill>
              </a:rPr>
              <a:t> echo "Sorry, you're not allowed here";;</a:t>
            </a:r>
          </a:p>
          <a:p>
            <a:r>
              <a:rPr lang="en-US" sz="1600" dirty="0" err="1">
                <a:solidFill>
                  <a:srgbClr val="E6E6E6"/>
                </a:solidFill>
              </a:rPr>
              <a:t>esac</a:t>
            </a:r>
            <a:endParaRPr lang="fa-IR" dirty="0"/>
          </a:p>
          <a:p>
            <a:endParaRPr lang="en-US" dirty="0"/>
          </a:p>
        </p:txBody>
      </p:sp>
    </p:spTree>
    <p:extLst>
      <p:ext uri="{BB962C8B-B14F-4D97-AF65-F5344CB8AC3E}">
        <p14:creationId xmlns:p14="http://schemas.microsoft.com/office/powerpoint/2010/main" val="245309055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F57C-380D-530E-E57C-8139B636FADF}"/>
              </a:ext>
            </a:extLst>
          </p:cNvPr>
          <p:cNvSpPr>
            <a:spLocks noGrp="1"/>
          </p:cNvSpPr>
          <p:nvPr>
            <p:ph type="title"/>
          </p:nvPr>
        </p:nvSpPr>
        <p:spPr>
          <a:xfrm>
            <a:off x="811763" y="274460"/>
            <a:ext cx="8596668" cy="1320800"/>
          </a:xfrm>
        </p:spPr>
        <p:txBody>
          <a:bodyPr/>
          <a:lstStyle/>
          <a:p>
            <a:r>
              <a:rPr lang="en-US" sz="2800" b="1" dirty="0">
                <a:solidFill>
                  <a:srgbClr val="FFFFFF"/>
                </a:solidFill>
              </a:rPr>
              <a:t>                         Loops</a:t>
            </a:r>
          </a:p>
        </p:txBody>
      </p:sp>
      <p:sp>
        <p:nvSpPr>
          <p:cNvPr id="3" name="Content Placeholder 2">
            <a:extLst>
              <a:ext uri="{FF2B5EF4-FFF2-40B4-BE49-F238E27FC236}">
                <a16:creationId xmlns:a16="http://schemas.microsoft.com/office/drawing/2014/main" id="{25BBF826-6C38-B1F1-0279-918D427F9E4E}"/>
              </a:ext>
            </a:extLst>
          </p:cNvPr>
          <p:cNvSpPr>
            <a:spLocks noGrp="1"/>
          </p:cNvSpPr>
          <p:nvPr>
            <p:ph idx="1"/>
          </p:nvPr>
        </p:nvSpPr>
        <p:spPr>
          <a:xfrm>
            <a:off x="1614196" y="2154335"/>
            <a:ext cx="10132180" cy="3880773"/>
          </a:xfrm>
        </p:spPr>
        <p:txBody>
          <a:bodyPr>
            <a:normAutofit/>
          </a:bodyPr>
          <a:lstStyle/>
          <a:p>
            <a:r>
              <a:rPr lang="en-US" sz="1600" dirty="0">
                <a:solidFill>
                  <a:srgbClr val="E6E6E6"/>
                </a:solidFill>
              </a:rPr>
              <a:t>When you’re writing scripts, you’ll often find yourself in a situation where it would come in handy to repeat the same commands multiple times, such as applying a command against all of the files in a directory. The Bash shell provides some basic looping commands to accommodate that.</a:t>
            </a:r>
          </a:p>
          <a:p>
            <a:r>
              <a:rPr lang="en-US" sz="1600" dirty="0">
                <a:solidFill>
                  <a:srgbClr val="E6E6E6"/>
                </a:solidFill>
              </a:rPr>
              <a:t>for variable in series ; do </a:t>
            </a:r>
          </a:p>
          <a:p>
            <a:r>
              <a:rPr lang="en-US" sz="1600" dirty="0">
                <a:solidFill>
                  <a:srgbClr val="E6E6E6"/>
                </a:solidFill>
              </a:rPr>
              <a:t>    commands </a:t>
            </a:r>
          </a:p>
          <a:p>
            <a:r>
              <a:rPr lang="en-US" sz="1600" dirty="0">
                <a:solidFill>
                  <a:srgbClr val="E6E6E6"/>
                </a:solidFill>
              </a:rPr>
              <a:t>done</a:t>
            </a:r>
          </a:p>
          <a:p>
            <a:endParaRPr lang="en-US" sz="2400" dirty="0"/>
          </a:p>
        </p:txBody>
      </p:sp>
    </p:spTree>
    <p:extLst>
      <p:ext uri="{BB962C8B-B14F-4D97-AF65-F5344CB8AC3E}">
        <p14:creationId xmlns:p14="http://schemas.microsoft.com/office/powerpoint/2010/main" val="119701974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AF8F-451F-DBD0-EE7B-CAEBACEEE46E}"/>
              </a:ext>
            </a:extLst>
          </p:cNvPr>
          <p:cNvSpPr>
            <a:spLocks noGrp="1"/>
          </p:cNvSpPr>
          <p:nvPr>
            <p:ph type="title"/>
          </p:nvPr>
        </p:nvSpPr>
        <p:spPr>
          <a:xfrm>
            <a:off x="1101876" y="-93307"/>
            <a:ext cx="8667274" cy="653143"/>
          </a:xfrm>
        </p:spPr>
        <p:txBody>
          <a:bodyPr>
            <a:normAutofit fontScale="90000"/>
          </a:bodyPr>
          <a:lstStyle/>
          <a:p>
            <a:r>
              <a:rPr lang="en-US" sz="2800" b="1" dirty="0">
                <a:solidFill>
                  <a:srgbClr val="FFFFFF"/>
                </a:solidFill>
              </a:rPr>
              <a:t>                 </a:t>
            </a:r>
            <a:br>
              <a:rPr lang="en-US" dirty="0"/>
            </a:br>
            <a:r>
              <a:rPr lang="en-US" sz="2800" b="1" dirty="0">
                <a:solidFill>
                  <a:srgbClr val="FFFFFF"/>
                </a:solidFill>
              </a:rPr>
              <a:t>                            for</a:t>
            </a:r>
          </a:p>
        </p:txBody>
      </p:sp>
      <p:sp>
        <p:nvSpPr>
          <p:cNvPr id="3" name="Content Placeholder 2">
            <a:extLst>
              <a:ext uri="{FF2B5EF4-FFF2-40B4-BE49-F238E27FC236}">
                <a16:creationId xmlns:a16="http://schemas.microsoft.com/office/drawing/2014/main" id="{B31654B2-E6A0-10A0-5861-B243FCFE63FA}"/>
              </a:ext>
            </a:extLst>
          </p:cNvPr>
          <p:cNvSpPr>
            <a:spLocks noGrp="1"/>
          </p:cNvSpPr>
          <p:nvPr>
            <p:ph idx="1"/>
          </p:nvPr>
        </p:nvSpPr>
        <p:spPr>
          <a:xfrm>
            <a:off x="2584580" y="2790396"/>
            <a:ext cx="7184570" cy="2549381"/>
          </a:xfrm>
        </p:spPr>
        <p:txBody>
          <a:bodyPr>
            <a:noAutofit/>
          </a:bodyPr>
          <a:lstStyle/>
          <a:p>
            <a:r>
              <a:rPr lang="en-US" sz="1600" dirty="0">
                <a:solidFill>
                  <a:srgbClr val="E6E6E6"/>
                </a:solidFill>
              </a:rPr>
              <a:t>for file in $(ls | sort) ; do                                -e means exist</a:t>
            </a:r>
          </a:p>
          <a:p>
            <a:r>
              <a:rPr lang="en-US" sz="1600" dirty="0">
                <a:solidFill>
                  <a:srgbClr val="E6E6E6"/>
                </a:solidFill>
              </a:rPr>
              <a:t> if [ -d $file ]                                                   </a:t>
            </a:r>
            <a:r>
              <a:rPr kumimoji="0" lang="en-US" sz="1600" b="0" i="0" u="none" strike="noStrike" kern="1200" cap="none" spc="0" normalizeH="0" baseline="0" noProof="0" dirty="0">
                <a:ln>
                  <a:noFill/>
                </a:ln>
                <a:solidFill>
                  <a:srgbClr val="E6E6E6"/>
                </a:solidFill>
                <a:effectLst/>
                <a:uLnTx/>
                <a:uFillTx/>
                <a:latin typeface="Calibri" panose="020F0502020204030204"/>
                <a:ea typeface="+mn-ea"/>
                <a:cs typeface="+mn-cs"/>
              </a:rPr>
              <a:t>&amp;&amp;</a:t>
            </a:r>
            <a:r>
              <a:rPr lang="en-US" sz="1600" dirty="0">
                <a:solidFill>
                  <a:srgbClr val="E6E6E6"/>
                </a:solidFill>
              </a:rPr>
              <a:t> and   || or</a:t>
            </a:r>
          </a:p>
          <a:p>
            <a:r>
              <a:rPr lang="en-US" sz="1600" dirty="0">
                <a:solidFill>
                  <a:srgbClr val="E6E6E6"/>
                </a:solidFill>
              </a:rPr>
              <a:t> then                                                               </a:t>
            </a:r>
            <a:r>
              <a:rPr lang="en-US" sz="1600" dirty="0" err="1">
                <a:solidFill>
                  <a:srgbClr val="E6E6E6"/>
                </a:solidFill>
              </a:rPr>
              <a:t>elif</a:t>
            </a:r>
            <a:endParaRPr lang="en-US" sz="2400" dirty="0"/>
          </a:p>
          <a:p>
            <a:r>
              <a:rPr lang="en-US" sz="1600" dirty="0">
                <a:solidFill>
                  <a:srgbClr val="E6E6E6"/>
                </a:solidFill>
              </a:rPr>
              <a:t> echo "$file is a directory"</a:t>
            </a:r>
          </a:p>
          <a:p>
            <a:r>
              <a:rPr lang="en-US" sz="1600" dirty="0">
                <a:solidFill>
                  <a:srgbClr val="E6E6E6"/>
                </a:solidFill>
              </a:rPr>
              <a:t> fi</a:t>
            </a:r>
          </a:p>
          <a:p>
            <a:r>
              <a:rPr lang="en-US" sz="1600" dirty="0">
                <a:solidFill>
                  <a:srgbClr val="E6E6E6"/>
                </a:solidFill>
              </a:rPr>
              <a:t> if [ -f $file ]</a:t>
            </a:r>
          </a:p>
          <a:p>
            <a:r>
              <a:rPr lang="en-US" sz="1600" dirty="0">
                <a:solidFill>
                  <a:srgbClr val="E6E6E6"/>
                </a:solidFill>
              </a:rPr>
              <a:t> then</a:t>
            </a:r>
          </a:p>
          <a:p>
            <a:r>
              <a:rPr lang="en-US" sz="1600" dirty="0">
                <a:solidFill>
                  <a:srgbClr val="E6E6E6"/>
                </a:solidFill>
              </a:rPr>
              <a:t> echo "$file is a file"</a:t>
            </a:r>
          </a:p>
          <a:p>
            <a:r>
              <a:rPr lang="en-US" sz="1600" dirty="0">
                <a:solidFill>
                  <a:srgbClr val="E6E6E6"/>
                </a:solidFill>
              </a:rPr>
              <a:t> fi</a:t>
            </a:r>
          </a:p>
          <a:p>
            <a:r>
              <a:rPr lang="en-US" sz="1600" dirty="0">
                <a:solidFill>
                  <a:srgbClr val="E6E6E6"/>
                </a:solidFill>
              </a:rPr>
              <a:t>done</a:t>
            </a:r>
          </a:p>
        </p:txBody>
      </p:sp>
    </p:spTree>
    <p:extLst>
      <p:ext uri="{BB962C8B-B14F-4D97-AF65-F5344CB8AC3E}">
        <p14:creationId xmlns:p14="http://schemas.microsoft.com/office/powerpoint/2010/main" val="195714027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AA2F-C3A9-78EE-BF50-6EE294CE3E49}"/>
              </a:ext>
            </a:extLst>
          </p:cNvPr>
          <p:cNvSpPr>
            <a:spLocks noGrp="1"/>
          </p:cNvSpPr>
          <p:nvPr>
            <p:ph type="title"/>
          </p:nvPr>
        </p:nvSpPr>
        <p:spPr>
          <a:xfrm>
            <a:off x="2165567" y="0"/>
            <a:ext cx="6866466" cy="742302"/>
          </a:xfrm>
        </p:spPr>
        <p:txBody>
          <a:bodyPr>
            <a:normAutofit fontScale="90000"/>
          </a:bodyPr>
          <a:lstStyle/>
          <a:p>
            <a:r>
              <a:rPr lang="en-US" sz="2800" b="1" dirty="0">
                <a:solidFill>
                  <a:srgbClr val="FFFFFF"/>
                </a:solidFill>
              </a:rPr>
              <a:t>                  </a:t>
            </a:r>
            <a:br>
              <a:rPr lang="en-US" dirty="0"/>
            </a:br>
            <a:r>
              <a:rPr lang="en-US" sz="2800" b="1" dirty="0">
                <a:solidFill>
                  <a:srgbClr val="FFFFFF"/>
                </a:solidFill>
              </a:rPr>
              <a:t>                    The while Loop</a:t>
            </a:r>
          </a:p>
        </p:txBody>
      </p:sp>
      <p:sp>
        <p:nvSpPr>
          <p:cNvPr id="3" name="Content Placeholder 2">
            <a:extLst>
              <a:ext uri="{FF2B5EF4-FFF2-40B4-BE49-F238E27FC236}">
                <a16:creationId xmlns:a16="http://schemas.microsoft.com/office/drawing/2014/main" id="{BF19399F-4E05-CFFC-11F2-9BCCE191B972}"/>
              </a:ext>
            </a:extLst>
          </p:cNvPr>
          <p:cNvSpPr>
            <a:spLocks noGrp="1"/>
          </p:cNvSpPr>
          <p:nvPr>
            <p:ph idx="1"/>
          </p:nvPr>
        </p:nvSpPr>
        <p:spPr>
          <a:xfrm>
            <a:off x="1838130" y="1969796"/>
            <a:ext cx="10573052" cy="3880773"/>
          </a:xfrm>
        </p:spPr>
        <p:txBody>
          <a:bodyPr>
            <a:noAutofit/>
          </a:bodyPr>
          <a:lstStyle/>
          <a:p>
            <a:r>
              <a:rPr lang="en-US" sz="1600" dirty="0">
                <a:solidFill>
                  <a:srgbClr val="E6E6E6"/>
                </a:solidFill>
              </a:rPr>
              <a:t>Another useful loop statement is the while command. This is its format: </a:t>
            </a:r>
          </a:p>
          <a:p>
            <a:r>
              <a:rPr lang="en-US" sz="1600" dirty="0">
                <a:solidFill>
                  <a:srgbClr val="E6E6E6"/>
                </a:solidFill>
              </a:rPr>
              <a:t>while [ condition ] ; do </a:t>
            </a:r>
          </a:p>
          <a:p>
            <a:r>
              <a:rPr lang="en-US" sz="1600" dirty="0">
                <a:solidFill>
                  <a:srgbClr val="E6E6E6"/>
                </a:solidFill>
              </a:rPr>
              <a:t>commands </a:t>
            </a:r>
          </a:p>
          <a:p>
            <a:r>
              <a:rPr lang="en-US" sz="1600" dirty="0">
                <a:solidFill>
                  <a:srgbClr val="E6E6E6"/>
                </a:solidFill>
              </a:rPr>
              <a:t>Done</a:t>
            </a:r>
          </a:p>
          <a:p>
            <a:r>
              <a:rPr lang="en-US" sz="1600" dirty="0">
                <a:solidFill>
                  <a:srgbClr val="E6E6E6"/>
                </a:solidFill>
              </a:rPr>
              <a:t>number=$1 factorial=1 </a:t>
            </a:r>
          </a:p>
          <a:p>
            <a:r>
              <a:rPr lang="en-US" sz="1600" dirty="0">
                <a:solidFill>
                  <a:srgbClr val="E6E6E6"/>
                </a:solidFill>
              </a:rPr>
              <a:t>while [ $number -</a:t>
            </a:r>
            <a:r>
              <a:rPr lang="en-US" sz="1600" dirty="0" err="1">
                <a:solidFill>
                  <a:srgbClr val="E6E6E6"/>
                </a:solidFill>
              </a:rPr>
              <a:t>gt</a:t>
            </a:r>
            <a:r>
              <a:rPr lang="en-US" sz="1600" dirty="0">
                <a:solidFill>
                  <a:srgbClr val="E6E6E6"/>
                </a:solidFill>
              </a:rPr>
              <a:t> 0 ] ; do </a:t>
            </a:r>
          </a:p>
          <a:p>
            <a:r>
              <a:rPr lang="en-US" sz="1600" dirty="0">
                <a:solidFill>
                  <a:srgbClr val="E6E6E6"/>
                </a:solidFill>
              </a:rPr>
              <a:t>factorial=$[ $factorial * $number ] </a:t>
            </a:r>
          </a:p>
          <a:p>
            <a:r>
              <a:rPr lang="en-US" sz="1600" dirty="0">
                <a:solidFill>
                  <a:srgbClr val="E6E6E6"/>
                </a:solidFill>
              </a:rPr>
              <a:t>number=$[ $number - 1 ] </a:t>
            </a:r>
          </a:p>
          <a:p>
            <a:r>
              <a:rPr lang="en-US" sz="1600" dirty="0">
                <a:solidFill>
                  <a:srgbClr val="E6E6E6"/>
                </a:solidFill>
              </a:rPr>
              <a:t>done </a:t>
            </a:r>
          </a:p>
          <a:p>
            <a:r>
              <a:rPr lang="en-US" sz="1600" dirty="0">
                <a:solidFill>
                  <a:srgbClr val="E6E6E6"/>
                </a:solidFill>
              </a:rPr>
              <a:t>echo The factorial of $1 is $factorial </a:t>
            </a:r>
          </a:p>
        </p:txBody>
      </p:sp>
    </p:spTree>
    <p:extLst>
      <p:ext uri="{BB962C8B-B14F-4D97-AF65-F5344CB8AC3E}">
        <p14:creationId xmlns:p14="http://schemas.microsoft.com/office/powerpoint/2010/main" val="377788655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153BA-4FE2-8B75-6098-063EC754FEE2}"/>
              </a:ext>
            </a:extLst>
          </p:cNvPr>
          <p:cNvSpPr>
            <a:spLocks noGrp="1"/>
          </p:cNvSpPr>
          <p:nvPr>
            <p:ph type="title"/>
          </p:nvPr>
        </p:nvSpPr>
        <p:spPr>
          <a:xfrm>
            <a:off x="1399592" y="139821"/>
            <a:ext cx="8596668" cy="1320800"/>
          </a:xfrm>
        </p:spPr>
        <p:txBody>
          <a:bodyPr>
            <a:normAutofit/>
          </a:bodyPr>
          <a:lstStyle/>
          <a:p>
            <a:r>
              <a:rPr lang="en-US" sz="2800" b="1" dirty="0">
                <a:solidFill>
                  <a:srgbClr val="FFFFFF"/>
                </a:solidFill>
              </a:rPr>
              <a:t>             Scheduling Regular Scripts</a:t>
            </a:r>
          </a:p>
        </p:txBody>
      </p:sp>
      <p:sp>
        <p:nvSpPr>
          <p:cNvPr id="3" name="Content Placeholder 2">
            <a:extLst>
              <a:ext uri="{FF2B5EF4-FFF2-40B4-BE49-F238E27FC236}">
                <a16:creationId xmlns:a16="http://schemas.microsoft.com/office/drawing/2014/main" id="{6A409082-3C52-28AE-5771-00734A85479C}"/>
              </a:ext>
            </a:extLst>
          </p:cNvPr>
          <p:cNvSpPr>
            <a:spLocks noGrp="1"/>
          </p:cNvSpPr>
          <p:nvPr>
            <p:ph idx="1"/>
          </p:nvPr>
        </p:nvSpPr>
        <p:spPr>
          <a:xfrm>
            <a:off x="1670179" y="2067111"/>
            <a:ext cx="10083195" cy="3880773"/>
          </a:xfrm>
        </p:spPr>
        <p:txBody>
          <a:bodyPr>
            <a:noAutofit/>
          </a:bodyPr>
          <a:lstStyle/>
          <a:p>
            <a:r>
              <a:rPr lang="en-US" sz="1600" dirty="0">
                <a:solidFill>
                  <a:srgbClr val="E6E6E6"/>
                </a:solidFill>
              </a:rPr>
              <a:t>Using the at command to schedule a script to run at a preset time is great, but what if you need that script to run at the same time every day or once a week or once a month? Instead of having to continually submit at jobs, you can use another feature of the Linux system.</a:t>
            </a:r>
          </a:p>
          <a:p>
            <a:r>
              <a:rPr lang="en-US" sz="1600" dirty="0">
                <a:solidFill>
                  <a:srgbClr val="E6E6E6"/>
                </a:solidFill>
              </a:rPr>
              <a:t>The Linux system uses the </a:t>
            </a:r>
            <a:r>
              <a:rPr lang="en-US" sz="1600" dirty="0" err="1">
                <a:solidFill>
                  <a:srgbClr val="E6E6E6"/>
                </a:solidFill>
              </a:rPr>
              <a:t>cron</a:t>
            </a:r>
            <a:r>
              <a:rPr lang="en-US" sz="1600" dirty="0">
                <a:solidFill>
                  <a:srgbClr val="E6E6E6"/>
                </a:solidFill>
              </a:rPr>
              <a:t> program to allow you to schedule jobs that need to run on a regular basis. The </a:t>
            </a:r>
            <a:r>
              <a:rPr lang="en-US" sz="1600" dirty="0" err="1">
                <a:solidFill>
                  <a:srgbClr val="E6E6E6"/>
                </a:solidFill>
              </a:rPr>
              <a:t>cron</a:t>
            </a:r>
            <a:r>
              <a:rPr lang="en-US" sz="1600" dirty="0">
                <a:solidFill>
                  <a:srgbClr val="E6E6E6"/>
                </a:solidFill>
              </a:rPr>
              <a:t> program runs in the background and checks special tables, called </a:t>
            </a:r>
            <a:r>
              <a:rPr lang="en-US" sz="1600" dirty="0" err="1">
                <a:solidFill>
                  <a:srgbClr val="E6E6E6"/>
                </a:solidFill>
              </a:rPr>
              <a:t>cron</a:t>
            </a:r>
            <a:r>
              <a:rPr lang="en-US" sz="1600" dirty="0">
                <a:solidFill>
                  <a:srgbClr val="E6E6E6"/>
                </a:solidFill>
              </a:rPr>
              <a:t> tables (also called crontab for short</a:t>
            </a:r>
          </a:p>
          <a:p>
            <a:r>
              <a:rPr lang="en-US" sz="1600" dirty="0">
                <a:solidFill>
                  <a:srgbClr val="E6E6E6"/>
                </a:solidFill>
              </a:rPr>
              <a:t>min hour </a:t>
            </a:r>
            <a:r>
              <a:rPr lang="en-US" sz="1600" dirty="0" err="1">
                <a:solidFill>
                  <a:srgbClr val="E6E6E6"/>
                </a:solidFill>
              </a:rPr>
              <a:t>dayofmonth</a:t>
            </a:r>
            <a:r>
              <a:rPr lang="en-US" sz="1600" dirty="0">
                <a:solidFill>
                  <a:srgbClr val="E6E6E6"/>
                </a:solidFill>
              </a:rPr>
              <a:t> month </a:t>
            </a:r>
            <a:r>
              <a:rPr lang="en-US" sz="1600" dirty="0" err="1">
                <a:solidFill>
                  <a:srgbClr val="E6E6E6"/>
                </a:solidFill>
              </a:rPr>
              <a:t>dayofweek</a:t>
            </a:r>
            <a:r>
              <a:rPr lang="en-US" sz="1600" dirty="0">
                <a:solidFill>
                  <a:srgbClr val="E6E6E6"/>
                </a:solidFill>
              </a:rPr>
              <a:t> command</a:t>
            </a:r>
          </a:p>
          <a:p>
            <a:r>
              <a:rPr lang="en-US" sz="1600" dirty="0">
                <a:solidFill>
                  <a:srgbClr val="E6E6E6"/>
                </a:solidFill>
              </a:rPr>
              <a:t>Crontab -l          </a:t>
            </a:r>
            <a:r>
              <a:rPr lang="en-US" sz="1600" dirty="0">
                <a:solidFill>
                  <a:srgbClr val="E6E6E6"/>
                </a:solidFill>
                <a:hlinkClick r:id="rId2"/>
              </a:rPr>
              <a:t>https://crontab.guru/</a:t>
            </a:r>
            <a:r>
              <a:rPr lang="en-US" sz="1600" dirty="0">
                <a:solidFill>
                  <a:srgbClr val="E6E6E6"/>
                </a:solidFill>
              </a:rPr>
              <a:t>   for setting time</a:t>
            </a:r>
          </a:p>
        </p:txBody>
      </p:sp>
    </p:spTree>
    <p:extLst>
      <p:ext uri="{BB962C8B-B14F-4D97-AF65-F5344CB8AC3E}">
        <p14:creationId xmlns:p14="http://schemas.microsoft.com/office/powerpoint/2010/main" val="9199266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TM03457496[[fn=Parallax]]</Template>
  <TotalTime>6387</TotalTime>
  <Words>9234</Words>
  <Application>Microsoft Office PowerPoint</Application>
  <PresentationFormat>Widescreen</PresentationFormat>
  <Paragraphs>1070</Paragraphs>
  <Slides>144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144</vt:i4>
      </vt:variant>
    </vt:vector>
  </HeadingPairs>
  <TitlesOfParts>
    <vt:vector size="151" baseType="lpstr">
      <vt:lpstr>arial</vt:lpstr>
      <vt:lpstr>arial</vt:lpstr>
      <vt:lpstr>Calibri</vt:lpstr>
      <vt:lpstr>Corbel</vt:lpstr>
      <vt:lpstr>Nunito</vt:lpstr>
      <vt:lpstr>Wingdings</vt:lpstr>
      <vt:lpstr>Parallax</vt:lpstr>
      <vt:lpstr>LPIC1</vt:lpstr>
      <vt:lpstr>                                 lpic</vt:lpstr>
      <vt:lpstr>Linux history</vt:lpstr>
      <vt:lpstr>Famous people in linux</vt:lpstr>
      <vt:lpstr>Famous company</vt:lpstr>
      <vt:lpstr>Famous Universitiy</vt:lpstr>
      <vt:lpstr>Fork concept</vt:lpstr>
      <vt:lpstr>Cli vs gui</vt:lpstr>
      <vt:lpstr>bash</vt:lpstr>
      <vt:lpstr>Basic Command </vt:lpstr>
      <vt:lpstr>Command basic</vt:lpstr>
      <vt:lpstr>hierarchy  in  linux</vt:lpstr>
      <vt:lpstr>Regular expression</vt:lpstr>
      <vt:lpstr>navigate</vt:lpstr>
      <vt:lpstr>Editor file in linux</vt:lpstr>
      <vt:lpstr>Processing text edit </vt:lpstr>
      <vt:lpstr>                      sed and tee and xargs</vt:lpstr>
      <vt:lpstr>                        hashing in linux</vt:lpstr>
      <vt:lpstr>                  grep(important)</vt:lpstr>
      <vt:lpstr>Usual comand</vt:lpstr>
      <vt:lpstr>directory</vt:lpstr>
      <vt:lpstr>Standard input/output/error</vt:lpstr>
      <vt:lpstr>                    repository</vt:lpstr>
      <vt:lpstr>                                 </vt:lpstr>
      <vt:lpstr> mechanism package database</vt:lpstr>
      <vt:lpstr>Package manager</vt:lpstr>
      <vt:lpstr> important switch rpm</vt:lpstr>
      <vt:lpstr>               verify package  code </vt:lpstr>
      <vt:lpstr>Query switch</vt:lpstr>
      <vt:lpstr>                 cpio and rpm2cpio</vt:lpstr>
      <vt:lpstr>                   source list</vt:lpstr>
      <vt:lpstr>                    yum</vt:lpstr>
      <vt:lpstr>                      apt</vt:lpstr>
      <vt:lpstr>           same switch in yum and apt</vt:lpstr>
      <vt:lpstr>                     library</vt:lpstr>
      <vt:lpstr>                 ad and disad</vt:lpstr>
      <vt:lpstr>                  command library</vt:lpstr>
      <vt:lpstr>     managing process</vt:lpstr>
      <vt:lpstr>                      process</vt:lpstr>
      <vt:lpstr>                       ps</vt:lpstr>
      <vt:lpstr>                  process cycle</vt:lpstr>
      <vt:lpstr>               type of sleep process </vt:lpstr>
      <vt:lpstr>                    zombie</vt:lpstr>
      <vt:lpstr>                      top </vt:lpstr>
      <vt:lpstr>           foreground and background</vt:lpstr>
      <vt:lpstr>           foreground and background</vt:lpstr>
      <vt:lpstr>                      kill</vt:lpstr>
      <vt:lpstr>                    screen</vt:lpstr>
      <vt:lpstr>           managing process priority </vt:lpstr>
      <vt:lpstr>             configuring hardware</vt:lpstr>
      <vt:lpstr>                sysfs  and udev</vt:lpstr>
      <vt:lpstr>                     hardware</vt:lpstr>
      <vt:lpstr>0 until 100 linux boot</vt:lpstr>
      <vt:lpstr>0 until 100 linux boot</vt:lpstr>
      <vt:lpstr>mbr vs esp</vt:lpstr>
      <vt:lpstr>                     device files</vt:lpstr>
      <vt:lpstr>                    hardware</vt:lpstr>
      <vt:lpstr>                    structure hard</vt:lpstr>
      <vt:lpstr>fdisk </vt:lpstr>
      <vt:lpstr>                         fdisk</vt:lpstr>
      <vt:lpstr>                  important</vt:lpstr>
      <vt:lpstr>                        gdisk</vt:lpstr>
      <vt:lpstr>                   GiB vs GB</vt:lpstr>
      <vt:lpstr>              type of filesystem</vt:lpstr>
      <vt:lpstr>            partitioning in productio</vt:lpstr>
      <vt:lpstr>               type of filesystem</vt:lpstr>
      <vt:lpstr>             creating file system</vt:lpstr>
      <vt:lpstr>                     mount</vt:lpstr>
      <vt:lpstr>             umount and fsck</vt:lpstr>
      <vt:lpstr>inode(index node)</vt:lpstr>
      <vt:lpstr>                soft link vs hard link</vt:lpstr>
      <vt:lpstr>               hard link vs soft link</vt:lpstr>
      <vt:lpstr>                 hard link vs soft link</vt:lpstr>
      <vt:lpstr>              hard link vs soft link</vt:lpstr>
      <vt:lpstr>            hard link vs soft link</vt:lpstr>
      <vt:lpstr>                       fstab</vt:lpstr>
      <vt:lpstr>                      fstab</vt:lpstr>
      <vt:lpstr>                      fstab</vt:lpstr>
      <vt:lpstr>Type file</vt:lpstr>
      <vt:lpstr>                compressing file</vt:lpstr>
      <vt:lpstr>          compare compressing file</vt:lpstr>
      <vt:lpstr>tar</vt:lpstr>
      <vt:lpstr>                        dd</vt:lpstr>
      <vt:lpstr>                 permissions</vt:lpstr>
      <vt:lpstr>            Managing File Ownership</vt:lpstr>
      <vt:lpstr>                    permissions</vt:lpstr>
      <vt:lpstr>                   permissions</vt:lpstr>
      <vt:lpstr>                    permissions</vt:lpstr>
      <vt:lpstr>           permissions and type of file</vt:lpstr>
      <vt:lpstr>                      permissions </vt:lpstr>
      <vt:lpstr>          Setting the Default Mode</vt:lpstr>
      <vt:lpstr>                     umask</vt:lpstr>
      <vt:lpstr>           Changing Special AccesModes</vt:lpstr>
      <vt:lpstr>          Configuring User Accounts</vt:lpstr>
      <vt:lpstr>   Configuring User Accounts  </vt:lpstr>
      <vt:lpstr>   Configuring User Accounts</vt:lpstr>
      <vt:lpstr>  Configuring User Accounts</vt:lpstr>
      <vt:lpstr>             dmseg and journalctl</vt:lpstr>
      <vt:lpstr>                       boot</vt:lpstr>
      <vt:lpstr>                           boot</vt:lpstr>
      <vt:lpstr>                           boot</vt:lpstr>
      <vt:lpstr>                                  boot</vt:lpstr>
      <vt:lpstr>        Using Alternative Boot Loaders</vt:lpstr>
      <vt:lpstr>                  Initialization Process </vt:lpstr>
      <vt:lpstr>                  Initialization Process</vt:lpstr>
      <vt:lpstr>                           unit</vt:lpstr>
      <vt:lpstr>                        systemctl</vt:lpstr>
      <vt:lpstr>                       systemctl</vt:lpstr>
      <vt:lpstr>                     systemd unit</vt:lpstr>
      <vt:lpstr>Unit systemd</vt:lpstr>
      <vt:lpstr>     default targetmuti user graphical</vt:lpstr>
      <vt:lpstr>   Understanding Runlevels</vt:lpstr>
      <vt:lpstr>        Stopping the System</vt:lpstr>
      <vt:lpstr>                  upgrade kernel</vt:lpstr>
      <vt:lpstr>                    virtualization</vt:lpstr>
      <vt:lpstr>               Understanding Containers</vt:lpstr>
      <vt:lpstr>            Setting the Time and Date</vt:lpstr>
      <vt:lpstr>                    ntp server</vt:lpstr>
      <vt:lpstr>                          cups</vt:lpstr>
      <vt:lpstr>                 Managing Email </vt:lpstr>
      <vt:lpstr>                choosing  email  software</vt:lpstr>
      <vt:lpstr>                           mail</vt:lpstr>
      <vt:lpstr>           Using Log and Journal Files</vt:lpstr>
      <vt:lpstr>                            syslog</vt:lpstr>
      <vt:lpstr>                type of logging tools</vt:lpstr>
      <vt:lpstr>               rsyslog</vt:lpstr>
      <vt:lpstr>                            networking</vt:lpstr>
      <vt:lpstr>                 install graphical</vt:lpstr>
      <vt:lpstr>                        bash script</vt:lpstr>
      <vt:lpstr>                           bash script</vt:lpstr>
      <vt:lpstr>                         basic bash</vt:lpstr>
      <vt:lpstr>                      bash basic</vt:lpstr>
      <vt:lpstr>                         argument</vt:lpstr>
      <vt:lpstr>                   Basic Reading</vt:lpstr>
      <vt:lpstr>                   Basic Reading</vt:lpstr>
      <vt:lpstr>               Advanced Shell Scripting</vt:lpstr>
      <vt:lpstr>                           The Exit Status</vt:lpstr>
      <vt:lpstr>                                   </vt:lpstr>
      <vt:lpstr>                       sample if</vt:lpstr>
      <vt:lpstr>          </vt:lpstr>
      <vt:lpstr>                         Loops</vt:lpstr>
      <vt:lpstr>                                              for</vt:lpstr>
      <vt:lpstr>                                       The while Loop</vt:lpstr>
      <vt:lpstr>             Scheduling Regular Scripts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LPIC1</dc:title>
  <dc:creator>Aghamohammadi, Iman</dc:creator>
  <cp:lastModifiedBy>U</cp:lastModifiedBy>
  <cp:revision>259</cp:revision>
  <dcterms:created xsi:type="dcterms:W3CDTF">2023-01-15T10:53:46Z</dcterms:created>
  <dcterms:modified xsi:type="dcterms:W3CDTF">2026-06-11T20:53:58Z</dcterms:modified>
</cp:coreProperties>
</file>